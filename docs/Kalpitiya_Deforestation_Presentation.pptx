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 id="269" r:id="rId16"/>
    <p:sldId id="270"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9492" autoAdjust="0"/>
  </p:normalViewPr>
  <p:slideViewPr>
    <p:cSldViewPr snapToGrid="0" snapToObjects="1">
      <p:cViewPr varScale="1">
        <p:scale>
          <a:sx n="101" d="100"/>
          <a:sy n="101" d="100"/>
        </p:scale>
        <p:origin x="19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5045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aseline="0" dirty="0"/>
              <a:t>“Good morning everyone. </a:t>
            </a:r>
          </a:p>
          <a:p>
            <a:endParaRPr lang="en-US" sz="1400" baseline="0" dirty="0"/>
          </a:p>
          <a:p>
            <a:r>
              <a:rPr lang="en-US" sz="1400" baseline="0" dirty="0"/>
              <a:t>Today we are presenting our Image Processing group project titled </a:t>
            </a:r>
            <a:r>
              <a:rPr lang="en-US" sz="1400" i="1" baseline="0" dirty="0"/>
              <a:t>Deforestation and Land Cover Change Analysis in the </a:t>
            </a:r>
            <a:r>
              <a:rPr lang="en-US" sz="1400" i="1" baseline="0" dirty="0" err="1"/>
              <a:t>Kalpitiya</a:t>
            </a:r>
            <a:r>
              <a:rPr lang="en-US" sz="1400" i="1" baseline="0" dirty="0"/>
              <a:t> Peninsula, Sri Lanka using Landsat Satellite Imagery, Machine Learning Classification and Vegetation Trend Forecasting.</a:t>
            </a:r>
          </a:p>
          <a:p>
            <a:endParaRPr lang="en-US" sz="1400" baseline="0" dirty="0"/>
          </a:p>
          <a:p>
            <a:r>
              <a:rPr lang="en-US" sz="1400" baseline="0" dirty="0"/>
              <a:t>In this project, we </a:t>
            </a:r>
            <a:r>
              <a:rPr lang="en-US" sz="1400" baseline="0" dirty="0" err="1"/>
              <a:t>analysed</a:t>
            </a:r>
            <a:r>
              <a:rPr lang="en-US" sz="1400" baseline="0" dirty="0"/>
              <a:t> land cover changes from 2016 to 2025 using satellite imagery and machine learning techniques.”</a:t>
            </a:r>
          </a:p>
          <a:p>
            <a:endParaRPr lang="en-US" sz="1400" baseline="0" dirty="0"/>
          </a:p>
          <a:p>
            <a:r>
              <a:rPr lang="en-US" sz="1400" baseline="0" dirty="0"/>
              <a:t>“First, I will introduce the environmental problem and background of the study.”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“Deforestation means the permanent removal of forests or vegetation, usually due to agriculture, aquaculture, settlements, or urban development.</a:t>
            </a:r>
          </a:p>
          <a:p>
            <a:endParaRPr lang="en-US" dirty="0"/>
          </a:p>
          <a:p>
            <a:r>
              <a:rPr lang="en-US" dirty="0"/>
              <a:t>This is an important environmental issue because vegetation loss affects biodiversity, coastal stability, water cycles, and even carbon emissions.</a:t>
            </a:r>
          </a:p>
          <a:p>
            <a:endParaRPr lang="en-US" dirty="0"/>
          </a:p>
          <a:p>
            <a:r>
              <a:rPr lang="en-US" dirty="0"/>
              <a:t>Traditional field surveys are expensive and time-consuming, especially across large regions. Because of this, satellite remote sensing has become a practical solution since it provides repeatable observations over long periods of time.</a:t>
            </a:r>
          </a:p>
          <a:p>
            <a:endParaRPr lang="en-US" dirty="0"/>
          </a:p>
          <a:p>
            <a:r>
              <a:rPr lang="en-US" dirty="0"/>
              <a:t>Our study area is the </a:t>
            </a:r>
            <a:r>
              <a:rPr lang="en-US" dirty="0" err="1"/>
              <a:t>Kalpitiya</a:t>
            </a:r>
            <a:r>
              <a:rPr lang="en-US" dirty="0"/>
              <a:t> Peninsula in Sri Lanka, a coastal region located between the Indian Ocean and Puttalam Lagoon. It contains scrubland, mangroves, salt pans, and settlements that are under increasing environmental pressure.</a:t>
            </a:r>
          </a:p>
          <a:p>
            <a:endParaRPr lang="en-US" dirty="0"/>
          </a:p>
          <a:p>
            <a:r>
              <a:rPr lang="en-US" dirty="0"/>
              <a:t>For this study, we </a:t>
            </a:r>
            <a:r>
              <a:rPr lang="en-US" dirty="0" err="1"/>
              <a:t>analysed</a:t>
            </a:r>
            <a:r>
              <a:rPr lang="en-US" dirty="0"/>
              <a:t> 20 Landsat scenes covering 9 years, from 2016 to 2025.”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Sri Lanka, vegetation loss has become an increasing issue in coastal and semi-arid regions due to development and land-use change. </a:t>
            </a:r>
            <a:r>
              <a:rPr lang="en-US" dirty="0" err="1"/>
              <a:t>Kalpitiya</a:t>
            </a:r>
            <a:r>
              <a:rPr lang="en-US" dirty="0"/>
              <a:t> is one of the regions experiencing this pressure.</a:t>
            </a:r>
          </a:p>
          <a:p>
            <a:endParaRPr lang="en-US" dirty="0"/>
          </a:p>
          <a:p>
            <a:r>
              <a:rPr lang="en-US" dirty="0"/>
              <a:t>To monitor these changes, we used satellite remote sensing. Landsat satellites have provided Earth observations since 1972 and can capture spectral information beyond normal human vision.</a:t>
            </a:r>
          </a:p>
          <a:p>
            <a:endParaRPr lang="en-US" dirty="0"/>
          </a:p>
          <a:p>
            <a:r>
              <a:rPr lang="en-US" dirty="0"/>
              <a:t>We also used spectral indices such as NDVI for vegetation, NDWI for water, and NDBI for built-up areas. These mathematical combinations help transform raw satellite data into meaningful environmental measurements.</a:t>
            </a:r>
          </a:p>
          <a:p>
            <a:endParaRPr lang="en-US" dirty="0"/>
          </a:p>
          <a:p>
            <a:r>
              <a:rPr lang="en-US" dirty="0"/>
              <a:t>For classification, we used a Random Forest machine learning model to automatically map land cover types. Finally, we used change detection and forecasting methods to understand how vegetation changed over time and predict future trends.”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objective of this project was to build a complete end-to-end environmental monitoring pipeline.</a:t>
            </a:r>
          </a:p>
          <a:p>
            <a:endParaRPr lang="en-US" dirty="0"/>
          </a:p>
          <a:p>
            <a:r>
              <a:rPr lang="en-US" dirty="0"/>
              <a:t>First, we </a:t>
            </a:r>
            <a:r>
              <a:rPr lang="en-US" dirty="0" err="1"/>
              <a:t>organised</a:t>
            </a:r>
            <a:r>
              <a:rPr lang="en-US" dirty="0"/>
              <a:t> and preprocessed satellite imagery. Then we calculated spectral indices and classified land cover into four categories: water, vegetation, bare soil, and built-up land.</a:t>
            </a:r>
          </a:p>
          <a:p>
            <a:endParaRPr lang="en-US" dirty="0"/>
          </a:p>
          <a:p>
            <a:r>
              <a:rPr lang="en-US" dirty="0"/>
              <a:t>Finally, we detected vegetation changes over time and forecasted future NDVI trends up to 2030.”</a:t>
            </a:r>
          </a:p>
          <a:p>
            <a:endParaRPr lang="en-US" dirty="0"/>
          </a:p>
          <a:p>
            <a:endParaRPr lang="en-US" dirty="0"/>
          </a:p>
          <a:p>
            <a:r>
              <a:rPr lang="en-US" dirty="0"/>
              <a:t>“Now I’ll hand over to Member 2, who will explain our dataset and preprocessing stage.”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project, we used Landsat 8 and Landsat 9 Level-2 Surface Reflectance imagery obtained from USGS.</a:t>
            </a:r>
          </a:p>
          <a:p>
            <a:endParaRPr lang="en-US" dirty="0"/>
          </a:p>
          <a:p>
            <a:r>
              <a:rPr lang="en-US" dirty="0"/>
              <a:t>We selected images between February 2016 and March 2025, giving us a total of 20 scenes. We mainly selected February and March because these months belong to the dry season in North Western Sri Lanka, which reduces cloud cover and improves image quality.</a:t>
            </a:r>
          </a:p>
          <a:p>
            <a:endParaRPr lang="en-US" dirty="0"/>
          </a:p>
          <a:p>
            <a:r>
              <a:rPr lang="en-US" dirty="0"/>
              <a:t>The native image resolution was 30 </a:t>
            </a:r>
            <a:r>
              <a:rPr lang="en-US" dirty="0" err="1"/>
              <a:t>metres</a:t>
            </a:r>
            <a:r>
              <a:rPr lang="en-US" dirty="0"/>
              <a:t>, and both Landsat 8 and 9 use the same OLI sensor, which ensures spectral consistency for long-term comparison.</a:t>
            </a:r>
          </a:p>
          <a:p>
            <a:endParaRPr lang="en-US" dirty="0"/>
          </a:p>
          <a:p>
            <a:r>
              <a:rPr lang="en-US" dirty="0"/>
              <a:t>The timeline shown here illustrates all image acquisition dates used throughout the study.”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analysis, the satellite images had to be preprocessed.</a:t>
            </a:r>
          </a:p>
          <a:p>
            <a:endParaRPr lang="en-US" dirty="0"/>
          </a:p>
          <a:p>
            <a:r>
              <a:rPr lang="en-US" dirty="0"/>
              <a:t>First, we </a:t>
            </a:r>
            <a:r>
              <a:rPr lang="en-US" dirty="0" err="1"/>
              <a:t>organised</a:t>
            </a:r>
            <a:r>
              <a:rPr lang="en-US" dirty="0"/>
              <a:t> the raw files using a Python script called </a:t>
            </a:r>
            <a:r>
              <a:rPr lang="en-US" i="1" dirty="0"/>
              <a:t>categorizingData.py</a:t>
            </a:r>
            <a:r>
              <a:rPr lang="en-US" dirty="0"/>
              <a:t>, which automatically grouped files into folders based on acquisition date.</a:t>
            </a:r>
          </a:p>
          <a:p>
            <a:endParaRPr lang="en-US" dirty="0"/>
          </a:p>
          <a:p>
            <a:r>
              <a:rPr lang="en-US" dirty="0"/>
              <a:t>Next, we converted Landsat digital numbers into actual surface reflectance values using reflectance scaling.</a:t>
            </a:r>
          </a:p>
          <a:p>
            <a:endParaRPr lang="en-US" dirty="0"/>
          </a:p>
          <a:p>
            <a:r>
              <a:rPr lang="en-US" dirty="0"/>
              <a:t>Then we reduced image resolution from 30 </a:t>
            </a:r>
            <a:r>
              <a:rPr lang="en-US" dirty="0" err="1"/>
              <a:t>metres</a:t>
            </a:r>
            <a:r>
              <a:rPr lang="en-US" dirty="0"/>
              <a:t> to 60 </a:t>
            </a:r>
            <a:r>
              <a:rPr lang="en-US" dirty="0" err="1"/>
              <a:t>metres</a:t>
            </a:r>
            <a:r>
              <a:rPr lang="en-US" dirty="0"/>
              <a:t> using bilinear </a:t>
            </a:r>
            <a:r>
              <a:rPr lang="en-US" dirty="0" err="1"/>
              <a:t>downsampling</a:t>
            </a:r>
            <a:r>
              <a:rPr lang="en-US" dirty="0"/>
              <a:t> to reduce computational load and memory usage.</a:t>
            </a:r>
          </a:p>
          <a:p>
            <a:endParaRPr lang="en-US" dirty="0"/>
          </a:p>
          <a:p>
            <a:r>
              <a:rPr lang="en-US" dirty="0"/>
              <a:t>One of the most important preprocessing steps was cloud masking. Using the QA_PIXEL band, we removed cloud, shadow, and cirrus pixels to improve reliability.</a:t>
            </a:r>
          </a:p>
          <a:p>
            <a:endParaRPr lang="en-US" dirty="0"/>
          </a:p>
          <a:p>
            <a:r>
              <a:rPr lang="en-US" dirty="0"/>
              <a:t>Finally, we created a persistent land mask using NDWI to permanently exclude ocean and lagoon regions from vegetation analysis.”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Member 3 will explain our methodology and machine learning process.”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entire workflow was implemented in Python using a single </a:t>
            </a:r>
            <a:r>
              <a:rPr lang="en-US" dirty="0" err="1"/>
              <a:t>Jupyter</a:t>
            </a:r>
            <a:r>
              <a:rPr lang="en-US" dirty="0"/>
              <a:t> Notebook called </a:t>
            </a:r>
            <a:r>
              <a:rPr lang="en-US" i="1" dirty="0" err="1"/>
              <a:t>retrain.ipynb</a:t>
            </a:r>
            <a:r>
              <a:rPr lang="en-US" dirty="0"/>
              <a:t>.</a:t>
            </a:r>
          </a:p>
          <a:p>
            <a:endParaRPr lang="en-US" dirty="0"/>
          </a:p>
          <a:p>
            <a:r>
              <a:rPr lang="en-US" dirty="0"/>
              <a:t>The process followed seven stages. We first collected Landsat data, then carried out preprocessing and spectral index computation.</a:t>
            </a:r>
          </a:p>
          <a:p>
            <a:endParaRPr lang="en-US" dirty="0"/>
          </a:p>
          <a:p>
            <a:r>
              <a:rPr lang="en-US" dirty="0"/>
              <a:t>After that, we performed land cover classification using machine learning, followed by change detection and forecasting.</a:t>
            </a:r>
          </a:p>
          <a:p>
            <a:endParaRPr lang="en-US" dirty="0"/>
          </a:p>
          <a:p>
            <a:r>
              <a:rPr lang="en-US" dirty="0"/>
              <a:t>Finally, we </a:t>
            </a:r>
            <a:r>
              <a:rPr lang="en-US" dirty="0" err="1"/>
              <a:t>analysed</a:t>
            </a:r>
            <a:r>
              <a:rPr lang="en-US" dirty="0"/>
              <a:t> the outputs to identify environmental trends.</a:t>
            </a:r>
          </a:p>
          <a:p>
            <a:endParaRPr lang="en-US" dirty="0"/>
          </a:p>
          <a:p>
            <a:r>
              <a:rPr lang="en-US" dirty="0"/>
              <a:t>The NDVI histogram shown here already hints at vegetation decline over time because the distribution shifts toward lower values in later years.”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calculated five spectral indices for every scene.</a:t>
            </a:r>
          </a:p>
          <a:p>
            <a:endParaRPr lang="en-US" dirty="0"/>
          </a:p>
          <a:p>
            <a:r>
              <a:rPr lang="en-US" dirty="0"/>
              <a:t>The most important was NDVI, which measures vegetation health and density and was our main indicator of vegetation change.</a:t>
            </a:r>
          </a:p>
          <a:p>
            <a:endParaRPr lang="en-US" dirty="0"/>
          </a:p>
          <a:p>
            <a:r>
              <a:rPr lang="en-US" dirty="0"/>
              <a:t>NDWI was used to detect water bodies and create the land mask. NDBI highlighted built-up areas, while NBR helped identify dry or stressed land.</a:t>
            </a:r>
          </a:p>
          <a:p>
            <a:endParaRPr lang="en-US" dirty="0"/>
          </a:p>
          <a:p>
            <a:r>
              <a:rPr lang="en-US" dirty="0"/>
              <a:t>We also used EVI, which improves vegetation detection in dense canopy regions by correcting atmospheric and soil effects.</a:t>
            </a:r>
          </a:p>
          <a:p>
            <a:endParaRPr lang="en-US" dirty="0"/>
          </a:p>
          <a:p>
            <a:r>
              <a:rPr lang="en-US" dirty="0"/>
              <a:t>At the bottom, the NDVI maps show visible vegetation changes across all 20 scenes.”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classify land cover, we used a Random Forest machine learning classifier.</a:t>
            </a:r>
          </a:p>
          <a:p>
            <a:endParaRPr lang="en-US" dirty="0"/>
          </a:p>
          <a:p>
            <a:r>
              <a:rPr lang="en-US" dirty="0"/>
              <a:t>The model used 11 features: six Landsat bands plus five spectral indices.</a:t>
            </a:r>
          </a:p>
          <a:p>
            <a:endParaRPr lang="en-US" dirty="0"/>
          </a:p>
          <a:p>
            <a:r>
              <a:rPr lang="en-US" dirty="0"/>
              <a:t>Since manual labelling of millions of pixels is extremely difficult, we used a pseudo-labelling approach. This means training labels were automatically generated using spectral thresholds.</a:t>
            </a:r>
          </a:p>
          <a:p>
            <a:endParaRPr lang="en-US" dirty="0"/>
          </a:p>
          <a:p>
            <a:r>
              <a:rPr lang="en-US" dirty="0"/>
              <a:t>For example, high NDVI values represented vegetation, while high NDWI values indicated water.</a:t>
            </a:r>
          </a:p>
          <a:p>
            <a:endParaRPr lang="en-US" dirty="0"/>
          </a:p>
          <a:p>
            <a:r>
              <a:rPr lang="en-US" dirty="0"/>
              <a:t>The model classified pixels into four categories: water, vegetation, bare soil, and built-up land.</a:t>
            </a:r>
          </a:p>
          <a:p>
            <a:endParaRPr lang="en-US" dirty="0"/>
          </a:p>
          <a:p>
            <a:r>
              <a:rPr lang="en-US" dirty="0"/>
              <a:t>We also validated the model on unseen scenes, and results showed that the full 11-feature model performed better than using raw bands alone.”</a:t>
            </a:r>
          </a:p>
          <a:p>
            <a:endParaRPr lang="en-US" dirty="0"/>
          </a:p>
          <a:p>
            <a:r>
              <a:rPr lang="en-US" dirty="0"/>
              <a:t>“Now Member 4 will discuss our results and key findings.”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our NDVI change detection results.</a:t>
            </a:r>
          </a:p>
          <a:p>
            <a:endParaRPr lang="en-US" dirty="0"/>
          </a:p>
          <a:p>
            <a:r>
              <a:rPr lang="en-US" dirty="0"/>
              <a:t>On the left is the baseline NDVI map from 2016, while the </a:t>
            </a:r>
            <a:r>
              <a:rPr lang="en-US" dirty="0" err="1"/>
              <a:t>centre</a:t>
            </a:r>
            <a:r>
              <a:rPr lang="en-US" dirty="0"/>
              <a:t> image shows the matching period in 2025.</a:t>
            </a:r>
          </a:p>
          <a:p>
            <a:endParaRPr lang="en-US" dirty="0"/>
          </a:p>
          <a:p>
            <a:r>
              <a:rPr lang="en-US" dirty="0"/>
              <a:t>On the right is the delta NDVI map, where red indicates vegetation loss and blue indicates vegetation gain.</a:t>
            </a:r>
          </a:p>
          <a:p>
            <a:endParaRPr lang="en-US" dirty="0"/>
          </a:p>
          <a:p>
            <a:r>
              <a:rPr lang="en-US" dirty="0"/>
              <a:t>The results clearly show an overall decline in vegetation, especially in the southern and interior regions.</a:t>
            </a:r>
          </a:p>
          <a:p>
            <a:endParaRPr lang="en-US" dirty="0"/>
          </a:p>
          <a:p>
            <a:r>
              <a:rPr lang="en-US" dirty="0"/>
              <a:t>The largest vegetation loss occurred between 2022 and 2023, with over 11,000 hectares of net loss.”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transition matrix helps explain how land cover changed from 2016 to 2025.</a:t>
            </a:r>
          </a:p>
          <a:p>
            <a:endParaRPr lang="en-US" dirty="0"/>
          </a:p>
          <a:p>
            <a:r>
              <a:rPr lang="en-US" dirty="0"/>
              <a:t>A large proportion of vegetation changed into water and bare soil, indicating land clearance and lagoon-related changes.</a:t>
            </a:r>
          </a:p>
          <a:p>
            <a:endParaRPr lang="en-US" dirty="0"/>
          </a:p>
          <a:p>
            <a:r>
              <a:rPr lang="en-US" dirty="0"/>
              <a:t>The graph also shows that vegetation loss was not constant but occurred in spikes, especially between 2022 and 2023.</a:t>
            </a:r>
          </a:p>
          <a:p>
            <a:endParaRPr lang="en-US" dirty="0"/>
          </a:p>
          <a:p>
            <a:r>
              <a:rPr lang="en-US" dirty="0"/>
              <a:t>Some partial recovery appeared between late 2024 and early 2025.”</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forecast future vegetation trends, we used three regression models: Linear Regression, Polynomial Regression, and Gradient Boosting.</a:t>
            </a:r>
          </a:p>
          <a:p>
            <a:endParaRPr lang="en-US" dirty="0"/>
          </a:p>
          <a:p>
            <a:r>
              <a:rPr lang="en-US" dirty="0"/>
              <a:t>We combined them into an ensemble forecast to improve reliability.</a:t>
            </a:r>
          </a:p>
          <a:p>
            <a:endParaRPr lang="en-US" dirty="0"/>
          </a:p>
          <a:p>
            <a:r>
              <a:rPr lang="en-US" dirty="0"/>
              <a:t>The forecast suggests that vegetation may continue to decline if current land-use patterns continue.</a:t>
            </a:r>
          </a:p>
          <a:p>
            <a:endParaRPr lang="en-US" dirty="0"/>
          </a:p>
          <a:p>
            <a:r>
              <a:rPr lang="en-US" dirty="0"/>
              <a:t>However, the confidence interval widens over time, showing that uncertainty increases toward 2030.</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the project shows a negative vegetation trend between 2016 and 2025.</a:t>
            </a:r>
          </a:p>
          <a:p>
            <a:endParaRPr lang="en-US" dirty="0"/>
          </a:p>
          <a:p>
            <a:r>
              <a:rPr lang="en-US" dirty="0"/>
              <a:t>The strongest decline occurred around 2022–2023, while 2025 showed some signs of recovery.</a:t>
            </a:r>
          </a:p>
          <a:p>
            <a:endParaRPr lang="en-US" dirty="0"/>
          </a:p>
          <a:p>
            <a:r>
              <a:rPr lang="en-US" dirty="0"/>
              <a:t>The Random Forest classifier also performed better when spectral indices were included, proving that feature engineering improved classification quality.”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“Like any study, there were limitations. Our 60-metre resolution could miss small land changes, cloud cover reduced usable observations, and pseudo-labelling lacks real ground truth validation.</a:t>
            </a:r>
          </a:p>
          <a:p>
            <a:endParaRPr lang="en-US" dirty="0"/>
          </a:p>
          <a:p>
            <a:r>
              <a:rPr lang="en-US" dirty="0"/>
              <a:t>In future work, higher-resolution Sentinel-2 imagery and field validation could improve results.</a:t>
            </a:r>
          </a:p>
          <a:p>
            <a:endParaRPr lang="en-US" dirty="0"/>
          </a:p>
          <a:p>
            <a:r>
              <a:rPr lang="en-US" dirty="0"/>
              <a:t>To conclude, vegetation in </a:t>
            </a:r>
            <a:r>
              <a:rPr lang="en-US" dirty="0" err="1"/>
              <a:t>Kalpitiya</a:t>
            </a:r>
            <a:r>
              <a:rPr lang="en-US" dirty="0"/>
              <a:t> has generally declined over the last nine years, and remote sensing combined with machine learning proved to be a useful and low-cost approach for environmental monitoring.”</a:t>
            </a:r>
          </a:p>
          <a:p>
            <a:endParaRPr lang="en-US" dirty="0"/>
          </a:p>
        </p:txBody>
      </p:sp>
    </p:spTree>
    <p:extLst>
      <p:ext uri="{BB962C8B-B14F-4D97-AF65-F5344CB8AC3E}">
        <p14:creationId xmlns:p14="http://schemas.microsoft.com/office/powerpoint/2010/main" val="42475310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the project. Run through the four main findings quickly. </a:t>
            </a:r>
          </a:p>
          <a:p>
            <a:endParaRPr lang="en-US" dirty="0"/>
          </a:p>
          <a:p>
            <a:r>
              <a:rPr lang="en-US" dirty="0"/>
              <a:t>The key takeaway is that vegetation has declined, the method worked, and the forecasting points to continued pressure if nothing changes. </a:t>
            </a:r>
          </a:p>
          <a:p>
            <a:endParaRPr lang="en-US" dirty="0"/>
          </a:p>
          <a:p>
            <a:r>
              <a:rPr lang="en-US" dirty="0"/>
              <a:t>Be honest about the limitations – particularly the pseudo-labelling issue and the 60 m resolution. </a:t>
            </a:r>
          </a:p>
          <a:p>
            <a:endParaRPr lang="en-US" dirty="0"/>
          </a:p>
          <a:p>
            <a:r>
              <a:rPr lang="en-US" dirty="0"/>
              <a:t>End on a positive note – remote sensing like this is genuinely useful for countries like Sri Lanka where field monitoring is limited and expensive. </a:t>
            </a:r>
          </a:p>
          <a:p>
            <a:endParaRPr lang="en-US" dirty="0"/>
          </a:p>
          <a:p>
            <a:r>
              <a:rPr lang="en-US" dirty="0"/>
              <a:t>Mention future work briefly, especially the upgrade to Sentinel-2. Thank the lecturer and audience.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We are now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731"/>
        </a:solidFill>
        <a:effectLst/>
      </p:bgPr>
    </p:bg>
    <p:spTree>
      <p:nvGrpSpPr>
        <p:cNvPr id="1" name=""/>
        <p:cNvGrpSpPr/>
        <p:nvPr/>
      </p:nvGrpSpPr>
      <p:grpSpPr>
        <a:xfrm>
          <a:off x="0" y="0"/>
          <a:ext cx="0" cy="0"/>
          <a:chOff x="0" y="0"/>
          <a:chExt cx="0" cy="0"/>
        </a:xfrm>
      </p:grpSpPr>
      <p:sp>
        <p:nvSpPr>
          <p:cNvPr id="2" name="Text 0"/>
          <p:cNvSpPr/>
          <p:nvPr/>
        </p:nvSpPr>
        <p:spPr>
          <a:xfrm>
            <a:off x="457200" y="548640"/>
            <a:ext cx="5303520" cy="1463040"/>
          </a:xfrm>
          <a:prstGeom prst="rect">
            <a:avLst/>
          </a:prstGeom>
          <a:noFill/>
          <a:ln/>
        </p:spPr>
        <p:txBody>
          <a:bodyPr wrap="square"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Deforestation and Land Cover</a:t>
            </a:r>
            <a:endParaRPr lang="en-US" sz="3000" dirty="0"/>
          </a:p>
          <a:p>
            <a:pPr marL="0" indent="0" algn="l">
              <a:buNone/>
            </a:pPr>
            <a:r>
              <a:rPr lang="en-US" sz="3000" b="1" dirty="0">
                <a:solidFill>
                  <a:srgbClr val="FFFFFF"/>
                </a:solidFill>
                <a:latin typeface="Calibri" pitchFamily="34" charset="0"/>
                <a:ea typeface="Calibri" pitchFamily="34" charset="-122"/>
                <a:cs typeface="Calibri" pitchFamily="34" charset="-120"/>
              </a:rPr>
              <a:t>Change Analysis</a:t>
            </a:r>
            <a:endParaRPr lang="en-US" sz="3000" dirty="0"/>
          </a:p>
        </p:txBody>
      </p:sp>
      <p:sp>
        <p:nvSpPr>
          <p:cNvPr id="3" name="Text 1"/>
          <p:cNvSpPr/>
          <p:nvPr/>
        </p:nvSpPr>
        <p:spPr>
          <a:xfrm>
            <a:off x="457200" y="2057400"/>
            <a:ext cx="5303520" cy="365760"/>
          </a:xfrm>
          <a:prstGeom prst="rect">
            <a:avLst/>
          </a:prstGeom>
          <a:noFill/>
          <a:ln/>
        </p:spPr>
        <p:txBody>
          <a:bodyPr wrap="square" rtlCol="0" anchor="ctr"/>
          <a:lstStyle/>
          <a:p>
            <a:pPr marL="0" indent="0" algn="l">
              <a:buNone/>
            </a:pPr>
            <a:r>
              <a:rPr lang="en-US" sz="1600" dirty="0" err="1">
                <a:solidFill>
                  <a:srgbClr val="52B788"/>
                </a:solidFill>
                <a:latin typeface="Calibri" pitchFamily="34" charset="0"/>
                <a:ea typeface="Calibri" pitchFamily="34" charset="-122"/>
                <a:cs typeface="Calibri" pitchFamily="34" charset="-120"/>
              </a:rPr>
              <a:t>Kalpitiya</a:t>
            </a:r>
            <a:r>
              <a:rPr lang="en-US" sz="1600" dirty="0">
                <a:solidFill>
                  <a:srgbClr val="52B788"/>
                </a:solidFill>
                <a:latin typeface="Calibri" pitchFamily="34" charset="0"/>
                <a:ea typeface="Calibri" pitchFamily="34" charset="-122"/>
                <a:cs typeface="Calibri" pitchFamily="34" charset="-120"/>
              </a:rPr>
              <a:t>, Sri Lanka</a:t>
            </a:r>
            <a:endParaRPr lang="en-US" sz="1600" dirty="0"/>
          </a:p>
        </p:txBody>
      </p:sp>
      <p:sp>
        <p:nvSpPr>
          <p:cNvPr id="4" name="Text 2"/>
          <p:cNvSpPr/>
          <p:nvPr/>
        </p:nvSpPr>
        <p:spPr>
          <a:xfrm>
            <a:off x="457200" y="2688336"/>
            <a:ext cx="5303520" cy="548640"/>
          </a:xfrm>
          <a:prstGeom prst="rect">
            <a:avLst/>
          </a:prstGeom>
          <a:noFill/>
          <a:ln/>
        </p:spPr>
        <p:txBody>
          <a:bodyPr wrap="square" rtlCol="0" anchor="ctr"/>
          <a:lstStyle/>
          <a:p>
            <a:pPr marL="0" indent="0" algn="l">
              <a:buNone/>
            </a:pPr>
            <a:r>
              <a:rPr lang="en-US" sz="1100" dirty="0">
                <a:solidFill>
                  <a:srgbClr val="A8C5B5"/>
                </a:solidFill>
                <a:latin typeface="Calibri" pitchFamily="34" charset="0"/>
                <a:ea typeface="Calibri" pitchFamily="34" charset="-122"/>
                <a:cs typeface="Calibri" pitchFamily="34" charset="-120"/>
              </a:rPr>
              <a:t>Using Landsat Satellite Imagery, Machine Learning Classification</a:t>
            </a:r>
            <a:endParaRPr lang="en-US" sz="1100" dirty="0"/>
          </a:p>
          <a:p>
            <a:pPr marL="0" indent="0" algn="l">
              <a:buNone/>
            </a:pPr>
            <a:r>
              <a:rPr lang="en-US" sz="1100" dirty="0">
                <a:solidFill>
                  <a:srgbClr val="A8C5B5"/>
                </a:solidFill>
                <a:latin typeface="Calibri" pitchFamily="34" charset="0"/>
                <a:ea typeface="Calibri" pitchFamily="34" charset="-122"/>
                <a:cs typeface="Calibri" pitchFamily="34" charset="-120"/>
              </a:rPr>
              <a:t>and Vegetation Trend Forecasting</a:t>
            </a:r>
            <a:endParaRPr lang="en-US" sz="1100" dirty="0"/>
          </a:p>
        </p:txBody>
      </p:sp>
      <p:sp>
        <p:nvSpPr>
          <p:cNvPr id="5" name="Shape 3"/>
          <p:cNvSpPr/>
          <p:nvPr/>
        </p:nvSpPr>
        <p:spPr>
          <a:xfrm>
            <a:off x="6245352" y="411480"/>
            <a:ext cx="2834640" cy="4434840"/>
          </a:xfrm>
          <a:prstGeom prst="rect">
            <a:avLst/>
          </a:prstGeom>
          <a:solidFill>
            <a:srgbClr val="1E5C3A"/>
          </a:solidFill>
          <a:ln w="12700">
            <a:solidFill>
              <a:srgbClr val="1E5C3A"/>
            </a:solidFill>
            <a:prstDash val="solid"/>
          </a:ln>
        </p:spPr>
        <p:txBody>
          <a:bodyPr/>
          <a:lstStyle/>
          <a:p>
            <a:endParaRPr lang="en-US" dirty="0"/>
          </a:p>
        </p:txBody>
      </p:sp>
      <p:sp>
        <p:nvSpPr>
          <p:cNvPr id="6" name="Shape 4"/>
          <p:cNvSpPr/>
          <p:nvPr/>
        </p:nvSpPr>
        <p:spPr>
          <a:xfrm>
            <a:off x="6126480" y="411480"/>
            <a:ext cx="54864" cy="4434840"/>
          </a:xfrm>
          <a:prstGeom prst="rect">
            <a:avLst/>
          </a:prstGeom>
          <a:solidFill>
            <a:srgbClr val="52B788"/>
          </a:solidFill>
          <a:ln w="12700">
            <a:solidFill>
              <a:srgbClr val="52B788"/>
            </a:solidFill>
            <a:prstDash val="solid"/>
          </a:ln>
        </p:spPr>
        <p:txBody>
          <a:bodyPr/>
          <a:lstStyle/>
          <a:p>
            <a:endParaRPr lang="en-US"/>
          </a:p>
        </p:txBody>
      </p:sp>
      <p:sp>
        <p:nvSpPr>
          <p:cNvPr id="7" name="Text 5"/>
          <p:cNvSpPr/>
          <p:nvPr/>
        </p:nvSpPr>
        <p:spPr>
          <a:xfrm>
            <a:off x="6355080" y="1565003"/>
            <a:ext cx="2468880" cy="182880"/>
          </a:xfrm>
          <a:prstGeom prst="rect">
            <a:avLst/>
          </a:prstGeom>
          <a:noFill/>
          <a:ln/>
        </p:spPr>
        <p:txBody>
          <a:bodyPr wrap="square" lIns="0" tIns="0" rIns="0" bIns="0" rtlCol="0" anchor="ctr"/>
          <a:lstStyle/>
          <a:p>
            <a:pPr marL="0" indent="0">
              <a:buNone/>
            </a:pPr>
            <a:r>
              <a:rPr lang="en-US" sz="800" b="1" dirty="0">
                <a:solidFill>
                  <a:srgbClr val="52B788"/>
                </a:solidFill>
                <a:latin typeface="Calibri" pitchFamily="34" charset="0"/>
                <a:ea typeface="Calibri" pitchFamily="34" charset="-122"/>
                <a:cs typeface="Calibri" pitchFamily="34" charset="-120"/>
              </a:rPr>
              <a:t>COURSE</a:t>
            </a:r>
            <a:endParaRPr lang="en-US" sz="800" dirty="0"/>
          </a:p>
        </p:txBody>
      </p:sp>
      <p:sp>
        <p:nvSpPr>
          <p:cNvPr id="8" name="Text 6"/>
          <p:cNvSpPr/>
          <p:nvPr/>
        </p:nvSpPr>
        <p:spPr>
          <a:xfrm>
            <a:off x="6405372" y="1734167"/>
            <a:ext cx="246888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Image Processing </a:t>
            </a:r>
            <a:endParaRPr lang="en-US" sz="1000" dirty="0"/>
          </a:p>
        </p:txBody>
      </p:sp>
      <p:sp>
        <p:nvSpPr>
          <p:cNvPr id="9" name="Text 7"/>
          <p:cNvSpPr/>
          <p:nvPr/>
        </p:nvSpPr>
        <p:spPr>
          <a:xfrm>
            <a:off x="6355080" y="2131931"/>
            <a:ext cx="2468880" cy="182880"/>
          </a:xfrm>
          <a:prstGeom prst="rect">
            <a:avLst/>
          </a:prstGeom>
          <a:noFill/>
          <a:ln/>
        </p:spPr>
        <p:txBody>
          <a:bodyPr wrap="square" lIns="0" tIns="0" rIns="0" bIns="0" rtlCol="0" anchor="ctr"/>
          <a:lstStyle/>
          <a:p>
            <a:pPr marL="0" indent="0">
              <a:buNone/>
            </a:pPr>
            <a:r>
              <a:rPr lang="en-US" sz="800" b="1" dirty="0">
                <a:solidFill>
                  <a:srgbClr val="52B788"/>
                </a:solidFill>
                <a:latin typeface="Calibri" pitchFamily="34" charset="0"/>
                <a:ea typeface="Calibri" pitchFamily="34" charset="-122"/>
                <a:cs typeface="Calibri" pitchFamily="34" charset="-120"/>
              </a:rPr>
              <a:t>PROGRAMME</a:t>
            </a:r>
            <a:endParaRPr lang="en-US" sz="800" dirty="0"/>
          </a:p>
        </p:txBody>
      </p:sp>
      <p:sp>
        <p:nvSpPr>
          <p:cNvPr id="10" name="Text 8"/>
          <p:cNvSpPr/>
          <p:nvPr/>
        </p:nvSpPr>
        <p:spPr>
          <a:xfrm>
            <a:off x="6416040" y="2313795"/>
            <a:ext cx="246888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HND IN COMPUTER SCIENCE WITH AI</a:t>
            </a:r>
            <a:endParaRPr lang="en-US" sz="1000" dirty="0"/>
          </a:p>
        </p:txBody>
      </p:sp>
      <p:sp>
        <p:nvSpPr>
          <p:cNvPr id="11" name="Text 9"/>
          <p:cNvSpPr/>
          <p:nvPr/>
        </p:nvSpPr>
        <p:spPr>
          <a:xfrm>
            <a:off x="6355080" y="2599799"/>
            <a:ext cx="2468880" cy="182880"/>
          </a:xfrm>
          <a:prstGeom prst="rect">
            <a:avLst/>
          </a:prstGeom>
          <a:noFill/>
          <a:ln/>
        </p:spPr>
        <p:txBody>
          <a:bodyPr wrap="square" lIns="0" tIns="0" rIns="0" bIns="0" rtlCol="0" anchor="ctr"/>
          <a:lstStyle/>
          <a:p>
            <a:pPr marL="0" indent="0">
              <a:buNone/>
            </a:pPr>
            <a:r>
              <a:rPr lang="en-US" sz="800" b="1" dirty="0">
                <a:solidFill>
                  <a:srgbClr val="52B788"/>
                </a:solidFill>
                <a:latin typeface="Calibri" pitchFamily="34" charset="0"/>
                <a:ea typeface="Calibri" pitchFamily="34" charset="-122"/>
                <a:cs typeface="Calibri" pitchFamily="34" charset="-120"/>
              </a:rPr>
              <a:t>MEMBERS</a:t>
            </a:r>
            <a:endParaRPr lang="en-US" sz="800" dirty="0"/>
          </a:p>
        </p:txBody>
      </p:sp>
      <p:sp>
        <p:nvSpPr>
          <p:cNvPr id="12" name="Text 10"/>
          <p:cNvSpPr/>
          <p:nvPr/>
        </p:nvSpPr>
        <p:spPr>
          <a:xfrm>
            <a:off x="6405372" y="2849118"/>
            <a:ext cx="2468880"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D M I N DISSANAYAKE      M </a:t>
            </a:r>
            <a:r>
              <a:rPr lang="en-US" sz="1000" dirty="0" err="1">
                <a:solidFill>
                  <a:srgbClr val="FFFFFF"/>
                </a:solidFill>
                <a:latin typeface="Calibri" pitchFamily="34" charset="0"/>
                <a:ea typeface="Calibri" pitchFamily="34" charset="-122"/>
                <a:cs typeface="Calibri" pitchFamily="34" charset="-120"/>
              </a:rPr>
              <a:t>M</a:t>
            </a:r>
            <a:r>
              <a:rPr lang="en-US" sz="1000" dirty="0">
                <a:solidFill>
                  <a:srgbClr val="FFFFFF"/>
                </a:solidFill>
                <a:latin typeface="Calibri" pitchFamily="34" charset="0"/>
                <a:ea typeface="Calibri" pitchFamily="34" charset="-122"/>
                <a:cs typeface="Calibri" pitchFamily="34" charset="-120"/>
              </a:rPr>
              <a:t> ABDULLAH</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M F M AFRAR                     R M AFLAL</a:t>
            </a:r>
            <a:endParaRPr lang="en-US" sz="1000" dirty="0"/>
          </a:p>
        </p:txBody>
      </p:sp>
      <p:sp>
        <p:nvSpPr>
          <p:cNvPr id="13" name="Text 11"/>
          <p:cNvSpPr/>
          <p:nvPr/>
        </p:nvSpPr>
        <p:spPr>
          <a:xfrm>
            <a:off x="6355080" y="2505456"/>
            <a:ext cx="2468880" cy="182880"/>
          </a:xfrm>
          <a:prstGeom prst="rect">
            <a:avLst/>
          </a:prstGeom>
          <a:noFill/>
          <a:ln/>
        </p:spPr>
        <p:txBody>
          <a:bodyPr wrap="square" lIns="0" tIns="0" rIns="0" bIns="0" rtlCol="0" anchor="ctr"/>
          <a:lstStyle/>
          <a:p>
            <a:pPr marL="0" indent="0">
              <a:buNone/>
            </a:pPr>
            <a:endParaRPr lang="en-US" sz="800" dirty="0"/>
          </a:p>
        </p:txBody>
      </p:sp>
      <p:sp>
        <p:nvSpPr>
          <p:cNvPr id="14" name="Text 12"/>
          <p:cNvSpPr/>
          <p:nvPr/>
        </p:nvSpPr>
        <p:spPr>
          <a:xfrm>
            <a:off x="6355080" y="2670048"/>
            <a:ext cx="2468880" cy="237744"/>
          </a:xfrm>
          <a:prstGeom prst="rect">
            <a:avLst/>
          </a:prstGeom>
          <a:noFill/>
          <a:ln/>
        </p:spPr>
        <p:txBody>
          <a:bodyPr wrap="square" lIns="0" tIns="0" rIns="0" bIns="0" rtlCol="0" anchor="ctr"/>
          <a:lstStyle/>
          <a:p>
            <a:pPr marL="0" indent="0">
              <a:buNone/>
            </a:pPr>
            <a:endParaRPr lang="en-US" sz="1000" dirty="0"/>
          </a:p>
        </p:txBody>
      </p:sp>
      <p:sp>
        <p:nvSpPr>
          <p:cNvPr id="15" name="Text 13"/>
          <p:cNvSpPr/>
          <p:nvPr/>
        </p:nvSpPr>
        <p:spPr>
          <a:xfrm>
            <a:off x="6336792" y="3247499"/>
            <a:ext cx="2468880" cy="182880"/>
          </a:xfrm>
          <a:prstGeom prst="rect">
            <a:avLst/>
          </a:prstGeom>
          <a:noFill/>
          <a:ln/>
        </p:spPr>
        <p:txBody>
          <a:bodyPr wrap="square" lIns="0" tIns="0" rIns="0" bIns="0" rtlCol="0" anchor="ctr"/>
          <a:lstStyle/>
          <a:p>
            <a:pPr marL="0" indent="0">
              <a:buNone/>
            </a:pPr>
            <a:r>
              <a:rPr lang="en-US" sz="800" b="1" dirty="0">
                <a:solidFill>
                  <a:srgbClr val="52B788"/>
                </a:solidFill>
                <a:latin typeface="Calibri" pitchFamily="34" charset="0"/>
                <a:ea typeface="Calibri" pitchFamily="34" charset="-122"/>
                <a:cs typeface="Calibri" pitchFamily="34" charset="-120"/>
              </a:rPr>
              <a:t>INSTITUTION</a:t>
            </a:r>
            <a:endParaRPr lang="en-US" sz="800" dirty="0"/>
          </a:p>
        </p:txBody>
      </p:sp>
      <p:sp>
        <p:nvSpPr>
          <p:cNvPr id="16" name="Text 14"/>
          <p:cNvSpPr/>
          <p:nvPr/>
        </p:nvSpPr>
        <p:spPr>
          <a:xfrm>
            <a:off x="6405372" y="3412091"/>
            <a:ext cx="2468880" cy="237744"/>
          </a:xfrm>
          <a:prstGeom prst="rect">
            <a:avLst/>
          </a:prstGeom>
          <a:noFill/>
          <a:ln/>
        </p:spPr>
        <p:txBody>
          <a:bodyPr wrap="square" lIns="0" tIns="0" rIns="0" bIns="0" rtlCol="0" anchor="ctr"/>
          <a:lstStyle/>
          <a:p>
            <a:pPr marL="0" indent="0">
              <a:buNone/>
            </a:pPr>
            <a:r>
              <a:rPr lang="en-US" sz="1000" dirty="0">
                <a:solidFill>
                  <a:schemeClr val="bg1"/>
                </a:solidFill>
              </a:rPr>
              <a:t>NIBM (Kandy Innovation Centre)</a:t>
            </a:r>
          </a:p>
        </p:txBody>
      </p:sp>
      <p:sp>
        <p:nvSpPr>
          <p:cNvPr id="17" name="Text 15"/>
          <p:cNvSpPr/>
          <p:nvPr/>
        </p:nvSpPr>
        <p:spPr>
          <a:xfrm>
            <a:off x="6329172" y="3681839"/>
            <a:ext cx="2468880" cy="182880"/>
          </a:xfrm>
          <a:prstGeom prst="rect">
            <a:avLst/>
          </a:prstGeom>
          <a:noFill/>
          <a:ln/>
        </p:spPr>
        <p:txBody>
          <a:bodyPr wrap="square" lIns="0" tIns="0" rIns="0" bIns="0" rtlCol="0" anchor="ctr"/>
          <a:lstStyle/>
          <a:p>
            <a:pPr marL="0" indent="0">
              <a:buNone/>
            </a:pPr>
            <a:r>
              <a:rPr lang="en-US" sz="800" b="1" dirty="0">
                <a:solidFill>
                  <a:srgbClr val="52B788"/>
                </a:solidFill>
                <a:latin typeface="Calibri" pitchFamily="34" charset="0"/>
                <a:ea typeface="Calibri" pitchFamily="34" charset="-122"/>
                <a:cs typeface="Calibri" pitchFamily="34" charset="-120"/>
              </a:rPr>
              <a:t>DATE</a:t>
            </a:r>
            <a:endParaRPr lang="en-US" sz="800" dirty="0"/>
          </a:p>
        </p:txBody>
      </p:sp>
      <p:sp>
        <p:nvSpPr>
          <p:cNvPr id="18" name="Text 16"/>
          <p:cNvSpPr/>
          <p:nvPr/>
        </p:nvSpPr>
        <p:spPr>
          <a:xfrm>
            <a:off x="6416040" y="3814427"/>
            <a:ext cx="246888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19th May, 2026 </a:t>
            </a:r>
            <a:endParaRPr lang="en-US" sz="1000" dirty="0"/>
          </a:p>
        </p:txBody>
      </p:sp>
      <p:sp>
        <p:nvSpPr>
          <p:cNvPr id="19" name="AutoShape 2" descr="Map of the location of Kalpitiya Peninsula  ">
            <a:extLst>
              <a:ext uri="{FF2B5EF4-FFF2-40B4-BE49-F238E27FC236}">
                <a16:creationId xmlns:a16="http://schemas.microsoft.com/office/drawing/2014/main" id="{7B965AEE-C52A-FD66-248F-8B9EF77323A6}"/>
              </a:ext>
            </a:extLst>
          </p:cNvPr>
          <p:cNvSpPr>
            <a:spLocks noChangeAspect="1" noChangeArrowheads="1"/>
          </p:cNvSpPr>
          <p:nvPr/>
        </p:nvSpPr>
        <p:spPr bwMode="auto">
          <a:xfrm>
            <a:off x="4419600" y="2419350"/>
            <a:ext cx="1741170" cy="17411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0" name="Picture 6" descr="Puttalam Region Sri Lanka Extruded Physical Stock Footage Video (100%  Royalty-free) 3771725573 | Shutterstock">
            <a:extLst>
              <a:ext uri="{FF2B5EF4-FFF2-40B4-BE49-F238E27FC236}">
                <a16:creationId xmlns:a16="http://schemas.microsoft.com/office/drawing/2014/main" id="{DE4A0654-88D4-93A4-7293-BCF65D3C1700}"/>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1998262" y="2000014"/>
            <a:ext cx="5401476" cy="3038330"/>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7BE679ED-2061-0F60-E51D-ED78B24C4CF8}"/>
              </a:ext>
            </a:extLst>
          </p:cNvPr>
          <p:cNvSpPr txBox="1"/>
          <p:nvPr/>
        </p:nvSpPr>
        <p:spPr>
          <a:xfrm>
            <a:off x="731521" y="2398067"/>
            <a:ext cx="4572000" cy="276999"/>
          </a:xfrm>
          <a:prstGeom prst="rect">
            <a:avLst/>
          </a:prstGeom>
          <a:noFill/>
        </p:spPr>
        <p:txBody>
          <a:bodyPr wrap="square">
            <a:spAutoFit/>
          </a:bodyPr>
          <a:lstStyle/>
          <a:p>
            <a:r>
              <a:rPr lang="pt-BR" sz="1200" b="0" i="0" dirty="0">
                <a:solidFill>
                  <a:schemeClr val="accent6">
                    <a:lumMod val="40000"/>
                    <a:lumOff val="60000"/>
                  </a:schemeClr>
                </a:solidFill>
                <a:effectLst/>
                <a:latin typeface="Mona Sans VF"/>
              </a:rPr>
              <a:t>Lat </a:t>
            </a:r>
            <a:r>
              <a:rPr lang="pt-BR" sz="1200" b="0" i="0" dirty="0">
                <a:solidFill>
                  <a:schemeClr val="accent6">
                    <a:lumMod val="40000"/>
                    <a:lumOff val="60000"/>
                  </a:schemeClr>
                </a:solidFill>
                <a:effectLst/>
                <a:latin typeface="Monaspace Neon"/>
              </a:rPr>
              <a:t>8.00° – 8.65° N</a:t>
            </a:r>
            <a:r>
              <a:rPr lang="pt-BR" sz="1200" b="0" i="0" dirty="0">
                <a:solidFill>
                  <a:schemeClr val="accent6">
                    <a:lumMod val="40000"/>
                    <a:lumOff val="60000"/>
                  </a:schemeClr>
                </a:solidFill>
                <a:effectLst/>
                <a:latin typeface="Mona Sans VF"/>
              </a:rPr>
              <a:t> Lon </a:t>
            </a:r>
            <a:r>
              <a:rPr lang="pt-BR" sz="1200" b="0" i="0" dirty="0">
                <a:solidFill>
                  <a:schemeClr val="accent6">
                    <a:lumMod val="40000"/>
                    <a:lumOff val="60000"/>
                  </a:schemeClr>
                </a:solidFill>
                <a:effectLst/>
                <a:latin typeface="Monaspace Neon"/>
              </a:rPr>
              <a:t>79.68° – 79.90° E</a:t>
            </a:r>
            <a:endParaRPr lang="en-US" sz="1200" dirty="0">
              <a:solidFill>
                <a:schemeClr val="accent6">
                  <a:lumMod val="40000"/>
                  <a:lumOff val="6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2B788"/>
          </a:solidFill>
          <a:ln w="12700">
            <a:solidFill>
              <a:srgbClr val="52B788"/>
            </a:solidFill>
            <a:prstDash val="solid"/>
          </a:ln>
        </p:spPr>
        <p:txBody>
          <a:bodyPr/>
          <a:lstStyle/>
          <a:p>
            <a:endParaRPr lang="en-US"/>
          </a:p>
        </p:txBody>
      </p:sp>
      <p:sp>
        <p:nvSpPr>
          <p:cNvPr id="4" name="Text 2"/>
          <p:cNvSpPr/>
          <p:nvPr/>
        </p:nvSpPr>
        <p:spPr>
          <a:xfrm>
            <a:off x="411480" y="128016"/>
            <a:ext cx="109728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MEMBER1</a:t>
            </a:r>
            <a:endParaRPr lang="en-US" sz="900" dirty="0"/>
          </a:p>
        </p:txBody>
      </p:sp>
      <p:sp>
        <p:nvSpPr>
          <p:cNvPr id="5" name="Text 3"/>
          <p:cNvSpPr/>
          <p:nvPr/>
        </p:nvSpPr>
        <p:spPr>
          <a:xfrm>
            <a:off x="411480" y="128016"/>
            <a:ext cx="8321040" cy="475488"/>
          </a:xfrm>
          <a:prstGeom prst="rect">
            <a:avLst/>
          </a:prstGeom>
          <a:noFill/>
          <a:ln/>
        </p:spPr>
        <p:txBody>
          <a:bodyPr wrap="square" lIns="0" tIns="0" rIns="0" bIns="0" rtlCol="0" anchor="ctr"/>
          <a:lstStyle/>
          <a:p>
            <a:pPr marL="0" indent="0" algn="l">
              <a:buNone/>
            </a:pPr>
            <a:r>
              <a:rPr lang="en-US" sz="2200" b="1" dirty="0">
                <a:solidFill>
                  <a:srgbClr val="1A4731"/>
                </a:solidFill>
                <a:latin typeface="Calibri" pitchFamily="34" charset="0"/>
                <a:ea typeface="Calibri" pitchFamily="34" charset="-122"/>
                <a:cs typeface="Calibri" pitchFamily="34" charset="-120"/>
              </a:rPr>
              <a:t>01 Introduction</a:t>
            </a:r>
            <a:endParaRPr lang="en-US" sz="2200" dirty="0"/>
          </a:p>
        </p:txBody>
      </p:sp>
      <p:sp>
        <p:nvSpPr>
          <p:cNvPr id="6" name="Shape 4"/>
          <p:cNvSpPr/>
          <p:nvPr/>
        </p:nvSpPr>
        <p:spPr>
          <a:xfrm>
            <a:off x="411480" y="777240"/>
            <a:ext cx="4206240" cy="4069080"/>
          </a:xfrm>
          <a:prstGeom prst="rect">
            <a:avLst/>
          </a:prstGeom>
          <a:solidFill>
            <a:srgbClr val="FFFFFF"/>
          </a:solidFill>
          <a:ln w="12700">
            <a:solidFill>
              <a:srgbClr val="E8EFF0"/>
            </a:solidFill>
            <a:prstDash val="solid"/>
          </a:ln>
          <a:effectLst>
            <a:outerShdw blurRad="50800" dist="12700" dir="8100000" algn="bl" rotWithShape="0">
              <a:srgbClr val="000000">
                <a:alpha val="7000"/>
              </a:srgbClr>
            </a:outerShdw>
          </a:effectLst>
        </p:spPr>
        <p:txBody>
          <a:bodyPr/>
          <a:lstStyle/>
          <a:p>
            <a:endParaRPr lang="en-US"/>
          </a:p>
        </p:txBody>
      </p:sp>
      <p:sp>
        <p:nvSpPr>
          <p:cNvPr id="7" name="Text 5"/>
          <p:cNvSpPr/>
          <p:nvPr/>
        </p:nvSpPr>
        <p:spPr>
          <a:xfrm>
            <a:off x="594360" y="914400"/>
            <a:ext cx="3840480" cy="201168"/>
          </a:xfrm>
          <a:prstGeom prst="rect">
            <a:avLst/>
          </a:prstGeom>
          <a:noFill/>
          <a:ln/>
        </p:spPr>
        <p:txBody>
          <a:bodyPr wrap="square" lIns="0" tIns="0" rIns="0" bIns="0" rtlCol="0" anchor="ctr"/>
          <a:lstStyle/>
          <a:p>
            <a:pPr marL="0" indent="0">
              <a:buNone/>
            </a:pPr>
            <a:r>
              <a:rPr lang="en-US" sz="1100" b="1" dirty="0">
                <a:solidFill>
                  <a:srgbClr val="1A4731"/>
                </a:solidFill>
                <a:latin typeface="Calibri" pitchFamily="34" charset="0"/>
                <a:ea typeface="Calibri" pitchFamily="34" charset="-122"/>
                <a:cs typeface="Calibri" pitchFamily="34" charset="-120"/>
              </a:rPr>
              <a:t>What is Deforestation?</a:t>
            </a:r>
            <a:endParaRPr lang="en-US" sz="1100" dirty="0"/>
          </a:p>
        </p:txBody>
      </p:sp>
      <p:sp>
        <p:nvSpPr>
          <p:cNvPr id="8" name="Text 6"/>
          <p:cNvSpPr/>
          <p:nvPr/>
        </p:nvSpPr>
        <p:spPr>
          <a:xfrm>
            <a:off x="594360" y="1115568"/>
            <a:ext cx="3840480" cy="54864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Permanent removal of forest or dense vegetation, often for agriculture, aquaculture, or urban development.</a:t>
            </a:r>
            <a:endParaRPr lang="en-US" sz="1000" dirty="0"/>
          </a:p>
        </p:txBody>
      </p:sp>
      <p:sp>
        <p:nvSpPr>
          <p:cNvPr id="9" name="Text 7"/>
          <p:cNvSpPr/>
          <p:nvPr/>
        </p:nvSpPr>
        <p:spPr>
          <a:xfrm>
            <a:off x="594360" y="1810512"/>
            <a:ext cx="3840480" cy="201168"/>
          </a:xfrm>
          <a:prstGeom prst="rect">
            <a:avLst/>
          </a:prstGeom>
          <a:noFill/>
          <a:ln/>
        </p:spPr>
        <p:txBody>
          <a:bodyPr wrap="square" lIns="0" tIns="0" rIns="0" bIns="0" rtlCol="0" anchor="ctr"/>
          <a:lstStyle/>
          <a:p>
            <a:pPr marL="0" indent="0">
              <a:buNone/>
            </a:pPr>
            <a:r>
              <a:rPr lang="en-US" sz="1100" b="1" dirty="0">
                <a:solidFill>
                  <a:srgbClr val="1A4731"/>
                </a:solidFill>
                <a:latin typeface="Calibri" pitchFamily="34" charset="0"/>
                <a:ea typeface="Calibri" pitchFamily="34" charset="-122"/>
                <a:cs typeface="Calibri" pitchFamily="34" charset="-120"/>
              </a:rPr>
              <a:t>Why Does It Matter?</a:t>
            </a:r>
            <a:endParaRPr lang="en-US" sz="1100" dirty="0"/>
          </a:p>
        </p:txBody>
      </p:sp>
      <p:sp>
        <p:nvSpPr>
          <p:cNvPr id="10" name="Text 8"/>
          <p:cNvSpPr/>
          <p:nvPr/>
        </p:nvSpPr>
        <p:spPr>
          <a:xfrm>
            <a:off x="594360" y="2011680"/>
            <a:ext cx="3840480" cy="54864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Loss of vegetation disrupts ecosystems, increases carbon emissions, affects water cycles, and threatens coastal stability.</a:t>
            </a:r>
            <a:endParaRPr lang="en-US" sz="1000" dirty="0"/>
          </a:p>
        </p:txBody>
      </p:sp>
      <p:sp>
        <p:nvSpPr>
          <p:cNvPr id="11" name="Text 9"/>
          <p:cNvSpPr/>
          <p:nvPr/>
        </p:nvSpPr>
        <p:spPr>
          <a:xfrm>
            <a:off x="594360" y="2706624"/>
            <a:ext cx="3840480" cy="201168"/>
          </a:xfrm>
          <a:prstGeom prst="rect">
            <a:avLst/>
          </a:prstGeom>
          <a:noFill/>
          <a:ln/>
        </p:spPr>
        <p:txBody>
          <a:bodyPr wrap="square" lIns="0" tIns="0" rIns="0" bIns="0" rtlCol="0" anchor="ctr"/>
          <a:lstStyle/>
          <a:p>
            <a:pPr marL="0" indent="0">
              <a:buNone/>
            </a:pPr>
            <a:r>
              <a:rPr lang="en-US" sz="1100" b="1" dirty="0">
                <a:solidFill>
                  <a:srgbClr val="1A4731"/>
                </a:solidFill>
                <a:latin typeface="Calibri" pitchFamily="34" charset="0"/>
                <a:ea typeface="Calibri" pitchFamily="34" charset="-122"/>
                <a:cs typeface="Calibri" pitchFamily="34" charset="-120"/>
              </a:rPr>
              <a:t>Why Monitor It Remotely?</a:t>
            </a:r>
            <a:endParaRPr lang="en-US" sz="1100" dirty="0"/>
          </a:p>
        </p:txBody>
      </p:sp>
      <p:sp>
        <p:nvSpPr>
          <p:cNvPr id="12" name="Text 10"/>
          <p:cNvSpPr/>
          <p:nvPr/>
        </p:nvSpPr>
        <p:spPr>
          <a:xfrm>
            <a:off x="594360" y="2907792"/>
            <a:ext cx="3840480" cy="54864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Ground surveys are expensive and slow. Satellite imagery provides consistent, repeatable, wide-area observations over decades.</a:t>
            </a:r>
            <a:endParaRPr lang="en-US" sz="1000" dirty="0"/>
          </a:p>
        </p:txBody>
      </p:sp>
      <p:sp>
        <p:nvSpPr>
          <p:cNvPr id="13" name="Text 11"/>
          <p:cNvSpPr/>
          <p:nvPr/>
        </p:nvSpPr>
        <p:spPr>
          <a:xfrm>
            <a:off x="594360" y="3602736"/>
            <a:ext cx="3840480" cy="201168"/>
          </a:xfrm>
          <a:prstGeom prst="rect">
            <a:avLst/>
          </a:prstGeom>
          <a:noFill/>
          <a:ln/>
        </p:spPr>
        <p:txBody>
          <a:bodyPr wrap="square" lIns="0" tIns="0" rIns="0" bIns="0" rtlCol="0" anchor="ctr"/>
          <a:lstStyle/>
          <a:p>
            <a:pPr marL="0" indent="0">
              <a:buNone/>
            </a:pPr>
            <a:r>
              <a:rPr lang="en-US" sz="1100" b="1" dirty="0">
                <a:solidFill>
                  <a:srgbClr val="1A4731"/>
                </a:solidFill>
                <a:latin typeface="Calibri" pitchFamily="34" charset="0"/>
                <a:ea typeface="Calibri" pitchFamily="34" charset="-122"/>
                <a:cs typeface="Calibri" pitchFamily="34" charset="-120"/>
              </a:rPr>
              <a:t>Our Study Area – Kalpitiya</a:t>
            </a:r>
            <a:endParaRPr lang="en-US" sz="1100" dirty="0"/>
          </a:p>
        </p:txBody>
      </p:sp>
      <p:sp>
        <p:nvSpPr>
          <p:cNvPr id="14" name="Text 12"/>
          <p:cNvSpPr/>
          <p:nvPr/>
        </p:nvSpPr>
        <p:spPr>
          <a:xfrm>
            <a:off x="594360" y="3803904"/>
            <a:ext cx="3840480" cy="54864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A coastal peninsula in Sri Lanka's North Western Province, bordered by the Indian Ocean and Puttalam Lagoon. Home to scrubland, mangroves, salt pans, and small settlements.</a:t>
            </a:r>
            <a:endParaRPr lang="en-US" sz="1000" dirty="0"/>
          </a:p>
        </p:txBody>
      </p:sp>
      <p:sp>
        <p:nvSpPr>
          <p:cNvPr id="15" name="Shape 13"/>
          <p:cNvSpPr/>
          <p:nvPr/>
        </p:nvSpPr>
        <p:spPr>
          <a:xfrm>
            <a:off x="4892040" y="777240"/>
            <a:ext cx="3931920" cy="868680"/>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16" name="Shape 14"/>
          <p:cNvSpPr/>
          <p:nvPr/>
        </p:nvSpPr>
        <p:spPr>
          <a:xfrm>
            <a:off x="4892040" y="777240"/>
            <a:ext cx="73152" cy="868680"/>
          </a:xfrm>
          <a:prstGeom prst="rect">
            <a:avLst/>
          </a:prstGeom>
          <a:solidFill>
            <a:srgbClr val="52B788"/>
          </a:solidFill>
          <a:ln w="12700">
            <a:solidFill>
              <a:srgbClr val="52B788"/>
            </a:solidFill>
            <a:prstDash val="solid"/>
          </a:ln>
        </p:spPr>
        <p:txBody>
          <a:bodyPr/>
          <a:lstStyle/>
          <a:p>
            <a:endParaRPr lang="en-US"/>
          </a:p>
        </p:txBody>
      </p:sp>
      <p:sp>
        <p:nvSpPr>
          <p:cNvPr id="17" name="Text 15"/>
          <p:cNvSpPr/>
          <p:nvPr/>
        </p:nvSpPr>
        <p:spPr>
          <a:xfrm>
            <a:off x="5074920" y="868680"/>
            <a:ext cx="1097280" cy="438912"/>
          </a:xfrm>
          <a:prstGeom prst="rect">
            <a:avLst/>
          </a:prstGeom>
          <a:noFill/>
          <a:ln/>
        </p:spPr>
        <p:txBody>
          <a:bodyPr wrap="square" lIns="0" tIns="0" rIns="0" bIns="0" rtlCol="0" anchor="ctr"/>
          <a:lstStyle/>
          <a:p>
            <a:pPr marL="0" indent="0">
              <a:buNone/>
            </a:pPr>
            <a:r>
              <a:rPr lang="en-US" sz="2600" b="1" dirty="0">
                <a:solidFill>
                  <a:srgbClr val="1A4731"/>
                </a:solidFill>
                <a:latin typeface="Calibri" pitchFamily="34" charset="0"/>
                <a:ea typeface="Calibri" pitchFamily="34" charset="-122"/>
                <a:cs typeface="Calibri" pitchFamily="34" charset="-120"/>
              </a:rPr>
              <a:t>20</a:t>
            </a:r>
            <a:endParaRPr lang="en-US" sz="2600" dirty="0"/>
          </a:p>
        </p:txBody>
      </p:sp>
      <p:sp>
        <p:nvSpPr>
          <p:cNvPr id="18" name="Text 16"/>
          <p:cNvSpPr/>
          <p:nvPr/>
        </p:nvSpPr>
        <p:spPr>
          <a:xfrm>
            <a:off x="5074920" y="868680"/>
            <a:ext cx="3566160" cy="237744"/>
          </a:xfrm>
          <a:prstGeom prst="rect">
            <a:avLst/>
          </a:prstGeom>
          <a:noFill/>
          <a:ln/>
        </p:spPr>
        <p:txBody>
          <a:bodyPr wrap="square" lIns="0" tIns="0" rIns="0" bIns="0" rtlCol="0" anchor="ctr"/>
          <a:lstStyle/>
          <a:p>
            <a:pPr marL="0" indent="0" algn="r">
              <a:buNone/>
            </a:pPr>
            <a:r>
              <a:rPr lang="en-US" sz="1000" b="1" dirty="0">
                <a:solidFill>
                  <a:srgbClr val="1C2B22"/>
                </a:solidFill>
                <a:latin typeface="Calibri" pitchFamily="34" charset="0"/>
                <a:ea typeface="Calibri" pitchFamily="34" charset="-122"/>
                <a:cs typeface="Calibri" pitchFamily="34" charset="-120"/>
              </a:rPr>
              <a:t>Landsat Scenes</a:t>
            </a:r>
            <a:endParaRPr lang="en-US" sz="1000" dirty="0"/>
          </a:p>
        </p:txBody>
      </p:sp>
      <p:sp>
        <p:nvSpPr>
          <p:cNvPr id="19" name="Text 17"/>
          <p:cNvSpPr/>
          <p:nvPr/>
        </p:nvSpPr>
        <p:spPr>
          <a:xfrm>
            <a:off x="5074920" y="1097280"/>
            <a:ext cx="3566160" cy="201168"/>
          </a:xfrm>
          <a:prstGeom prst="rect">
            <a:avLst/>
          </a:prstGeom>
          <a:noFill/>
          <a:ln/>
        </p:spPr>
        <p:txBody>
          <a:bodyPr wrap="square" lIns="0" tIns="0" rIns="0" bIns="0" rtlCol="0" anchor="ctr"/>
          <a:lstStyle/>
          <a:p>
            <a:pPr marL="0" indent="0" algn="r">
              <a:buNone/>
            </a:pPr>
            <a:r>
              <a:rPr lang="en-US" sz="900" dirty="0">
                <a:solidFill>
                  <a:srgbClr val="90A4AE"/>
                </a:solidFill>
                <a:latin typeface="Calibri" pitchFamily="34" charset="0"/>
                <a:ea typeface="Calibri" pitchFamily="34" charset="-122"/>
                <a:cs typeface="Calibri" pitchFamily="34" charset="-120"/>
              </a:rPr>
              <a:t>scenes analysed</a:t>
            </a:r>
            <a:endParaRPr lang="en-US" sz="900" dirty="0"/>
          </a:p>
        </p:txBody>
      </p:sp>
      <p:sp>
        <p:nvSpPr>
          <p:cNvPr id="20" name="Shape 18"/>
          <p:cNvSpPr/>
          <p:nvPr/>
        </p:nvSpPr>
        <p:spPr>
          <a:xfrm>
            <a:off x="4892040" y="1764792"/>
            <a:ext cx="3931920" cy="868680"/>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21" name="Shape 19"/>
          <p:cNvSpPr/>
          <p:nvPr/>
        </p:nvSpPr>
        <p:spPr>
          <a:xfrm>
            <a:off x="4892040" y="1764792"/>
            <a:ext cx="73152" cy="868680"/>
          </a:xfrm>
          <a:prstGeom prst="rect">
            <a:avLst/>
          </a:prstGeom>
          <a:solidFill>
            <a:srgbClr val="52B788"/>
          </a:solidFill>
          <a:ln w="12700">
            <a:solidFill>
              <a:srgbClr val="52B788"/>
            </a:solidFill>
            <a:prstDash val="solid"/>
          </a:ln>
        </p:spPr>
        <p:txBody>
          <a:bodyPr/>
          <a:lstStyle/>
          <a:p>
            <a:endParaRPr lang="en-US"/>
          </a:p>
        </p:txBody>
      </p:sp>
      <p:sp>
        <p:nvSpPr>
          <p:cNvPr id="22" name="Text 20"/>
          <p:cNvSpPr/>
          <p:nvPr/>
        </p:nvSpPr>
        <p:spPr>
          <a:xfrm>
            <a:off x="5074920" y="1856232"/>
            <a:ext cx="1097280" cy="438912"/>
          </a:xfrm>
          <a:prstGeom prst="rect">
            <a:avLst/>
          </a:prstGeom>
          <a:noFill/>
          <a:ln/>
        </p:spPr>
        <p:txBody>
          <a:bodyPr wrap="square" lIns="0" tIns="0" rIns="0" bIns="0" rtlCol="0" anchor="ctr"/>
          <a:lstStyle/>
          <a:p>
            <a:pPr marL="0" indent="0">
              <a:buNone/>
            </a:pPr>
            <a:r>
              <a:rPr lang="en-US" sz="2600" b="1" dirty="0">
                <a:solidFill>
                  <a:srgbClr val="1A4731"/>
                </a:solidFill>
                <a:latin typeface="Calibri" pitchFamily="34" charset="0"/>
                <a:ea typeface="Calibri" pitchFamily="34" charset="-122"/>
                <a:cs typeface="Calibri" pitchFamily="34" charset="-120"/>
              </a:rPr>
              <a:t>9</a:t>
            </a:r>
            <a:endParaRPr lang="en-US" sz="2600" dirty="0"/>
          </a:p>
        </p:txBody>
      </p:sp>
      <p:sp>
        <p:nvSpPr>
          <p:cNvPr id="23" name="Text 21"/>
          <p:cNvSpPr/>
          <p:nvPr/>
        </p:nvSpPr>
        <p:spPr>
          <a:xfrm>
            <a:off x="5074920" y="1856232"/>
            <a:ext cx="3566160" cy="237744"/>
          </a:xfrm>
          <a:prstGeom prst="rect">
            <a:avLst/>
          </a:prstGeom>
          <a:noFill/>
          <a:ln/>
        </p:spPr>
        <p:txBody>
          <a:bodyPr wrap="square" lIns="0" tIns="0" rIns="0" bIns="0" rtlCol="0" anchor="ctr"/>
          <a:lstStyle/>
          <a:p>
            <a:pPr marL="0" indent="0" algn="r">
              <a:buNone/>
            </a:pPr>
            <a:r>
              <a:rPr lang="en-US" sz="1000" b="1" dirty="0">
                <a:solidFill>
                  <a:srgbClr val="1C2B22"/>
                </a:solidFill>
                <a:latin typeface="Calibri" pitchFamily="34" charset="0"/>
                <a:ea typeface="Calibri" pitchFamily="34" charset="-122"/>
                <a:cs typeface="Calibri" pitchFamily="34" charset="-120"/>
              </a:rPr>
              <a:t>Study Period</a:t>
            </a:r>
            <a:endParaRPr lang="en-US" sz="1000" dirty="0"/>
          </a:p>
        </p:txBody>
      </p:sp>
      <p:sp>
        <p:nvSpPr>
          <p:cNvPr id="24" name="Text 22"/>
          <p:cNvSpPr/>
          <p:nvPr/>
        </p:nvSpPr>
        <p:spPr>
          <a:xfrm>
            <a:off x="5074920" y="2084832"/>
            <a:ext cx="3566160" cy="201168"/>
          </a:xfrm>
          <a:prstGeom prst="rect">
            <a:avLst/>
          </a:prstGeom>
          <a:noFill/>
          <a:ln/>
        </p:spPr>
        <p:txBody>
          <a:bodyPr wrap="square" lIns="0" tIns="0" rIns="0" bIns="0" rtlCol="0" anchor="ctr"/>
          <a:lstStyle/>
          <a:p>
            <a:pPr marL="0" indent="0" algn="r">
              <a:buNone/>
            </a:pPr>
            <a:r>
              <a:rPr lang="en-US" sz="900" dirty="0">
                <a:solidFill>
                  <a:srgbClr val="90A4AE"/>
                </a:solidFill>
                <a:latin typeface="Calibri" pitchFamily="34" charset="0"/>
                <a:ea typeface="Calibri" pitchFamily="34" charset="-122"/>
                <a:cs typeface="Calibri" pitchFamily="34" charset="-120"/>
              </a:rPr>
              <a:t>years  (2016 – 2025)</a:t>
            </a:r>
            <a:endParaRPr lang="en-US" sz="900" dirty="0"/>
          </a:p>
        </p:txBody>
      </p:sp>
      <p:sp>
        <p:nvSpPr>
          <p:cNvPr id="25" name="Shape 23"/>
          <p:cNvSpPr/>
          <p:nvPr/>
        </p:nvSpPr>
        <p:spPr>
          <a:xfrm>
            <a:off x="4892040" y="2752344"/>
            <a:ext cx="3931920" cy="868680"/>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26" name="Shape 24"/>
          <p:cNvSpPr/>
          <p:nvPr/>
        </p:nvSpPr>
        <p:spPr>
          <a:xfrm>
            <a:off x="4892040" y="2752344"/>
            <a:ext cx="73152" cy="868680"/>
          </a:xfrm>
          <a:prstGeom prst="rect">
            <a:avLst/>
          </a:prstGeom>
          <a:solidFill>
            <a:srgbClr val="52B788"/>
          </a:solidFill>
          <a:ln w="12700">
            <a:solidFill>
              <a:srgbClr val="52B788"/>
            </a:solidFill>
            <a:prstDash val="solid"/>
          </a:ln>
        </p:spPr>
        <p:txBody>
          <a:bodyPr/>
          <a:lstStyle/>
          <a:p>
            <a:endParaRPr lang="en-US"/>
          </a:p>
        </p:txBody>
      </p:sp>
      <p:sp>
        <p:nvSpPr>
          <p:cNvPr id="27" name="Text 25"/>
          <p:cNvSpPr/>
          <p:nvPr/>
        </p:nvSpPr>
        <p:spPr>
          <a:xfrm>
            <a:off x="5074920" y="2843784"/>
            <a:ext cx="1097280" cy="438912"/>
          </a:xfrm>
          <a:prstGeom prst="rect">
            <a:avLst/>
          </a:prstGeom>
          <a:noFill/>
          <a:ln/>
        </p:spPr>
        <p:txBody>
          <a:bodyPr wrap="square" lIns="0" tIns="0" rIns="0" bIns="0" rtlCol="0" anchor="ctr"/>
          <a:lstStyle/>
          <a:p>
            <a:pPr marL="0" indent="0">
              <a:buNone/>
            </a:pPr>
            <a:r>
              <a:rPr lang="en-US" sz="2600" b="1" dirty="0">
                <a:solidFill>
                  <a:srgbClr val="1A4731"/>
                </a:solidFill>
                <a:latin typeface="Calibri" pitchFamily="34" charset="0"/>
                <a:ea typeface="Calibri" pitchFamily="34" charset="-122"/>
                <a:cs typeface="Calibri" pitchFamily="34" charset="-120"/>
              </a:rPr>
              <a:t>30m</a:t>
            </a:r>
            <a:endParaRPr lang="en-US" sz="2600" dirty="0"/>
          </a:p>
        </p:txBody>
      </p:sp>
      <p:sp>
        <p:nvSpPr>
          <p:cNvPr id="28" name="Text 26"/>
          <p:cNvSpPr/>
          <p:nvPr/>
        </p:nvSpPr>
        <p:spPr>
          <a:xfrm>
            <a:off x="5074920" y="2843784"/>
            <a:ext cx="3566160" cy="237744"/>
          </a:xfrm>
          <a:prstGeom prst="rect">
            <a:avLst/>
          </a:prstGeom>
          <a:noFill/>
          <a:ln/>
        </p:spPr>
        <p:txBody>
          <a:bodyPr wrap="square" lIns="0" tIns="0" rIns="0" bIns="0" rtlCol="0" anchor="ctr"/>
          <a:lstStyle/>
          <a:p>
            <a:pPr marL="0" indent="0" algn="r">
              <a:buNone/>
            </a:pPr>
            <a:r>
              <a:rPr lang="en-US" sz="1000" b="1" dirty="0">
                <a:solidFill>
                  <a:srgbClr val="1C2B22"/>
                </a:solidFill>
                <a:latin typeface="Calibri" pitchFamily="34" charset="0"/>
                <a:ea typeface="Calibri" pitchFamily="34" charset="-122"/>
                <a:cs typeface="Calibri" pitchFamily="34" charset="-120"/>
              </a:rPr>
              <a:t>Resolution</a:t>
            </a:r>
            <a:endParaRPr lang="en-US" sz="1000" dirty="0"/>
          </a:p>
        </p:txBody>
      </p:sp>
      <p:sp>
        <p:nvSpPr>
          <p:cNvPr id="29" name="Text 27"/>
          <p:cNvSpPr/>
          <p:nvPr/>
        </p:nvSpPr>
        <p:spPr>
          <a:xfrm>
            <a:off x="5074920" y="3072384"/>
            <a:ext cx="3566160" cy="201168"/>
          </a:xfrm>
          <a:prstGeom prst="rect">
            <a:avLst/>
          </a:prstGeom>
          <a:noFill/>
          <a:ln/>
        </p:spPr>
        <p:txBody>
          <a:bodyPr wrap="square" lIns="0" tIns="0" rIns="0" bIns="0" rtlCol="0" anchor="ctr"/>
          <a:lstStyle/>
          <a:p>
            <a:pPr marL="0" indent="0" algn="r">
              <a:buNone/>
            </a:pPr>
            <a:r>
              <a:rPr lang="en-US" sz="900" dirty="0">
                <a:solidFill>
                  <a:srgbClr val="90A4AE"/>
                </a:solidFill>
                <a:latin typeface="Calibri" pitchFamily="34" charset="0"/>
                <a:ea typeface="Calibri" pitchFamily="34" charset="-122"/>
                <a:cs typeface="Calibri" pitchFamily="34" charset="-120"/>
              </a:rPr>
              <a:t>Landsat pixel size</a:t>
            </a:r>
            <a:endParaRPr lang="en-US" sz="900" dirty="0"/>
          </a:p>
        </p:txBody>
      </p:sp>
      <p:sp>
        <p:nvSpPr>
          <p:cNvPr id="30" name="Shape 28"/>
          <p:cNvSpPr/>
          <p:nvPr/>
        </p:nvSpPr>
        <p:spPr>
          <a:xfrm>
            <a:off x="4892040" y="3739896"/>
            <a:ext cx="3931920" cy="868680"/>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31" name="Shape 29"/>
          <p:cNvSpPr/>
          <p:nvPr/>
        </p:nvSpPr>
        <p:spPr>
          <a:xfrm>
            <a:off x="4892040" y="3739896"/>
            <a:ext cx="73152" cy="868680"/>
          </a:xfrm>
          <a:prstGeom prst="rect">
            <a:avLst/>
          </a:prstGeom>
          <a:solidFill>
            <a:srgbClr val="52B788"/>
          </a:solidFill>
          <a:ln w="12700">
            <a:solidFill>
              <a:srgbClr val="52B788"/>
            </a:solidFill>
            <a:prstDash val="solid"/>
          </a:ln>
        </p:spPr>
        <p:txBody>
          <a:bodyPr/>
          <a:lstStyle/>
          <a:p>
            <a:endParaRPr lang="en-US"/>
          </a:p>
        </p:txBody>
      </p:sp>
      <p:sp>
        <p:nvSpPr>
          <p:cNvPr id="32" name="Text 30"/>
          <p:cNvSpPr/>
          <p:nvPr/>
        </p:nvSpPr>
        <p:spPr>
          <a:xfrm>
            <a:off x="5074920" y="3831336"/>
            <a:ext cx="1097280" cy="438912"/>
          </a:xfrm>
          <a:prstGeom prst="rect">
            <a:avLst/>
          </a:prstGeom>
          <a:noFill/>
          <a:ln/>
        </p:spPr>
        <p:txBody>
          <a:bodyPr wrap="square" lIns="0" tIns="0" rIns="0" bIns="0" rtlCol="0" anchor="ctr"/>
          <a:lstStyle/>
          <a:p>
            <a:pPr marL="0" indent="0">
              <a:buNone/>
            </a:pPr>
            <a:r>
              <a:rPr lang="en-US" sz="2600" b="1" dirty="0">
                <a:solidFill>
                  <a:srgbClr val="1A4731"/>
                </a:solidFill>
                <a:latin typeface="Calibri" pitchFamily="34" charset="0"/>
                <a:ea typeface="Calibri" pitchFamily="34" charset="-122"/>
                <a:cs typeface="Calibri" pitchFamily="34" charset="-120"/>
              </a:rPr>
              <a:t>4</a:t>
            </a:r>
            <a:endParaRPr lang="en-US" sz="2600" dirty="0"/>
          </a:p>
        </p:txBody>
      </p:sp>
      <p:sp>
        <p:nvSpPr>
          <p:cNvPr id="33" name="Text 31"/>
          <p:cNvSpPr/>
          <p:nvPr/>
        </p:nvSpPr>
        <p:spPr>
          <a:xfrm>
            <a:off x="5074920" y="3831336"/>
            <a:ext cx="3566160" cy="237744"/>
          </a:xfrm>
          <a:prstGeom prst="rect">
            <a:avLst/>
          </a:prstGeom>
          <a:noFill/>
          <a:ln/>
        </p:spPr>
        <p:txBody>
          <a:bodyPr wrap="square" lIns="0" tIns="0" rIns="0" bIns="0" rtlCol="0" anchor="ctr"/>
          <a:lstStyle/>
          <a:p>
            <a:pPr marL="0" indent="0" algn="r">
              <a:buNone/>
            </a:pPr>
            <a:r>
              <a:rPr lang="en-US" sz="1000" b="1" dirty="0">
                <a:solidFill>
                  <a:srgbClr val="1C2B22"/>
                </a:solidFill>
                <a:latin typeface="Calibri" pitchFamily="34" charset="0"/>
                <a:ea typeface="Calibri" pitchFamily="34" charset="-122"/>
                <a:cs typeface="Calibri" pitchFamily="34" charset="-120"/>
              </a:rPr>
              <a:t>Land Classes</a:t>
            </a:r>
            <a:endParaRPr lang="en-US" sz="1000" dirty="0"/>
          </a:p>
        </p:txBody>
      </p:sp>
      <p:sp>
        <p:nvSpPr>
          <p:cNvPr id="34" name="Text 32"/>
          <p:cNvSpPr/>
          <p:nvPr/>
        </p:nvSpPr>
        <p:spPr>
          <a:xfrm>
            <a:off x="5074920" y="4059936"/>
            <a:ext cx="3566160" cy="201168"/>
          </a:xfrm>
          <a:prstGeom prst="rect">
            <a:avLst/>
          </a:prstGeom>
          <a:noFill/>
          <a:ln/>
        </p:spPr>
        <p:txBody>
          <a:bodyPr wrap="square" lIns="0" tIns="0" rIns="0" bIns="0" rtlCol="0" anchor="ctr"/>
          <a:lstStyle/>
          <a:p>
            <a:pPr marL="0" indent="0" algn="r">
              <a:buNone/>
            </a:pPr>
            <a:r>
              <a:rPr lang="en-US" sz="900" dirty="0">
                <a:solidFill>
                  <a:srgbClr val="90A4AE"/>
                </a:solidFill>
                <a:latin typeface="Calibri" pitchFamily="34" charset="0"/>
                <a:ea typeface="Calibri" pitchFamily="34" charset="-122"/>
                <a:cs typeface="Calibri" pitchFamily="34" charset="-120"/>
              </a:rPr>
              <a:t>Water · Veg · Soil · Built</a:t>
            </a:r>
            <a:endParaRPr lang="en-US" sz="900" dirty="0"/>
          </a:p>
        </p:txBody>
      </p:sp>
      <p:sp>
        <p:nvSpPr>
          <p:cNvPr id="35" name="Text 33"/>
          <p:cNvSpPr/>
          <p:nvPr/>
        </p:nvSpPr>
        <p:spPr>
          <a:xfrm>
            <a:off x="8686800" y="4800600"/>
            <a:ext cx="365760" cy="228600"/>
          </a:xfrm>
          <a:prstGeom prst="rect">
            <a:avLst/>
          </a:prstGeom>
          <a:noFill/>
          <a:ln/>
        </p:spPr>
        <p:txBody>
          <a:bodyPr wrap="square" rtlCol="0" anchor="ctr"/>
          <a:lstStyle/>
          <a:p>
            <a:pPr marL="0" indent="0" algn="ctr">
              <a:buNone/>
            </a:pPr>
            <a:r>
              <a:rPr lang="en-US" sz="900" dirty="0">
                <a:solidFill>
                  <a:srgbClr val="90A4AE"/>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2B788"/>
          </a:solidFill>
          <a:ln w="12700">
            <a:solidFill>
              <a:srgbClr val="52B788"/>
            </a:solidFill>
            <a:prstDash val="solid"/>
          </a:ln>
        </p:spPr>
        <p:txBody>
          <a:bodyPr/>
          <a:lstStyle/>
          <a:p>
            <a:endParaRPr lang="en-US"/>
          </a:p>
        </p:txBody>
      </p:sp>
      <p:sp>
        <p:nvSpPr>
          <p:cNvPr id="4" name="Text 2"/>
          <p:cNvSpPr/>
          <p:nvPr/>
        </p:nvSpPr>
        <p:spPr>
          <a:xfrm>
            <a:off x="411480" y="128016"/>
            <a:ext cx="109728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MEMBER 1</a:t>
            </a:r>
            <a:endParaRPr lang="en-US" sz="900" dirty="0"/>
          </a:p>
        </p:txBody>
      </p:sp>
      <p:sp>
        <p:nvSpPr>
          <p:cNvPr id="5" name="Text 3"/>
          <p:cNvSpPr/>
          <p:nvPr/>
        </p:nvSpPr>
        <p:spPr>
          <a:xfrm>
            <a:off x="411480" y="128016"/>
            <a:ext cx="8321040" cy="475488"/>
          </a:xfrm>
          <a:prstGeom prst="rect">
            <a:avLst/>
          </a:prstGeom>
          <a:noFill/>
          <a:ln/>
        </p:spPr>
        <p:txBody>
          <a:bodyPr wrap="square" lIns="0" tIns="0" rIns="0" bIns="0" rtlCol="0" anchor="ctr"/>
          <a:lstStyle/>
          <a:p>
            <a:pPr marL="0" indent="0" algn="l">
              <a:buNone/>
            </a:pPr>
            <a:r>
              <a:rPr lang="en-US" sz="2200" b="1" dirty="0">
                <a:solidFill>
                  <a:srgbClr val="1A4731"/>
                </a:solidFill>
                <a:latin typeface="Calibri" pitchFamily="34" charset="0"/>
                <a:ea typeface="Calibri" pitchFamily="34" charset="-122"/>
                <a:cs typeface="Calibri" pitchFamily="34" charset="-120"/>
              </a:rPr>
              <a:t>02 Background</a:t>
            </a:r>
            <a:endParaRPr lang="en-US" sz="2200" dirty="0"/>
          </a:p>
        </p:txBody>
      </p:sp>
      <p:sp>
        <p:nvSpPr>
          <p:cNvPr id="6" name="Shape 4"/>
          <p:cNvSpPr/>
          <p:nvPr/>
        </p:nvSpPr>
        <p:spPr>
          <a:xfrm>
            <a:off x="347472" y="777240"/>
            <a:ext cx="4206240" cy="1051560"/>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7" name="Shape 5"/>
          <p:cNvSpPr/>
          <p:nvPr/>
        </p:nvSpPr>
        <p:spPr>
          <a:xfrm>
            <a:off x="347472" y="777240"/>
            <a:ext cx="4206240" cy="73152"/>
          </a:xfrm>
          <a:prstGeom prst="rect">
            <a:avLst/>
          </a:prstGeom>
          <a:solidFill>
            <a:srgbClr val="52B788"/>
          </a:solidFill>
          <a:ln w="12700">
            <a:solidFill>
              <a:srgbClr val="52B788"/>
            </a:solidFill>
            <a:prstDash val="solid"/>
          </a:ln>
        </p:spPr>
        <p:txBody>
          <a:bodyPr/>
          <a:lstStyle/>
          <a:p>
            <a:endParaRPr lang="en-US"/>
          </a:p>
        </p:txBody>
      </p:sp>
      <p:sp>
        <p:nvSpPr>
          <p:cNvPr id="8" name="Text 6"/>
          <p:cNvSpPr/>
          <p:nvPr/>
        </p:nvSpPr>
        <p:spPr>
          <a:xfrm>
            <a:off x="512064" y="886968"/>
            <a:ext cx="3977640" cy="237744"/>
          </a:xfrm>
          <a:prstGeom prst="rect">
            <a:avLst/>
          </a:prstGeom>
          <a:noFill/>
          <a:ln/>
        </p:spPr>
        <p:txBody>
          <a:bodyPr wrap="square" lIns="0" tIns="0" rIns="0" bIns="0" rtlCol="0" anchor="ctr"/>
          <a:lstStyle/>
          <a:p>
            <a:pPr marL="0" indent="0">
              <a:buNone/>
            </a:pPr>
            <a:r>
              <a:rPr lang="en-US" sz="1100" b="1" dirty="0">
                <a:solidFill>
                  <a:srgbClr val="1A4731"/>
                </a:solidFill>
                <a:latin typeface="Calibri" pitchFamily="34" charset="0"/>
                <a:ea typeface="Calibri" pitchFamily="34" charset="-122"/>
                <a:cs typeface="Calibri" pitchFamily="34" charset="-120"/>
              </a:rPr>
              <a:t>Environmental Context</a:t>
            </a:r>
            <a:endParaRPr lang="en-US" sz="1100" dirty="0"/>
          </a:p>
        </p:txBody>
      </p:sp>
      <p:sp>
        <p:nvSpPr>
          <p:cNvPr id="9" name="Text 7"/>
          <p:cNvSpPr/>
          <p:nvPr/>
        </p:nvSpPr>
        <p:spPr>
          <a:xfrm>
            <a:off x="512064" y="1143000"/>
            <a:ext cx="3977640" cy="56692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Sri Lanka has faced ongoing vegetation loss in coastal and semi-arid regions due to aquaculture, agriculture, and settlement expansion. Kalpitiya is one of the most pressured coastal zones.</a:t>
            </a:r>
            <a:endParaRPr lang="en-US" sz="950" dirty="0"/>
          </a:p>
        </p:txBody>
      </p:sp>
      <p:sp>
        <p:nvSpPr>
          <p:cNvPr id="10" name="Shape 8"/>
          <p:cNvSpPr/>
          <p:nvPr/>
        </p:nvSpPr>
        <p:spPr>
          <a:xfrm>
            <a:off x="4773168" y="777240"/>
            <a:ext cx="4206240" cy="1051560"/>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11" name="Shape 9"/>
          <p:cNvSpPr/>
          <p:nvPr/>
        </p:nvSpPr>
        <p:spPr>
          <a:xfrm>
            <a:off x="4773168" y="777240"/>
            <a:ext cx="4206240" cy="73152"/>
          </a:xfrm>
          <a:prstGeom prst="rect">
            <a:avLst/>
          </a:prstGeom>
          <a:solidFill>
            <a:srgbClr val="52B788"/>
          </a:solidFill>
          <a:ln w="12700">
            <a:solidFill>
              <a:srgbClr val="52B788"/>
            </a:solidFill>
            <a:prstDash val="solid"/>
          </a:ln>
        </p:spPr>
        <p:txBody>
          <a:bodyPr/>
          <a:lstStyle/>
          <a:p>
            <a:endParaRPr lang="en-US"/>
          </a:p>
        </p:txBody>
      </p:sp>
      <p:sp>
        <p:nvSpPr>
          <p:cNvPr id="12" name="Text 10"/>
          <p:cNvSpPr/>
          <p:nvPr/>
        </p:nvSpPr>
        <p:spPr>
          <a:xfrm>
            <a:off x="4937760" y="886968"/>
            <a:ext cx="3977640" cy="237744"/>
          </a:xfrm>
          <a:prstGeom prst="rect">
            <a:avLst/>
          </a:prstGeom>
          <a:noFill/>
          <a:ln/>
        </p:spPr>
        <p:txBody>
          <a:bodyPr wrap="square" lIns="0" tIns="0" rIns="0" bIns="0" rtlCol="0" anchor="ctr"/>
          <a:lstStyle/>
          <a:p>
            <a:pPr marL="0" indent="0">
              <a:buNone/>
            </a:pPr>
            <a:r>
              <a:rPr lang="en-US" sz="1100" b="1" dirty="0">
                <a:solidFill>
                  <a:srgbClr val="1A4731"/>
                </a:solidFill>
                <a:latin typeface="Calibri" pitchFamily="34" charset="0"/>
                <a:ea typeface="Calibri" pitchFamily="34" charset="-122"/>
                <a:cs typeface="Calibri" pitchFamily="34" charset="-120"/>
              </a:rPr>
              <a:t>Remote Sensing</a:t>
            </a:r>
            <a:endParaRPr lang="en-US" sz="1100" dirty="0"/>
          </a:p>
        </p:txBody>
      </p:sp>
      <p:sp>
        <p:nvSpPr>
          <p:cNvPr id="13" name="Text 11"/>
          <p:cNvSpPr/>
          <p:nvPr/>
        </p:nvSpPr>
        <p:spPr>
          <a:xfrm>
            <a:off x="4937760" y="1143000"/>
            <a:ext cx="3977640" cy="56692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Satellites like Landsat provide consistent global observations since 1972. They detect spectral information beyond human vision – critical for vegetation and water mapping.</a:t>
            </a:r>
            <a:endParaRPr lang="en-US" sz="950" dirty="0"/>
          </a:p>
        </p:txBody>
      </p:sp>
      <p:sp>
        <p:nvSpPr>
          <p:cNvPr id="14" name="Shape 12"/>
          <p:cNvSpPr/>
          <p:nvPr/>
        </p:nvSpPr>
        <p:spPr>
          <a:xfrm>
            <a:off x="347472" y="2011680"/>
            <a:ext cx="4206240" cy="1051560"/>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15" name="Shape 13"/>
          <p:cNvSpPr/>
          <p:nvPr/>
        </p:nvSpPr>
        <p:spPr>
          <a:xfrm>
            <a:off x="347472" y="2011680"/>
            <a:ext cx="4206240" cy="73152"/>
          </a:xfrm>
          <a:prstGeom prst="rect">
            <a:avLst/>
          </a:prstGeom>
          <a:solidFill>
            <a:srgbClr val="52B788"/>
          </a:solidFill>
          <a:ln w="12700">
            <a:solidFill>
              <a:srgbClr val="52B788"/>
            </a:solidFill>
            <a:prstDash val="solid"/>
          </a:ln>
        </p:spPr>
        <p:txBody>
          <a:bodyPr/>
          <a:lstStyle/>
          <a:p>
            <a:endParaRPr lang="en-US"/>
          </a:p>
        </p:txBody>
      </p:sp>
      <p:sp>
        <p:nvSpPr>
          <p:cNvPr id="16" name="Text 14"/>
          <p:cNvSpPr/>
          <p:nvPr/>
        </p:nvSpPr>
        <p:spPr>
          <a:xfrm>
            <a:off x="512064" y="2121408"/>
            <a:ext cx="3977640" cy="237744"/>
          </a:xfrm>
          <a:prstGeom prst="rect">
            <a:avLst/>
          </a:prstGeom>
          <a:noFill/>
          <a:ln/>
        </p:spPr>
        <p:txBody>
          <a:bodyPr wrap="square" lIns="0" tIns="0" rIns="0" bIns="0" rtlCol="0" anchor="ctr"/>
          <a:lstStyle/>
          <a:p>
            <a:pPr marL="0" indent="0">
              <a:buNone/>
            </a:pPr>
            <a:r>
              <a:rPr lang="en-US" sz="1100" b="1" dirty="0">
                <a:solidFill>
                  <a:srgbClr val="1A4731"/>
                </a:solidFill>
                <a:latin typeface="Calibri" pitchFamily="34" charset="0"/>
                <a:ea typeface="Calibri" pitchFamily="34" charset="-122"/>
                <a:cs typeface="Calibri" pitchFamily="34" charset="-120"/>
              </a:rPr>
              <a:t>Spectral Indices</a:t>
            </a:r>
            <a:endParaRPr lang="en-US" sz="1100" dirty="0"/>
          </a:p>
        </p:txBody>
      </p:sp>
      <p:sp>
        <p:nvSpPr>
          <p:cNvPr id="17" name="Text 15"/>
          <p:cNvSpPr/>
          <p:nvPr/>
        </p:nvSpPr>
        <p:spPr>
          <a:xfrm>
            <a:off x="512064" y="2377440"/>
            <a:ext cx="3977640" cy="56692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Mathematical band combinations (NDVI, NDWI, NDBI, NBR, EVI) transform raw reflectance data into meaningful measurements of vegetation health, water, and built-up areas.</a:t>
            </a:r>
            <a:endParaRPr lang="en-US" sz="950" dirty="0"/>
          </a:p>
        </p:txBody>
      </p:sp>
      <p:sp>
        <p:nvSpPr>
          <p:cNvPr id="18" name="Shape 16"/>
          <p:cNvSpPr/>
          <p:nvPr/>
        </p:nvSpPr>
        <p:spPr>
          <a:xfrm>
            <a:off x="4773168" y="2011680"/>
            <a:ext cx="4206240" cy="1051560"/>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19" name="Shape 17"/>
          <p:cNvSpPr/>
          <p:nvPr/>
        </p:nvSpPr>
        <p:spPr>
          <a:xfrm>
            <a:off x="4773168" y="2011680"/>
            <a:ext cx="4206240" cy="73152"/>
          </a:xfrm>
          <a:prstGeom prst="rect">
            <a:avLst/>
          </a:prstGeom>
          <a:solidFill>
            <a:srgbClr val="52B788"/>
          </a:solidFill>
          <a:ln w="12700">
            <a:solidFill>
              <a:srgbClr val="52B788"/>
            </a:solidFill>
            <a:prstDash val="solid"/>
          </a:ln>
        </p:spPr>
        <p:txBody>
          <a:bodyPr/>
          <a:lstStyle/>
          <a:p>
            <a:endParaRPr lang="en-US"/>
          </a:p>
        </p:txBody>
      </p:sp>
      <p:sp>
        <p:nvSpPr>
          <p:cNvPr id="20" name="Text 18"/>
          <p:cNvSpPr/>
          <p:nvPr/>
        </p:nvSpPr>
        <p:spPr>
          <a:xfrm>
            <a:off x="4937760" y="2121408"/>
            <a:ext cx="3977640" cy="237744"/>
          </a:xfrm>
          <a:prstGeom prst="rect">
            <a:avLst/>
          </a:prstGeom>
          <a:noFill/>
          <a:ln/>
        </p:spPr>
        <p:txBody>
          <a:bodyPr wrap="square" lIns="0" tIns="0" rIns="0" bIns="0" rtlCol="0" anchor="ctr"/>
          <a:lstStyle/>
          <a:p>
            <a:pPr marL="0" indent="0">
              <a:buNone/>
            </a:pPr>
            <a:r>
              <a:rPr lang="en-US" sz="1100" b="1" dirty="0">
                <a:solidFill>
                  <a:srgbClr val="1A4731"/>
                </a:solidFill>
                <a:latin typeface="Calibri" pitchFamily="34" charset="0"/>
                <a:ea typeface="Calibri" pitchFamily="34" charset="-122"/>
                <a:cs typeface="Calibri" pitchFamily="34" charset="-120"/>
              </a:rPr>
              <a:t>Machine Learning Classification</a:t>
            </a:r>
            <a:endParaRPr lang="en-US" sz="1100" dirty="0"/>
          </a:p>
        </p:txBody>
      </p:sp>
      <p:sp>
        <p:nvSpPr>
          <p:cNvPr id="21" name="Text 19"/>
          <p:cNvSpPr/>
          <p:nvPr/>
        </p:nvSpPr>
        <p:spPr>
          <a:xfrm>
            <a:off x="4937760" y="2377440"/>
            <a:ext cx="3977640" cy="56692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Random Forest classifiers can map land cover from satellite features at scale, removing the need for expensive manual pixel labelling.</a:t>
            </a:r>
            <a:endParaRPr lang="en-US" sz="950" dirty="0"/>
          </a:p>
        </p:txBody>
      </p:sp>
      <p:sp>
        <p:nvSpPr>
          <p:cNvPr id="22" name="Shape 20"/>
          <p:cNvSpPr/>
          <p:nvPr/>
        </p:nvSpPr>
        <p:spPr>
          <a:xfrm>
            <a:off x="347472" y="3246120"/>
            <a:ext cx="8449056" cy="1005840"/>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23" name="Text 21"/>
          <p:cNvSpPr/>
          <p:nvPr/>
        </p:nvSpPr>
        <p:spPr>
          <a:xfrm>
            <a:off x="530352" y="3319272"/>
            <a:ext cx="8046720" cy="237744"/>
          </a:xfrm>
          <a:prstGeom prst="rect">
            <a:avLst/>
          </a:prstGeom>
          <a:noFill/>
          <a:ln/>
        </p:spPr>
        <p:txBody>
          <a:bodyPr wrap="square" lIns="0" tIns="0" rIns="0" bIns="0" rtlCol="0" anchor="ctr"/>
          <a:lstStyle/>
          <a:p>
            <a:pPr marL="0" indent="0">
              <a:buNone/>
            </a:pPr>
            <a:r>
              <a:rPr lang="en-US" sz="1100" b="1" dirty="0">
                <a:solidFill>
                  <a:srgbClr val="1A4731"/>
                </a:solidFill>
                <a:latin typeface="Calibri" pitchFamily="34" charset="0"/>
                <a:ea typeface="Calibri" pitchFamily="34" charset="-122"/>
                <a:cs typeface="Calibri" pitchFamily="34" charset="-120"/>
              </a:rPr>
              <a:t>Change Detection &amp; Forecasting</a:t>
            </a:r>
            <a:endParaRPr lang="en-US" sz="1100" dirty="0"/>
          </a:p>
        </p:txBody>
      </p:sp>
      <p:sp>
        <p:nvSpPr>
          <p:cNvPr id="24" name="Text 22"/>
          <p:cNvSpPr/>
          <p:nvPr/>
        </p:nvSpPr>
        <p:spPr>
          <a:xfrm>
            <a:off x="530352" y="3575304"/>
            <a:ext cx="8046720" cy="566928"/>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Comparing multi-temporal classified maps reveals how land has changed. Regression models allow us to project future vegetation trends – useful for environmental planning.</a:t>
            </a:r>
            <a:endParaRPr lang="en-US" sz="1000" dirty="0"/>
          </a:p>
        </p:txBody>
      </p:sp>
      <p:sp>
        <p:nvSpPr>
          <p:cNvPr id="25" name="Text 23"/>
          <p:cNvSpPr/>
          <p:nvPr/>
        </p:nvSpPr>
        <p:spPr>
          <a:xfrm>
            <a:off x="8686800" y="4800600"/>
            <a:ext cx="365760" cy="228600"/>
          </a:xfrm>
          <a:prstGeom prst="rect">
            <a:avLst/>
          </a:prstGeom>
          <a:noFill/>
          <a:ln/>
        </p:spPr>
        <p:txBody>
          <a:bodyPr wrap="square" rtlCol="0" anchor="ctr"/>
          <a:lstStyle/>
          <a:p>
            <a:pPr marL="0" indent="0" algn="ctr">
              <a:buNone/>
            </a:pPr>
            <a:r>
              <a:rPr lang="en-US" sz="900" dirty="0">
                <a:solidFill>
                  <a:srgbClr val="90A4AE"/>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4731"/>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2B788"/>
          </a:solidFill>
          <a:ln w="12700">
            <a:solidFill>
              <a:srgbClr val="52B788"/>
            </a:solidFill>
            <a:prstDash val="solid"/>
          </a:ln>
        </p:spPr>
        <p:txBody>
          <a:bodyPr/>
          <a:lstStyle/>
          <a:p>
            <a:endParaRPr lang="en-US"/>
          </a:p>
        </p:txBody>
      </p:sp>
      <p:sp>
        <p:nvSpPr>
          <p:cNvPr id="3" name="Text 1"/>
          <p:cNvSpPr/>
          <p:nvPr/>
        </p:nvSpPr>
        <p:spPr>
          <a:xfrm>
            <a:off x="457200" y="201168"/>
            <a:ext cx="8229600" cy="47548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03 Project Objectives</a:t>
            </a:r>
            <a:endParaRPr lang="en-US" sz="24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marL="0" indent="0" algn="l">
              <a:buNone/>
            </a:pPr>
            <a:r>
              <a:rPr lang="en-US" sz="1200" dirty="0">
                <a:solidFill>
                  <a:srgbClr val="52B788"/>
                </a:solidFill>
                <a:latin typeface="Calibri" pitchFamily="34" charset="0"/>
                <a:ea typeface="Calibri" pitchFamily="34" charset="-122"/>
                <a:cs typeface="Calibri" pitchFamily="34" charset="-120"/>
              </a:rPr>
              <a:t>What we set out to achieve</a:t>
            </a:r>
            <a:endParaRPr lang="en-US" sz="1200" dirty="0"/>
          </a:p>
        </p:txBody>
      </p:sp>
      <p:sp>
        <p:nvSpPr>
          <p:cNvPr id="5" name="Shape 3"/>
          <p:cNvSpPr/>
          <p:nvPr/>
        </p:nvSpPr>
        <p:spPr>
          <a:xfrm>
            <a:off x="411480" y="1097280"/>
            <a:ext cx="4160520" cy="1005840"/>
          </a:xfrm>
          <a:prstGeom prst="rect">
            <a:avLst/>
          </a:prstGeom>
          <a:solidFill>
            <a:srgbClr val="1E5C3A"/>
          </a:solidFill>
          <a:ln w="12700">
            <a:solidFill>
              <a:srgbClr val="2D7050"/>
            </a:solidFill>
            <a:prstDash val="solid"/>
          </a:ln>
        </p:spPr>
        <p:txBody>
          <a:bodyPr/>
          <a:lstStyle/>
          <a:p>
            <a:endParaRPr lang="en-US"/>
          </a:p>
        </p:txBody>
      </p:sp>
      <p:sp>
        <p:nvSpPr>
          <p:cNvPr id="6" name="Shape 4"/>
          <p:cNvSpPr/>
          <p:nvPr/>
        </p:nvSpPr>
        <p:spPr>
          <a:xfrm>
            <a:off x="548640" y="1353312"/>
            <a:ext cx="457200" cy="457200"/>
          </a:xfrm>
          <a:prstGeom prst="ellipse">
            <a:avLst/>
          </a:prstGeom>
          <a:solidFill>
            <a:srgbClr val="52B788"/>
          </a:solidFill>
          <a:ln w="12700">
            <a:solidFill>
              <a:srgbClr val="52B788"/>
            </a:solidFill>
            <a:prstDash val="solid"/>
          </a:ln>
        </p:spPr>
        <p:txBody>
          <a:bodyPr/>
          <a:lstStyle/>
          <a:p>
            <a:endParaRPr lang="en-US"/>
          </a:p>
        </p:txBody>
      </p:sp>
      <p:sp>
        <p:nvSpPr>
          <p:cNvPr id="7" name="Text 5"/>
          <p:cNvSpPr/>
          <p:nvPr/>
        </p:nvSpPr>
        <p:spPr>
          <a:xfrm>
            <a:off x="548640" y="1353312"/>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8" name="Text 6"/>
          <p:cNvSpPr/>
          <p:nvPr/>
        </p:nvSpPr>
        <p:spPr>
          <a:xfrm>
            <a:off x="1143000" y="1234440"/>
            <a:ext cx="3291840" cy="731520"/>
          </a:xfrm>
          <a:prstGeom prst="rect">
            <a:avLst/>
          </a:prstGeom>
          <a:noFill/>
          <a:ln/>
        </p:spPr>
        <p:txBody>
          <a:bodyPr wrap="square" lIns="0" tIns="0" rIns="0" bIns="0" rtlCol="0" anchor="ctr"/>
          <a:lstStyle/>
          <a:p>
            <a:pPr marL="0" indent="0">
              <a:buNone/>
            </a:pPr>
            <a:r>
              <a:rPr lang="en-US" sz="1050" dirty="0">
                <a:solidFill>
                  <a:srgbClr val="C8E6C9"/>
                </a:solidFill>
                <a:latin typeface="Calibri" pitchFamily="34" charset="0"/>
                <a:ea typeface="Calibri" pitchFamily="34" charset="-122"/>
                <a:cs typeface="Calibri" pitchFamily="34" charset="-120"/>
              </a:rPr>
              <a:t>Organise and preprocess multi-temporal Landsat imagery from 2016 to 2025</a:t>
            </a:r>
            <a:endParaRPr lang="en-US" sz="1050" dirty="0"/>
          </a:p>
        </p:txBody>
      </p:sp>
      <p:sp>
        <p:nvSpPr>
          <p:cNvPr id="9" name="Shape 7"/>
          <p:cNvSpPr/>
          <p:nvPr/>
        </p:nvSpPr>
        <p:spPr>
          <a:xfrm>
            <a:off x="411480" y="2331720"/>
            <a:ext cx="4160520" cy="1005840"/>
          </a:xfrm>
          <a:prstGeom prst="rect">
            <a:avLst/>
          </a:prstGeom>
          <a:solidFill>
            <a:srgbClr val="1E5C3A"/>
          </a:solidFill>
          <a:ln w="12700">
            <a:solidFill>
              <a:srgbClr val="2D7050"/>
            </a:solidFill>
            <a:prstDash val="solid"/>
          </a:ln>
        </p:spPr>
        <p:txBody>
          <a:bodyPr/>
          <a:lstStyle/>
          <a:p>
            <a:endParaRPr lang="en-US"/>
          </a:p>
        </p:txBody>
      </p:sp>
      <p:sp>
        <p:nvSpPr>
          <p:cNvPr id="10" name="Shape 8"/>
          <p:cNvSpPr/>
          <p:nvPr/>
        </p:nvSpPr>
        <p:spPr>
          <a:xfrm>
            <a:off x="548640" y="2587752"/>
            <a:ext cx="457200" cy="457200"/>
          </a:xfrm>
          <a:prstGeom prst="ellipse">
            <a:avLst/>
          </a:prstGeom>
          <a:solidFill>
            <a:srgbClr val="52B788"/>
          </a:solidFill>
          <a:ln w="12700">
            <a:solidFill>
              <a:srgbClr val="52B788"/>
            </a:solidFill>
            <a:prstDash val="solid"/>
          </a:ln>
        </p:spPr>
        <p:txBody>
          <a:bodyPr/>
          <a:lstStyle/>
          <a:p>
            <a:endParaRPr lang="en-US"/>
          </a:p>
        </p:txBody>
      </p:sp>
      <p:sp>
        <p:nvSpPr>
          <p:cNvPr id="11" name="Text 9"/>
          <p:cNvSpPr/>
          <p:nvPr/>
        </p:nvSpPr>
        <p:spPr>
          <a:xfrm>
            <a:off x="548640" y="2587752"/>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2" name="Text 10"/>
          <p:cNvSpPr/>
          <p:nvPr/>
        </p:nvSpPr>
        <p:spPr>
          <a:xfrm>
            <a:off x="1143000" y="2468880"/>
            <a:ext cx="3291840" cy="731520"/>
          </a:xfrm>
          <a:prstGeom prst="rect">
            <a:avLst/>
          </a:prstGeom>
          <a:noFill/>
          <a:ln/>
        </p:spPr>
        <p:txBody>
          <a:bodyPr wrap="square" lIns="0" tIns="0" rIns="0" bIns="0" rtlCol="0" anchor="ctr"/>
          <a:lstStyle/>
          <a:p>
            <a:pPr marL="0" indent="0">
              <a:buNone/>
            </a:pPr>
            <a:r>
              <a:rPr lang="en-US" sz="1050" dirty="0">
                <a:solidFill>
                  <a:srgbClr val="C8E6C9"/>
                </a:solidFill>
                <a:latin typeface="Calibri" pitchFamily="34" charset="0"/>
                <a:ea typeface="Calibri" pitchFamily="34" charset="-122"/>
                <a:cs typeface="Calibri" pitchFamily="34" charset="-120"/>
              </a:rPr>
              <a:t>Compute spectral indices (NDVI, NDWI, NDBI, NBR, EVI) per scene</a:t>
            </a:r>
            <a:endParaRPr lang="en-US" sz="1050" dirty="0"/>
          </a:p>
        </p:txBody>
      </p:sp>
      <p:sp>
        <p:nvSpPr>
          <p:cNvPr id="13" name="Shape 11"/>
          <p:cNvSpPr/>
          <p:nvPr/>
        </p:nvSpPr>
        <p:spPr>
          <a:xfrm>
            <a:off x="411480" y="3566160"/>
            <a:ext cx="4160520" cy="1005840"/>
          </a:xfrm>
          <a:prstGeom prst="rect">
            <a:avLst/>
          </a:prstGeom>
          <a:solidFill>
            <a:srgbClr val="1E5C3A"/>
          </a:solidFill>
          <a:ln w="12700">
            <a:solidFill>
              <a:srgbClr val="2D7050"/>
            </a:solidFill>
            <a:prstDash val="solid"/>
          </a:ln>
        </p:spPr>
        <p:txBody>
          <a:bodyPr/>
          <a:lstStyle/>
          <a:p>
            <a:endParaRPr lang="en-US"/>
          </a:p>
        </p:txBody>
      </p:sp>
      <p:sp>
        <p:nvSpPr>
          <p:cNvPr id="14" name="Shape 12"/>
          <p:cNvSpPr/>
          <p:nvPr/>
        </p:nvSpPr>
        <p:spPr>
          <a:xfrm>
            <a:off x="548640" y="3822192"/>
            <a:ext cx="457200" cy="457200"/>
          </a:xfrm>
          <a:prstGeom prst="ellipse">
            <a:avLst/>
          </a:prstGeom>
          <a:solidFill>
            <a:srgbClr val="52B788"/>
          </a:solidFill>
          <a:ln w="12700">
            <a:solidFill>
              <a:srgbClr val="52B788"/>
            </a:solidFill>
            <a:prstDash val="solid"/>
          </a:ln>
        </p:spPr>
        <p:txBody>
          <a:bodyPr/>
          <a:lstStyle/>
          <a:p>
            <a:endParaRPr lang="en-US"/>
          </a:p>
        </p:txBody>
      </p:sp>
      <p:sp>
        <p:nvSpPr>
          <p:cNvPr id="15" name="Text 13"/>
          <p:cNvSpPr/>
          <p:nvPr/>
        </p:nvSpPr>
        <p:spPr>
          <a:xfrm>
            <a:off x="548640" y="3822192"/>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6" name="Text 14"/>
          <p:cNvSpPr/>
          <p:nvPr/>
        </p:nvSpPr>
        <p:spPr>
          <a:xfrm>
            <a:off x="1143000" y="3703320"/>
            <a:ext cx="3291840" cy="731520"/>
          </a:xfrm>
          <a:prstGeom prst="rect">
            <a:avLst/>
          </a:prstGeom>
          <a:noFill/>
          <a:ln/>
        </p:spPr>
        <p:txBody>
          <a:bodyPr wrap="square" lIns="0" tIns="0" rIns="0" bIns="0" rtlCol="0" anchor="ctr"/>
          <a:lstStyle/>
          <a:p>
            <a:pPr marL="0" indent="0">
              <a:buNone/>
            </a:pPr>
            <a:r>
              <a:rPr lang="en-US" sz="1050" dirty="0">
                <a:solidFill>
                  <a:srgbClr val="C8E6C9"/>
                </a:solidFill>
                <a:latin typeface="Calibri" pitchFamily="34" charset="0"/>
                <a:ea typeface="Calibri" pitchFamily="34" charset="-122"/>
                <a:cs typeface="Calibri" pitchFamily="34" charset="-120"/>
              </a:rPr>
              <a:t>Classify land cover using Random Forest (Water, Vegetation, Bare Soil, Built-Up)</a:t>
            </a:r>
            <a:endParaRPr lang="en-US" sz="1050" dirty="0"/>
          </a:p>
        </p:txBody>
      </p:sp>
      <p:sp>
        <p:nvSpPr>
          <p:cNvPr id="17" name="Shape 15"/>
          <p:cNvSpPr/>
          <p:nvPr/>
        </p:nvSpPr>
        <p:spPr>
          <a:xfrm>
            <a:off x="4800600" y="1097280"/>
            <a:ext cx="4160520" cy="1005840"/>
          </a:xfrm>
          <a:prstGeom prst="rect">
            <a:avLst/>
          </a:prstGeom>
          <a:solidFill>
            <a:srgbClr val="1E5C3A"/>
          </a:solidFill>
          <a:ln w="12700">
            <a:solidFill>
              <a:srgbClr val="2D7050"/>
            </a:solidFill>
            <a:prstDash val="solid"/>
          </a:ln>
        </p:spPr>
        <p:txBody>
          <a:bodyPr/>
          <a:lstStyle/>
          <a:p>
            <a:endParaRPr lang="en-US"/>
          </a:p>
        </p:txBody>
      </p:sp>
      <p:sp>
        <p:nvSpPr>
          <p:cNvPr id="18" name="Shape 16"/>
          <p:cNvSpPr/>
          <p:nvPr/>
        </p:nvSpPr>
        <p:spPr>
          <a:xfrm>
            <a:off x="4937760" y="1353312"/>
            <a:ext cx="457200" cy="457200"/>
          </a:xfrm>
          <a:prstGeom prst="ellipse">
            <a:avLst/>
          </a:prstGeom>
          <a:solidFill>
            <a:srgbClr val="52B788"/>
          </a:solidFill>
          <a:ln w="12700">
            <a:solidFill>
              <a:srgbClr val="52B788"/>
            </a:solidFill>
            <a:prstDash val="solid"/>
          </a:ln>
        </p:spPr>
        <p:txBody>
          <a:bodyPr/>
          <a:lstStyle/>
          <a:p>
            <a:endParaRPr lang="en-US"/>
          </a:p>
        </p:txBody>
      </p:sp>
      <p:sp>
        <p:nvSpPr>
          <p:cNvPr id="19" name="Text 17"/>
          <p:cNvSpPr/>
          <p:nvPr/>
        </p:nvSpPr>
        <p:spPr>
          <a:xfrm>
            <a:off x="4937760" y="1353312"/>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0" name="Text 18"/>
          <p:cNvSpPr/>
          <p:nvPr/>
        </p:nvSpPr>
        <p:spPr>
          <a:xfrm>
            <a:off x="5532120" y="1234440"/>
            <a:ext cx="3291840" cy="731520"/>
          </a:xfrm>
          <a:prstGeom prst="rect">
            <a:avLst/>
          </a:prstGeom>
          <a:noFill/>
          <a:ln/>
        </p:spPr>
        <p:txBody>
          <a:bodyPr wrap="square" lIns="0" tIns="0" rIns="0" bIns="0" rtlCol="0" anchor="ctr"/>
          <a:lstStyle/>
          <a:p>
            <a:pPr marL="0" indent="0">
              <a:buNone/>
            </a:pPr>
            <a:r>
              <a:rPr lang="en-US" sz="1050" dirty="0">
                <a:solidFill>
                  <a:srgbClr val="C8E6C9"/>
                </a:solidFill>
                <a:latin typeface="Calibri" pitchFamily="34" charset="0"/>
                <a:ea typeface="Calibri" pitchFamily="34" charset="-122"/>
                <a:cs typeface="Calibri" pitchFamily="34" charset="-120"/>
              </a:rPr>
              <a:t>Detect land cover and vegetation changes across the study period</a:t>
            </a:r>
            <a:endParaRPr lang="en-US" sz="1050" dirty="0"/>
          </a:p>
        </p:txBody>
      </p:sp>
      <p:sp>
        <p:nvSpPr>
          <p:cNvPr id="21" name="Shape 19"/>
          <p:cNvSpPr/>
          <p:nvPr/>
        </p:nvSpPr>
        <p:spPr>
          <a:xfrm>
            <a:off x="4800600" y="2331720"/>
            <a:ext cx="4160520" cy="1005840"/>
          </a:xfrm>
          <a:prstGeom prst="rect">
            <a:avLst/>
          </a:prstGeom>
          <a:solidFill>
            <a:srgbClr val="1E5C3A"/>
          </a:solidFill>
          <a:ln w="12700">
            <a:solidFill>
              <a:srgbClr val="2D7050"/>
            </a:solidFill>
            <a:prstDash val="solid"/>
          </a:ln>
        </p:spPr>
        <p:txBody>
          <a:bodyPr/>
          <a:lstStyle/>
          <a:p>
            <a:endParaRPr lang="en-US"/>
          </a:p>
        </p:txBody>
      </p:sp>
      <p:sp>
        <p:nvSpPr>
          <p:cNvPr id="22" name="Shape 20"/>
          <p:cNvSpPr/>
          <p:nvPr/>
        </p:nvSpPr>
        <p:spPr>
          <a:xfrm>
            <a:off x="4937760" y="2587752"/>
            <a:ext cx="457200" cy="457200"/>
          </a:xfrm>
          <a:prstGeom prst="ellipse">
            <a:avLst/>
          </a:prstGeom>
          <a:solidFill>
            <a:srgbClr val="52B788"/>
          </a:solidFill>
          <a:ln w="12700">
            <a:solidFill>
              <a:srgbClr val="52B788"/>
            </a:solidFill>
            <a:prstDash val="solid"/>
          </a:ln>
        </p:spPr>
        <p:txBody>
          <a:bodyPr/>
          <a:lstStyle/>
          <a:p>
            <a:endParaRPr lang="en-US"/>
          </a:p>
        </p:txBody>
      </p:sp>
      <p:sp>
        <p:nvSpPr>
          <p:cNvPr id="23" name="Text 21"/>
          <p:cNvSpPr/>
          <p:nvPr/>
        </p:nvSpPr>
        <p:spPr>
          <a:xfrm>
            <a:off x="4937760" y="2587752"/>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4" name="Text 22"/>
          <p:cNvSpPr/>
          <p:nvPr/>
        </p:nvSpPr>
        <p:spPr>
          <a:xfrm>
            <a:off x="5532120" y="2468880"/>
            <a:ext cx="3291840" cy="731520"/>
          </a:xfrm>
          <a:prstGeom prst="rect">
            <a:avLst/>
          </a:prstGeom>
          <a:noFill/>
          <a:ln/>
        </p:spPr>
        <p:txBody>
          <a:bodyPr wrap="square" lIns="0" tIns="0" rIns="0" bIns="0" rtlCol="0" anchor="ctr"/>
          <a:lstStyle/>
          <a:p>
            <a:pPr marL="0" indent="0">
              <a:buNone/>
            </a:pPr>
            <a:r>
              <a:rPr lang="en-US" sz="1050" dirty="0">
                <a:solidFill>
                  <a:srgbClr val="C8E6C9"/>
                </a:solidFill>
                <a:latin typeface="Calibri" pitchFamily="34" charset="0"/>
                <a:ea typeface="Calibri" pitchFamily="34" charset="-122"/>
                <a:cs typeface="Calibri" pitchFamily="34" charset="-120"/>
              </a:rPr>
              <a:t>Forecast future NDVI trends using Linear, Polynomial, and Gradient Boosting regression</a:t>
            </a:r>
            <a:endParaRPr lang="en-US" sz="1050" dirty="0"/>
          </a:p>
        </p:txBody>
      </p:sp>
      <p:sp>
        <p:nvSpPr>
          <p:cNvPr id="25" name="Shape 23"/>
          <p:cNvSpPr/>
          <p:nvPr/>
        </p:nvSpPr>
        <p:spPr>
          <a:xfrm>
            <a:off x="4800600" y="3566160"/>
            <a:ext cx="4160520" cy="1005840"/>
          </a:xfrm>
          <a:prstGeom prst="rect">
            <a:avLst/>
          </a:prstGeom>
          <a:solidFill>
            <a:srgbClr val="1E5C3A"/>
          </a:solidFill>
          <a:ln w="12700">
            <a:solidFill>
              <a:srgbClr val="2D7050"/>
            </a:solidFill>
            <a:prstDash val="solid"/>
          </a:ln>
        </p:spPr>
        <p:txBody>
          <a:bodyPr/>
          <a:lstStyle/>
          <a:p>
            <a:endParaRPr lang="en-US"/>
          </a:p>
        </p:txBody>
      </p:sp>
      <p:sp>
        <p:nvSpPr>
          <p:cNvPr id="26" name="Shape 24"/>
          <p:cNvSpPr/>
          <p:nvPr/>
        </p:nvSpPr>
        <p:spPr>
          <a:xfrm>
            <a:off x="4937760" y="3822192"/>
            <a:ext cx="457200" cy="457200"/>
          </a:xfrm>
          <a:prstGeom prst="ellipse">
            <a:avLst/>
          </a:prstGeom>
          <a:solidFill>
            <a:srgbClr val="52B788"/>
          </a:solidFill>
          <a:ln w="12700">
            <a:solidFill>
              <a:srgbClr val="52B788"/>
            </a:solidFill>
            <a:prstDash val="solid"/>
          </a:ln>
        </p:spPr>
        <p:txBody>
          <a:bodyPr/>
          <a:lstStyle/>
          <a:p>
            <a:endParaRPr lang="en-US"/>
          </a:p>
        </p:txBody>
      </p:sp>
      <p:sp>
        <p:nvSpPr>
          <p:cNvPr id="27" name="Text 25"/>
          <p:cNvSpPr/>
          <p:nvPr/>
        </p:nvSpPr>
        <p:spPr>
          <a:xfrm>
            <a:off x="4937760" y="3822192"/>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28" name="Text 26"/>
          <p:cNvSpPr/>
          <p:nvPr/>
        </p:nvSpPr>
        <p:spPr>
          <a:xfrm>
            <a:off x="5532120" y="3703320"/>
            <a:ext cx="3291840" cy="731520"/>
          </a:xfrm>
          <a:prstGeom prst="rect">
            <a:avLst/>
          </a:prstGeom>
          <a:noFill/>
          <a:ln/>
        </p:spPr>
        <p:txBody>
          <a:bodyPr wrap="square" lIns="0" tIns="0" rIns="0" bIns="0" rtlCol="0" anchor="ctr"/>
          <a:lstStyle/>
          <a:p>
            <a:pPr marL="0" indent="0">
              <a:buNone/>
            </a:pPr>
            <a:r>
              <a:rPr lang="en-US" sz="1050" dirty="0">
                <a:solidFill>
                  <a:srgbClr val="C8E6C9"/>
                </a:solidFill>
                <a:latin typeface="Calibri" pitchFamily="34" charset="0"/>
                <a:ea typeface="Calibri" pitchFamily="34" charset="-122"/>
                <a:cs typeface="Calibri" pitchFamily="34" charset="-120"/>
              </a:rPr>
              <a:t>Provide meaningful environmental insights for the Kalpitiya Peninsula</a:t>
            </a:r>
            <a:endParaRPr lang="en-US" sz="1050" dirty="0"/>
          </a:p>
        </p:txBody>
      </p:sp>
      <p:sp>
        <p:nvSpPr>
          <p:cNvPr id="29" name="Text 27"/>
          <p:cNvSpPr/>
          <p:nvPr/>
        </p:nvSpPr>
        <p:spPr>
          <a:xfrm>
            <a:off x="8686800" y="4800600"/>
            <a:ext cx="365760" cy="228600"/>
          </a:xfrm>
          <a:prstGeom prst="rect">
            <a:avLst/>
          </a:prstGeom>
          <a:noFill/>
          <a:ln/>
        </p:spPr>
        <p:txBody>
          <a:bodyPr wrap="square" rtlCol="0" anchor="ctr"/>
          <a:lstStyle/>
          <a:p>
            <a:pPr marL="0" indent="0" algn="ctr">
              <a:buNone/>
            </a:pPr>
            <a:r>
              <a:rPr lang="en-US" sz="900" dirty="0">
                <a:solidFill>
                  <a:srgbClr val="90A4AE"/>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2B788"/>
          </a:solidFill>
          <a:ln w="12700">
            <a:solidFill>
              <a:srgbClr val="52B788"/>
            </a:solidFill>
            <a:prstDash val="solid"/>
          </a:ln>
        </p:spPr>
        <p:txBody>
          <a:bodyPr/>
          <a:lstStyle/>
          <a:p>
            <a:endParaRPr lang="en-US"/>
          </a:p>
        </p:txBody>
      </p:sp>
      <p:sp>
        <p:nvSpPr>
          <p:cNvPr id="4" name="Text 2"/>
          <p:cNvSpPr/>
          <p:nvPr/>
        </p:nvSpPr>
        <p:spPr>
          <a:xfrm>
            <a:off x="411480" y="128016"/>
            <a:ext cx="109728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MEMBER 2</a:t>
            </a:r>
            <a:endParaRPr lang="en-US" sz="900" dirty="0"/>
          </a:p>
        </p:txBody>
      </p:sp>
      <p:sp>
        <p:nvSpPr>
          <p:cNvPr id="5" name="Text 3"/>
          <p:cNvSpPr/>
          <p:nvPr/>
        </p:nvSpPr>
        <p:spPr>
          <a:xfrm>
            <a:off x="411480" y="128016"/>
            <a:ext cx="8321040" cy="475488"/>
          </a:xfrm>
          <a:prstGeom prst="rect">
            <a:avLst/>
          </a:prstGeom>
          <a:noFill/>
          <a:ln/>
        </p:spPr>
        <p:txBody>
          <a:bodyPr wrap="square" lIns="0" tIns="0" rIns="0" bIns="0" rtlCol="0" anchor="ctr"/>
          <a:lstStyle/>
          <a:p>
            <a:pPr marL="0" indent="0" algn="l">
              <a:buNone/>
            </a:pPr>
            <a:r>
              <a:rPr lang="en-US" sz="2200" b="1" dirty="0">
                <a:solidFill>
                  <a:srgbClr val="1A4731"/>
                </a:solidFill>
                <a:latin typeface="Calibri" pitchFamily="34" charset="0"/>
                <a:ea typeface="Calibri" pitchFamily="34" charset="-122"/>
                <a:cs typeface="Calibri" pitchFamily="34" charset="-120"/>
              </a:rPr>
              <a:t>04 Dataset Description</a:t>
            </a:r>
            <a:endParaRPr lang="en-US" sz="2200" dirty="0"/>
          </a:p>
        </p:txBody>
      </p:sp>
      <p:pic>
        <p:nvPicPr>
          <p:cNvPr id="6" name="Image 0" descr="preencoded.png"/>
          <p:cNvPicPr>
            <a:picLocks noChangeAspect="1"/>
          </p:cNvPicPr>
          <p:nvPr/>
        </p:nvPicPr>
        <p:blipFill>
          <a:blip r:embed="rId3"/>
          <a:srcRect/>
          <a:stretch/>
        </p:blipFill>
        <p:spPr>
          <a:xfrm>
            <a:off x="411480" y="777240"/>
            <a:ext cx="8321040" cy="1316736"/>
          </a:xfrm>
          <a:prstGeom prst="rect">
            <a:avLst/>
          </a:prstGeom>
        </p:spPr>
      </p:pic>
      <p:sp>
        <p:nvSpPr>
          <p:cNvPr id="7" name="Text 4"/>
          <p:cNvSpPr/>
          <p:nvPr/>
        </p:nvSpPr>
        <p:spPr>
          <a:xfrm>
            <a:off x="411480" y="2121408"/>
            <a:ext cx="8321040" cy="182880"/>
          </a:xfrm>
          <a:prstGeom prst="rect">
            <a:avLst/>
          </a:prstGeom>
          <a:noFill/>
          <a:ln/>
        </p:spPr>
        <p:txBody>
          <a:bodyPr wrap="square" rtlCol="0" anchor="ctr"/>
          <a:lstStyle/>
          <a:p>
            <a:pPr marL="0" indent="0" algn="ctr">
              <a:buNone/>
            </a:pPr>
            <a:r>
              <a:rPr lang="en-US" sz="850" i="1" dirty="0">
                <a:solidFill>
                  <a:srgbClr val="90A4AE"/>
                </a:solidFill>
                <a:latin typeface="Calibri" pitchFamily="34" charset="0"/>
                <a:ea typeface="Calibri" pitchFamily="34" charset="-122"/>
                <a:cs typeface="Calibri" pitchFamily="34" charset="-120"/>
              </a:rPr>
              <a:t>Figure 1 – Acquisition timeline: 20 Landsat scenes (teal = Landsat 8, crimson = Landsat 9)</a:t>
            </a:r>
            <a:endParaRPr lang="en-US" sz="850" dirty="0"/>
          </a:p>
        </p:txBody>
      </p:sp>
      <p:sp>
        <p:nvSpPr>
          <p:cNvPr id="8" name="Shape 5"/>
          <p:cNvSpPr/>
          <p:nvPr/>
        </p:nvSpPr>
        <p:spPr>
          <a:xfrm>
            <a:off x="347472" y="2395728"/>
            <a:ext cx="1645920" cy="1124712"/>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9" name="Shape 6"/>
          <p:cNvSpPr/>
          <p:nvPr/>
        </p:nvSpPr>
        <p:spPr>
          <a:xfrm>
            <a:off x="347472" y="2395728"/>
            <a:ext cx="1645920" cy="73152"/>
          </a:xfrm>
          <a:prstGeom prst="rect">
            <a:avLst/>
          </a:prstGeom>
          <a:solidFill>
            <a:srgbClr val="D4A017"/>
          </a:solidFill>
          <a:ln w="12700">
            <a:solidFill>
              <a:srgbClr val="D4A017"/>
            </a:solidFill>
            <a:prstDash val="solid"/>
          </a:ln>
        </p:spPr>
        <p:txBody>
          <a:bodyPr/>
          <a:lstStyle/>
          <a:p>
            <a:endParaRPr lang="en-US"/>
          </a:p>
        </p:txBody>
      </p:sp>
      <p:sp>
        <p:nvSpPr>
          <p:cNvPr id="10" name="Text 7"/>
          <p:cNvSpPr/>
          <p:nvPr/>
        </p:nvSpPr>
        <p:spPr>
          <a:xfrm>
            <a:off x="457200" y="2514600"/>
            <a:ext cx="1426464" cy="256032"/>
          </a:xfrm>
          <a:prstGeom prst="rect">
            <a:avLst/>
          </a:prstGeom>
          <a:noFill/>
          <a:ln/>
        </p:spPr>
        <p:txBody>
          <a:bodyPr wrap="square" lIns="0" tIns="0" rIns="0" bIns="0" rtlCol="0" anchor="ctr"/>
          <a:lstStyle/>
          <a:p>
            <a:pPr marL="0" indent="0">
              <a:buNone/>
            </a:pPr>
            <a:r>
              <a:rPr lang="en-US" sz="1000" b="1" dirty="0">
                <a:solidFill>
                  <a:srgbClr val="1A4731"/>
                </a:solidFill>
                <a:latin typeface="Calibri" pitchFamily="34" charset="0"/>
                <a:ea typeface="Calibri" pitchFamily="34" charset="-122"/>
                <a:cs typeface="Calibri" pitchFamily="34" charset="-120"/>
              </a:rPr>
              <a:t>Sensor</a:t>
            </a:r>
            <a:endParaRPr lang="en-US" sz="1000" dirty="0"/>
          </a:p>
        </p:txBody>
      </p:sp>
      <p:sp>
        <p:nvSpPr>
          <p:cNvPr id="11" name="Text 8"/>
          <p:cNvSpPr/>
          <p:nvPr/>
        </p:nvSpPr>
        <p:spPr>
          <a:xfrm>
            <a:off x="457200" y="2798064"/>
            <a:ext cx="1426464" cy="82296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Landsat 8 &amp; 9</a:t>
            </a:r>
            <a:endParaRPr lang="en-US" sz="1000" dirty="0"/>
          </a:p>
          <a:p>
            <a:pPr marL="0" indent="0">
              <a:buNone/>
            </a:pPr>
            <a:r>
              <a:rPr lang="en-US" sz="1000" dirty="0">
                <a:solidFill>
                  <a:srgbClr val="4A5568"/>
                </a:solidFill>
                <a:latin typeface="Calibri" pitchFamily="34" charset="0"/>
                <a:ea typeface="Calibri" pitchFamily="34" charset="-122"/>
                <a:cs typeface="Calibri" pitchFamily="34" charset="-120"/>
              </a:rPr>
              <a:t>(OLI-TIRS)</a:t>
            </a:r>
            <a:endParaRPr lang="en-US" sz="1000" dirty="0"/>
          </a:p>
        </p:txBody>
      </p:sp>
      <p:sp>
        <p:nvSpPr>
          <p:cNvPr id="12" name="Shape 9"/>
          <p:cNvSpPr/>
          <p:nvPr/>
        </p:nvSpPr>
        <p:spPr>
          <a:xfrm>
            <a:off x="2103120" y="2395728"/>
            <a:ext cx="1645920" cy="1124712"/>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13" name="Shape 10"/>
          <p:cNvSpPr/>
          <p:nvPr/>
        </p:nvSpPr>
        <p:spPr>
          <a:xfrm>
            <a:off x="2103120" y="2395728"/>
            <a:ext cx="1645920" cy="73152"/>
          </a:xfrm>
          <a:prstGeom prst="rect">
            <a:avLst/>
          </a:prstGeom>
          <a:solidFill>
            <a:srgbClr val="D4A017"/>
          </a:solidFill>
          <a:ln w="12700">
            <a:solidFill>
              <a:srgbClr val="D4A017"/>
            </a:solidFill>
            <a:prstDash val="solid"/>
          </a:ln>
        </p:spPr>
        <p:txBody>
          <a:bodyPr/>
          <a:lstStyle/>
          <a:p>
            <a:endParaRPr lang="en-US"/>
          </a:p>
        </p:txBody>
      </p:sp>
      <p:sp>
        <p:nvSpPr>
          <p:cNvPr id="14" name="Text 11"/>
          <p:cNvSpPr/>
          <p:nvPr/>
        </p:nvSpPr>
        <p:spPr>
          <a:xfrm>
            <a:off x="2212848" y="2514600"/>
            <a:ext cx="1426464" cy="256032"/>
          </a:xfrm>
          <a:prstGeom prst="rect">
            <a:avLst/>
          </a:prstGeom>
          <a:noFill/>
          <a:ln/>
        </p:spPr>
        <p:txBody>
          <a:bodyPr wrap="square" lIns="0" tIns="0" rIns="0" bIns="0" rtlCol="0" anchor="ctr"/>
          <a:lstStyle/>
          <a:p>
            <a:pPr marL="0" indent="0">
              <a:buNone/>
            </a:pPr>
            <a:r>
              <a:rPr lang="en-US" sz="1000" b="1" dirty="0">
                <a:solidFill>
                  <a:srgbClr val="1A4731"/>
                </a:solidFill>
                <a:latin typeface="Calibri" pitchFamily="34" charset="0"/>
                <a:ea typeface="Calibri" pitchFamily="34" charset="-122"/>
                <a:cs typeface="Calibri" pitchFamily="34" charset="-120"/>
              </a:rPr>
              <a:t>Period</a:t>
            </a:r>
            <a:endParaRPr lang="en-US" sz="1000" dirty="0"/>
          </a:p>
        </p:txBody>
      </p:sp>
      <p:sp>
        <p:nvSpPr>
          <p:cNvPr id="15" name="Text 12"/>
          <p:cNvSpPr/>
          <p:nvPr/>
        </p:nvSpPr>
        <p:spPr>
          <a:xfrm>
            <a:off x="2212848" y="2798064"/>
            <a:ext cx="1426464" cy="82296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Feb 2016 –</a:t>
            </a:r>
            <a:endParaRPr lang="en-US" sz="1000" dirty="0"/>
          </a:p>
          <a:p>
            <a:pPr marL="0" indent="0">
              <a:buNone/>
            </a:pPr>
            <a:r>
              <a:rPr lang="en-US" sz="1000" dirty="0">
                <a:solidFill>
                  <a:srgbClr val="4A5568"/>
                </a:solidFill>
                <a:latin typeface="Calibri" pitchFamily="34" charset="0"/>
                <a:ea typeface="Calibri" pitchFamily="34" charset="-122"/>
                <a:cs typeface="Calibri" pitchFamily="34" charset="-120"/>
              </a:rPr>
              <a:t>Mar 2025</a:t>
            </a:r>
            <a:endParaRPr lang="en-US" sz="1000" dirty="0"/>
          </a:p>
        </p:txBody>
      </p:sp>
      <p:sp>
        <p:nvSpPr>
          <p:cNvPr id="16" name="Shape 13"/>
          <p:cNvSpPr/>
          <p:nvPr/>
        </p:nvSpPr>
        <p:spPr>
          <a:xfrm>
            <a:off x="3858768" y="2395728"/>
            <a:ext cx="1645920" cy="1124712"/>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17" name="Shape 14"/>
          <p:cNvSpPr/>
          <p:nvPr/>
        </p:nvSpPr>
        <p:spPr>
          <a:xfrm>
            <a:off x="3858768" y="2395728"/>
            <a:ext cx="1645920" cy="73152"/>
          </a:xfrm>
          <a:prstGeom prst="rect">
            <a:avLst/>
          </a:prstGeom>
          <a:solidFill>
            <a:srgbClr val="D4A017"/>
          </a:solidFill>
          <a:ln w="12700">
            <a:solidFill>
              <a:srgbClr val="D4A017"/>
            </a:solidFill>
            <a:prstDash val="solid"/>
          </a:ln>
        </p:spPr>
        <p:txBody>
          <a:bodyPr/>
          <a:lstStyle/>
          <a:p>
            <a:endParaRPr lang="en-US"/>
          </a:p>
        </p:txBody>
      </p:sp>
      <p:sp>
        <p:nvSpPr>
          <p:cNvPr id="18" name="Text 15"/>
          <p:cNvSpPr/>
          <p:nvPr/>
        </p:nvSpPr>
        <p:spPr>
          <a:xfrm>
            <a:off x="3968496" y="2514600"/>
            <a:ext cx="1426464" cy="256032"/>
          </a:xfrm>
          <a:prstGeom prst="rect">
            <a:avLst/>
          </a:prstGeom>
          <a:noFill/>
          <a:ln/>
        </p:spPr>
        <p:txBody>
          <a:bodyPr wrap="square" lIns="0" tIns="0" rIns="0" bIns="0" rtlCol="0" anchor="ctr"/>
          <a:lstStyle/>
          <a:p>
            <a:pPr marL="0" indent="0">
              <a:buNone/>
            </a:pPr>
            <a:r>
              <a:rPr lang="en-US" sz="1000" b="1" dirty="0">
                <a:solidFill>
                  <a:srgbClr val="1A4731"/>
                </a:solidFill>
                <a:latin typeface="Calibri" pitchFamily="34" charset="0"/>
                <a:ea typeface="Calibri" pitchFamily="34" charset="-122"/>
                <a:cs typeface="Calibri" pitchFamily="34" charset="-120"/>
              </a:rPr>
              <a:t>Scenes</a:t>
            </a:r>
            <a:endParaRPr lang="en-US" sz="1000" dirty="0"/>
          </a:p>
        </p:txBody>
      </p:sp>
      <p:sp>
        <p:nvSpPr>
          <p:cNvPr id="19" name="Text 16"/>
          <p:cNvSpPr/>
          <p:nvPr/>
        </p:nvSpPr>
        <p:spPr>
          <a:xfrm>
            <a:off x="3968496" y="2798064"/>
            <a:ext cx="1426464" cy="82296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20 scenes</a:t>
            </a:r>
            <a:endParaRPr lang="en-US" sz="1000" dirty="0"/>
          </a:p>
          <a:p>
            <a:pPr marL="0" indent="0">
              <a:buNone/>
            </a:pPr>
            <a:r>
              <a:rPr lang="en-US" sz="1000" dirty="0">
                <a:solidFill>
                  <a:srgbClr val="4A5568"/>
                </a:solidFill>
                <a:latin typeface="Calibri" pitchFamily="34" charset="0"/>
                <a:ea typeface="Calibri" pitchFamily="34" charset="-122"/>
                <a:cs typeface="Calibri" pitchFamily="34" charset="-120"/>
              </a:rPr>
              <a:t>(Feb &amp; Mar dry season)</a:t>
            </a:r>
            <a:endParaRPr lang="en-US" sz="1000" dirty="0"/>
          </a:p>
        </p:txBody>
      </p:sp>
      <p:sp>
        <p:nvSpPr>
          <p:cNvPr id="20" name="Shape 17"/>
          <p:cNvSpPr/>
          <p:nvPr/>
        </p:nvSpPr>
        <p:spPr>
          <a:xfrm>
            <a:off x="5614416" y="2395728"/>
            <a:ext cx="1645920" cy="1124712"/>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21" name="Shape 18"/>
          <p:cNvSpPr/>
          <p:nvPr/>
        </p:nvSpPr>
        <p:spPr>
          <a:xfrm>
            <a:off x="5614416" y="2395728"/>
            <a:ext cx="1645920" cy="73152"/>
          </a:xfrm>
          <a:prstGeom prst="rect">
            <a:avLst/>
          </a:prstGeom>
          <a:solidFill>
            <a:srgbClr val="D4A017"/>
          </a:solidFill>
          <a:ln w="12700">
            <a:solidFill>
              <a:srgbClr val="D4A017"/>
            </a:solidFill>
            <a:prstDash val="solid"/>
          </a:ln>
        </p:spPr>
        <p:txBody>
          <a:bodyPr/>
          <a:lstStyle/>
          <a:p>
            <a:endParaRPr lang="en-US"/>
          </a:p>
        </p:txBody>
      </p:sp>
      <p:sp>
        <p:nvSpPr>
          <p:cNvPr id="22" name="Text 19"/>
          <p:cNvSpPr/>
          <p:nvPr/>
        </p:nvSpPr>
        <p:spPr>
          <a:xfrm>
            <a:off x="5724144" y="2514600"/>
            <a:ext cx="1426464" cy="256032"/>
          </a:xfrm>
          <a:prstGeom prst="rect">
            <a:avLst/>
          </a:prstGeom>
          <a:noFill/>
          <a:ln/>
        </p:spPr>
        <p:txBody>
          <a:bodyPr wrap="square" lIns="0" tIns="0" rIns="0" bIns="0" rtlCol="0" anchor="ctr"/>
          <a:lstStyle/>
          <a:p>
            <a:pPr marL="0" indent="0">
              <a:buNone/>
            </a:pPr>
            <a:r>
              <a:rPr lang="en-US" sz="1000" b="1" dirty="0">
                <a:solidFill>
                  <a:srgbClr val="1A4731"/>
                </a:solidFill>
                <a:latin typeface="Calibri" pitchFamily="34" charset="0"/>
                <a:ea typeface="Calibri" pitchFamily="34" charset="-122"/>
                <a:cs typeface="Calibri" pitchFamily="34" charset="-120"/>
              </a:rPr>
              <a:t>Resolution</a:t>
            </a:r>
            <a:endParaRPr lang="en-US" sz="1000" dirty="0"/>
          </a:p>
        </p:txBody>
      </p:sp>
      <p:sp>
        <p:nvSpPr>
          <p:cNvPr id="23" name="Text 20"/>
          <p:cNvSpPr/>
          <p:nvPr/>
        </p:nvSpPr>
        <p:spPr>
          <a:xfrm>
            <a:off x="5724144" y="2798064"/>
            <a:ext cx="1426464" cy="82296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30 m native</a:t>
            </a:r>
            <a:endParaRPr lang="en-US" sz="1000" dirty="0"/>
          </a:p>
          <a:p>
            <a:pPr marL="0" indent="0">
              <a:buNone/>
            </a:pPr>
            <a:r>
              <a:rPr lang="en-US" sz="1000" dirty="0">
                <a:solidFill>
                  <a:srgbClr val="4A5568"/>
                </a:solidFill>
                <a:latin typeface="Calibri" pitchFamily="34" charset="0"/>
                <a:ea typeface="Calibri" pitchFamily="34" charset="-122"/>
                <a:cs typeface="Calibri" pitchFamily="34" charset="-120"/>
              </a:rPr>
              <a:t>(60 m after downsampling)</a:t>
            </a:r>
            <a:endParaRPr lang="en-US" sz="1000" dirty="0"/>
          </a:p>
        </p:txBody>
      </p:sp>
      <p:sp>
        <p:nvSpPr>
          <p:cNvPr id="24" name="Shape 21"/>
          <p:cNvSpPr/>
          <p:nvPr/>
        </p:nvSpPr>
        <p:spPr>
          <a:xfrm>
            <a:off x="7370064" y="2395728"/>
            <a:ext cx="1645920" cy="1152144"/>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25" name="Shape 22"/>
          <p:cNvSpPr/>
          <p:nvPr/>
        </p:nvSpPr>
        <p:spPr>
          <a:xfrm>
            <a:off x="7370064" y="2395728"/>
            <a:ext cx="1645920" cy="73152"/>
          </a:xfrm>
          <a:prstGeom prst="rect">
            <a:avLst/>
          </a:prstGeom>
          <a:solidFill>
            <a:srgbClr val="D4A017"/>
          </a:solidFill>
          <a:ln w="12700">
            <a:solidFill>
              <a:srgbClr val="D4A017"/>
            </a:solidFill>
            <a:prstDash val="solid"/>
          </a:ln>
        </p:spPr>
        <p:txBody>
          <a:bodyPr/>
          <a:lstStyle/>
          <a:p>
            <a:endParaRPr lang="en-US"/>
          </a:p>
        </p:txBody>
      </p:sp>
      <p:sp>
        <p:nvSpPr>
          <p:cNvPr id="26" name="Text 23"/>
          <p:cNvSpPr/>
          <p:nvPr/>
        </p:nvSpPr>
        <p:spPr>
          <a:xfrm>
            <a:off x="7479792" y="2514600"/>
            <a:ext cx="1426464" cy="256032"/>
          </a:xfrm>
          <a:prstGeom prst="rect">
            <a:avLst/>
          </a:prstGeom>
          <a:noFill/>
          <a:ln/>
        </p:spPr>
        <p:txBody>
          <a:bodyPr wrap="square" lIns="0" tIns="0" rIns="0" bIns="0" rtlCol="0" anchor="ctr"/>
          <a:lstStyle/>
          <a:p>
            <a:pPr marL="0" indent="0">
              <a:buNone/>
            </a:pPr>
            <a:r>
              <a:rPr lang="en-US" sz="1000" b="1" dirty="0">
                <a:solidFill>
                  <a:srgbClr val="1A4731"/>
                </a:solidFill>
                <a:latin typeface="Calibri" pitchFamily="34" charset="0"/>
                <a:ea typeface="Calibri" pitchFamily="34" charset="-122"/>
                <a:cs typeface="Calibri" pitchFamily="34" charset="-120"/>
              </a:rPr>
              <a:t>Data Type</a:t>
            </a:r>
            <a:endParaRPr lang="en-US" sz="1000" dirty="0"/>
          </a:p>
        </p:txBody>
      </p:sp>
      <p:sp>
        <p:nvSpPr>
          <p:cNvPr id="27" name="Text 24"/>
          <p:cNvSpPr/>
          <p:nvPr/>
        </p:nvSpPr>
        <p:spPr>
          <a:xfrm>
            <a:off x="7479792" y="2798064"/>
            <a:ext cx="1426464" cy="82296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Level-2 SR</a:t>
            </a:r>
            <a:endParaRPr lang="en-US" sz="1000" dirty="0"/>
          </a:p>
          <a:p>
            <a:pPr marL="0" indent="0">
              <a:buNone/>
            </a:pPr>
            <a:r>
              <a:rPr lang="en-US" sz="1000" dirty="0">
                <a:solidFill>
                  <a:srgbClr val="4A5568"/>
                </a:solidFill>
                <a:latin typeface="Calibri" pitchFamily="34" charset="0"/>
                <a:ea typeface="Calibri" pitchFamily="34" charset="-122"/>
                <a:cs typeface="Calibri" pitchFamily="34" charset="-120"/>
              </a:rPr>
              <a:t>GeoTIFF bands</a:t>
            </a:r>
            <a:endParaRPr lang="en-US" sz="1000" dirty="0"/>
          </a:p>
        </p:txBody>
      </p:sp>
      <p:sp>
        <p:nvSpPr>
          <p:cNvPr id="28" name="Text 25"/>
          <p:cNvSpPr/>
          <p:nvPr/>
        </p:nvSpPr>
        <p:spPr>
          <a:xfrm>
            <a:off x="979061" y="3771900"/>
            <a:ext cx="7405333" cy="402336"/>
          </a:xfrm>
          <a:prstGeom prst="rect">
            <a:avLst/>
          </a:prstGeom>
          <a:noFill/>
          <a:ln/>
        </p:spPr>
        <p:txBody>
          <a:bodyPr wrap="square" lIns="0" tIns="0" rIns="0" bIns="0"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Imagery was acquired during the North Western Province dry season (February–March) to minimise cloud contamination. Both Landsat 8 and 9 use the same OLI sensor, ensuring spectral consistency across the dataset.</a:t>
            </a:r>
            <a:endParaRPr lang="en-US" sz="1000" dirty="0"/>
          </a:p>
        </p:txBody>
      </p:sp>
      <p:sp>
        <p:nvSpPr>
          <p:cNvPr id="29" name="Text 26"/>
          <p:cNvSpPr/>
          <p:nvPr/>
        </p:nvSpPr>
        <p:spPr>
          <a:xfrm>
            <a:off x="8686800" y="4800600"/>
            <a:ext cx="365760" cy="228600"/>
          </a:xfrm>
          <a:prstGeom prst="rect">
            <a:avLst/>
          </a:prstGeom>
          <a:noFill/>
          <a:ln/>
        </p:spPr>
        <p:txBody>
          <a:bodyPr wrap="square" rtlCol="0" anchor="ctr"/>
          <a:lstStyle/>
          <a:p>
            <a:pPr marL="0" indent="0" algn="ctr">
              <a:buNone/>
            </a:pPr>
            <a:r>
              <a:rPr lang="en-US" sz="900" dirty="0">
                <a:solidFill>
                  <a:srgbClr val="90A4AE"/>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2B788"/>
          </a:solidFill>
          <a:ln w="12700">
            <a:solidFill>
              <a:srgbClr val="52B788"/>
            </a:solidFill>
            <a:prstDash val="solid"/>
          </a:ln>
        </p:spPr>
        <p:txBody>
          <a:bodyPr/>
          <a:lstStyle/>
          <a:p>
            <a:endParaRPr lang="en-US"/>
          </a:p>
        </p:txBody>
      </p:sp>
      <p:sp>
        <p:nvSpPr>
          <p:cNvPr id="4" name="Text 2"/>
          <p:cNvSpPr/>
          <p:nvPr/>
        </p:nvSpPr>
        <p:spPr>
          <a:xfrm>
            <a:off x="411480" y="128016"/>
            <a:ext cx="109728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MEMBER 2</a:t>
            </a:r>
            <a:endParaRPr lang="en-US" sz="900" dirty="0"/>
          </a:p>
        </p:txBody>
      </p:sp>
      <p:sp>
        <p:nvSpPr>
          <p:cNvPr id="5" name="Text 3"/>
          <p:cNvSpPr/>
          <p:nvPr/>
        </p:nvSpPr>
        <p:spPr>
          <a:xfrm>
            <a:off x="411480" y="128016"/>
            <a:ext cx="8321040" cy="475488"/>
          </a:xfrm>
          <a:prstGeom prst="rect">
            <a:avLst/>
          </a:prstGeom>
          <a:noFill/>
          <a:ln/>
        </p:spPr>
        <p:txBody>
          <a:bodyPr wrap="square" lIns="0" tIns="0" rIns="0" bIns="0" rtlCol="0" anchor="ctr"/>
          <a:lstStyle/>
          <a:p>
            <a:pPr marL="0" indent="0" algn="l">
              <a:buNone/>
            </a:pPr>
            <a:r>
              <a:rPr lang="en-US" sz="2200" b="1" dirty="0">
                <a:solidFill>
                  <a:srgbClr val="1A4731"/>
                </a:solidFill>
                <a:latin typeface="Calibri" pitchFamily="34" charset="0"/>
                <a:ea typeface="Calibri" pitchFamily="34" charset="-122"/>
                <a:cs typeface="Calibri" pitchFamily="34" charset="-120"/>
              </a:rPr>
              <a:t>05 Data Preprocessing</a:t>
            </a:r>
            <a:endParaRPr lang="en-US" sz="2200" dirty="0"/>
          </a:p>
        </p:txBody>
      </p:sp>
      <p:pic>
        <p:nvPicPr>
          <p:cNvPr id="6" name="Image 0" descr="preencoded.png"/>
          <p:cNvPicPr>
            <a:picLocks noChangeAspect="1"/>
          </p:cNvPicPr>
          <p:nvPr/>
        </p:nvPicPr>
        <p:blipFill>
          <a:blip r:embed="rId3"/>
          <a:srcRect/>
          <a:stretch/>
        </p:blipFill>
        <p:spPr>
          <a:xfrm>
            <a:off x="4389125" y="256032"/>
            <a:ext cx="4663436" cy="2207584"/>
          </a:xfrm>
          <a:prstGeom prst="rect">
            <a:avLst/>
          </a:prstGeom>
        </p:spPr>
      </p:pic>
      <p:sp>
        <p:nvSpPr>
          <p:cNvPr id="7" name="Text 4"/>
          <p:cNvSpPr/>
          <p:nvPr/>
        </p:nvSpPr>
        <p:spPr>
          <a:xfrm>
            <a:off x="4754880" y="2509336"/>
            <a:ext cx="4114800" cy="237744"/>
          </a:xfrm>
          <a:prstGeom prst="rect">
            <a:avLst/>
          </a:prstGeom>
          <a:noFill/>
          <a:ln/>
        </p:spPr>
        <p:txBody>
          <a:bodyPr wrap="square" rtlCol="0" anchor="ctr"/>
          <a:lstStyle/>
          <a:p>
            <a:pPr marL="0" indent="0" algn="ctr">
              <a:buNone/>
            </a:pPr>
            <a:r>
              <a:rPr lang="en-US" sz="800" i="1" dirty="0">
                <a:solidFill>
                  <a:srgbClr val="90A4AE"/>
                </a:solidFill>
                <a:latin typeface="Calibri" pitchFamily="34" charset="0"/>
                <a:ea typeface="Calibri" pitchFamily="34" charset="-122"/>
                <a:cs typeface="Calibri" pitchFamily="34" charset="-120"/>
              </a:rPr>
              <a:t>Figure 2 – Cloud cover per scene. Green = &lt;30% (clean), Orange = 30–60%, Red = &gt;60%</a:t>
            </a:r>
            <a:endParaRPr lang="en-US" sz="800" dirty="0"/>
          </a:p>
        </p:txBody>
      </p:sp>
      <p:pic>
        <p:nvPicPr>
          <p:cNvPr id="8" name="Image 1" descr="preencoded.png"/>
          <p:cNvPicPr>
            <a:picLocks noChangeAspect="1"/>
          </p:cNvPicPr>
          <p:nvPr/>
        </p:nvPicPr>
        <p:blipFill>
          <a:blip r:embed="rId4"/>
          <a:srcRect/>
          <a:stretch/>
        </p:blipFill>
        <p:spPr>
          <a:xfrm>
            <a:off x="5819504" y="2798064"/>
            <a:ext cx="2194560" cy="2048256"/>
          </a:xfrm>
          <a:prstGeom prst="rect">
            <a:avLst/>
          </a:prstGeom>
        </p:spPr>
      </p:pic>
      <p:sp>
        <p:nvSpPr>
          <p:cNvPr id="9" name="Text 5"/>
          <p:cNvSpPr/>
          <p:nvPr/>
        </p:nvSpPr>
        <p:spPr>
          <a:xfrm>
            <a:off x="6675120" y="5074920"/>
            <a:ext cx="2194560" cy="182880"/>
          </a:xfrm>
          <a:prstGeom prst="rect">
            <a:avLst/>
          </a:prstGeom>
          <a:noFill/>
          <a:ln/>
        </p:spPr>
        <p:txBody>
          <a:bodyPr wrap="square" rtlCol="0" anchor="ctr"/>
          <a:lstStyle/>
          <a:p>
            <a:pPr marL="0" indent="0" algn="ctr">
              <a:buNone/>
            </a:pPr>
            <a:r>
              <a:rPr lang="en-US" sz="750" i="1" dirty="0">
                <a:solidFill>
                  <a:srgbClr val="90A4AE"/>
                </a:solidFill>
                <a:latin typeface="Calibri" pitchFamily="34" charset="0"/>
                <a:ea typeface="Calibri" pitchFamily="34" charset="-122"/>
                <a:cs typeface="Calibri" pitchFamily="34" charset="-120"/>
              </a:rPr>
              <a:t>Fig 3 – Persistent land mask</a:t>
            </a:r>
            <a:endParaRPr lang="en-US" sz="750" dirty="0"/>
          </a:p>
        </p:txBody>
      </p:sp>
      <p:sp>
        <p:nvSpPr>
          <p:cNvPr id="10" name="Shape 6"/>
          <p:cNvSpPr/>
          <p:nvPr/>
        </p:nvSpPr>
        <p:spPr>
          <a:xfrm>
            <a:off x="384048" y="786384"/>
            <a:ext cx="310896" cy="310896"/>
          </a:xfrm>
          <a:prstGeom prst="ellipse">
            <a:avLst/>
          </a:prstGeom>
          <a:solidFill>
            <a:srgbClr val="2D6A4F"/>
          </a:solidFill>
          <a:ln w="12700">
            <a:solidFill>
              <a:srgbClr val="2D6A4F"/>
            </a:solidFill>
            <a:prstDash val="solid"/>
          </a:ln>
        </p:spPr>
        <p:txBody>
          <a:bodyPr/>
          <a:lstStyle/>
          <a:p>
            <a:endParaRPr lang="en-US"/>
          </a:p>
        </p:txBody>
      </p:sp>
      <p:sp>
        <p:nvSpPr>
          <p:cNvPr id="11" name="Text 7"/>
          <p:cNvSpPr/>
          <p:nvPr/>
        </p:nvSpPr>
        <p:spPr>
          <a:xfrm>
            <a:off x="384048" y="786384"/>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8"/>
          <p:cNvSpPr/>
          <p:nvPr/>
        </p:nvSpPr>
        <p:spPr>
          <a:xfrm>
            <a:off x="822960" y="749808"/>
            <a:ext cx="3840480" cy="219456"/>
          </a:xfrm>
          <a:prstGeom prst="rect">
            <a:avLst/>
          </a:prstGeom>
          <a:noFill/>
          <a:ln/>
        </p:spPr>
        <p:txBody>
          <a:bodyPr wrap="square" lIns="0" tIns="0" rIns="0" bIns="0" rtlCol="0" anchor="ctr"/>
          <a:lstStyle/>
          <a:p>
            <a:pPr marL="0" indent="0">
              <a:buNone/>
            </a:pPr>
            <a:r>
              <a:rPr lang="en-US" sz="1050" b="1" dirty="0">
                <a:solidFill>
                  <a:srgbClr val="1A4731"/>
                </a:solidFill>
                <a:latin typeface="Calibri" pitchFamily="34" charset="0"/>
                <a:ea typeface="Calibri" pitchFamily="34" charset="-122"/>
                <a:cs typeface="Calibri" pitchFamily="34" charset="-120"/>
              </a:rPr>
              <a:t>Data Organisation</a:t>
            </a:r>
            <a:endParaRPr lang="en-US" sz="1050" dirty="0"/>
          </a:p>
        </p:txBody>
      </p:sp>
      <p:sp>
        <p:nvSpPr>
          <p:cNvPr id="13" name="Text 9"/>
          <p:cNvSpPr/>
          <p:nvPr/>
        </p:nvSpPr>
        <p:spPr>
          <a:xfrm>
            <a:off x="822960" y="969264"/>
            <a:ext cx="3840480" cy="47548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catogirizingData.py groups raw TIF files by YYYY_MM date from filename</a:t>
            </a:r>
            <a:endParaRPr lang="en-US" sz="950" dirty="0"/>
          </a:p>
        </p:txBody>
      </p:sp>
      <p:sp>
        <p:nvSpPr>
          <p:cNvPr id="14" name="Shape 10"/>
          <p:cNvSpPr/>
          <p:nvPr/>
        </p:nvSpPr>
        <p:spPr>
          <a:xfrm>
            <a:off x="539496" y="1097280"/>
            <a:ext cx="0" cy="512064"/>
          </a:xfrm>
          <a:prstGeom prst="line">
            <a:avLst/>
          </a:prstGeom>
          <a:noFill/>
          <a:ln w="19050">
            <a:solidFill>
              <a:srgbClr val="C8E6C9"/>
            </a:solidFill>
            <a:prstDash val="solid"/>
          </a:ln>
        </p:spPr>
        <p:txBody>
          <a:bodyPr/>
          <a:lstStyle/>
          <a:p>
            <a:endParaRPr lang="en-US"/>
          </a:p>
        </p:txBody>
      </p:sp>
      <p:sp>
        <p:nvSpPr>
          <p:cNvPr id="15" name="Shape 11"/>
          <p:cNvSpPr/>
          <p:nvPr/>
        </p:nvSpPr>
        <p:spPr>
          <a:xfrm>
            <a:off x="384048" y="1636776"/>
            <a:ext cx="310896" cy="310896"/>
          </a:xfrm>
          <a:prstGeom prst="ellipse">
            <a:avLst/>
          </a:prstGeom>
          <a:solidFill>
            <a:srgbClr val="2D6A4F"/>
          </a:solidFill>
          <a:ln w="12700">
            <a:solidFill>
              <a:srgbClr val="2D6A4F"/>
            </a:solidFill>
            <a:prstDash val="solid"/>
          </a:ln>
        </p:spPr>
        <p:txBody>
          <a:bodyPr/>
          <a:lstStyle/>
          <a:p>
            <a:endParaRPr lang="en-US"/>
          </a:p>
        </p:txBody>
      </p:sp>
      <p:sp>
        <p:nvSpPr>
          <p:cNvPr id="16" name="Text 12"/>
          <p:cNvSpPr/>
          <p:nvPr/>
        </p:nvSpPr>
        <p:spPr>
          <a:xfrm>
            <a:off x="384048" y="1636776"/>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3"/>
          <p:cNvSpPr/>
          <p:nvPr/>
        </p:nvSpPr>
        <p:spPr>
          <a:xfrm>
            <a:off x="822960" y="1600200"/>
            <a:ext cx="3840480" cy="219456"/>
          </a:xfrm>
          <a:prstGeom prst="rect">
            <a:avLst/>
          </a:prstGeom>
          <a:noFill/>
          <a:ln/>
        </p:spPr>
        <p:txBody>
          <a:bodyPr wrap="square" lIns="0" tIns="0" rIns="0" bIns="0" rtlCol="0" anchor="ctr"/>
          <a:lstStyle/>
          <a:p>
            <a:pPr marL="0" indent="0">
              <a:buNone/>
            </a:pPr>
            <a:r>
              <a:rPr lang="en-US" sz="1050" b="1" dirty="0">
                <a:solidFill>
                  <a:srgbClr val="1A4731"/>
                </a:solidFill>
                <a:latin typeface="Calibri" pitchFamily="34" charset="0"/>
                <a:ea typeface="Calibri" pitchFamily="34" charset="-122"/>
                <a:cs typeface="Calibri" pitchFamily="34" charset="-120"/>
              </a:rPr>
              <a:t>Reflectance Scaling</a:t>
            </a:r>
            <a:endParaRPr lang="en-US" sz="1050" dirty="0"/>
          </a:p>
        </p:txBody>
      </p:sp>
      <p:sp>
        <p:nvSpPr>
          <p:cNvPr id="18" name="Text 14"/>
          <p:cNvSpPr/>
          <p:nvPr/>
        </p:nvSpPr>
        <p:spPr>
          <a:xfrm>
            <a:off x="822960" y="1819656"/>
            <a:ext cx="3840480" cy="47548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DN × 0.0000275 − 0.2, clipped to [0, 1]</a:t>
            </a:r>
            <a:endParaRPr lang="en-US" sz="950" dirty="0"/>
          </a:p>
        </p:txBody>
      </p:sp>
      <p:sp>
        <p:nvSpPr>
          <p:cNvPr id="19" name="Shape 15"/>
          <p:cNvSpPr/>
          <p:nvPr/>
        </p:nvSpPr>
        <p:spPr>
          <a:xfrm>
            <a:off x="539496" y="1947672"/>
            <a:ext cx="0" cy="512064"/>
          </a:xfrm>
          <a:prstGeom prst="line">
            <a:avLst/>
          </a:prstGeom>
          <a:noFill/>
          <a:ln w="19050">
            <a:solidFill>
              <a:srgbClr val="C8E6C9"/>
            </a:solidFill>
            <a:prstDash val="solid"/>
          </a:ln>
        </p:spPr>
        <p:txBody>
          <a:bodyPr/>
          <a:lstStyle/>
          <a:p>
            <a:endParaRPr lang="en-US"/>
          </a:p>
        </p:txBody>
      </p:sp>
      <p:sp>
        <p:nvSpPr>
          <p:cNvPr id="20" name="Shape 16"/>
          <p:cNvSpPr/>
          <p:nvPr/>
        </p:nvSpPr>
        <p:spPr>
          <a:xfrm>
            <a:off x="384048" y="2487168"/>
            <a:ext cx="310896" cy="310896"/>
          </a:xfrm>
          <a:prstGeom prst="ellipse">
            <a:avLst/>
          </a:prstGeom>
          <a:solidFill>
            <a:srgbClr val="2D6A4F"/>
          </a:solidFill>
          <a:ln w="12700">
            <a:solidFill>
              <a:srgbClr val="2D6A4F"/>
            </a:solidFill>
            <a:prstDash val="solid"/>
          </a:ln>
        </p:spPr>
        <p:txBody>
          <a:bodyPr/>
          <a:lstStyle/>
          <a:p>
            <a:endParaRPr lang="en-US"/>
          </a:p>
        </p:txBody>
      </p:sp>
      <p:sp>
        <p:nvSpPr>
          <p:cNvPr id="21" name="Text 17"/>
          <p:cNvSpPr/>
          <p:nvPr/>
        </p:nvSpPr>
        <p:spPr>
          <a:xfrm>
            <a:off x="384048" y="2487168"/>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2" name="Text 18"/>
          <p:cNvSpPr/>
          <p:nvPr/>
        </p:nvSpPr>
        <p:spPr>
          <a:xfrm>
            <a:off x="822960" y="2450592"/>
            <a:ext cx="3840480" cy="219456"/>
          </a:xfrm>
          <a:prstGeom prst="rect">
            <a:avLst/>
          </a:prstGeom>
          <a:noFill/>
          <a:ln/>
        </p:spPr>
        <p:txBody>
          <a:bodyPr wrap="square" lIns="0" tIns="0" rIns="0" bIns="0" rtlCol="0" anchor="ctr"/>
          <a:lstStyle/>
          <a:p>
            <a:pPr marL="0" indent="0">
              <a:buNone/>
            </a:pPr>
            <a:r>
              <a:rPr lang="en-US" sz="1050" b="1" dirty="0">
                <a:solidFill>
                  <a:srgbClr val="1A4731"/>
                </a:solidFill>
                <a:latin typeface="Calibri" pitchFamily="34" charset="0"/>
                <a:ea typeface="Calibri" pitchFamily="34" charset="-122"/>
                <a:cs typeface="Calibri" pitchFamily="34" charset="-120"/>
              </a:rPr>
              <a:t>Downsampling</a:t>
            </a:r>
            <a:endParaRPr lang="en-US" sz="1050" dirty="0"/>
          </a:p>
        </p:txBody>
      </p:sp>
      <p:sp>
        <p:nvSpPr>
          <p:cNvPr id="23" name="Text 19"/>
          <p:cNvSpPr/>
          <p:nvPr/>
        </p:nvSpPr>
        <p:spPr>
          <a:xfrm>
            <a:off x="822960" y="2670048"/>
            <a:ext cx="3840480" cy="47548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Bilinear 2× resize: 30 m → 60 m (reduces compute load)</a:t>
            </a:r>
            <a:endParaRPr lang="en-US" sz="950" dirty="0"/>
          </a:p>
        </p:txBody>
      </p:sp>
      <p:sp>
        <p:nvSpPr>
          <p:cNvPr id="24" name="Shape 20"/>
          <p:cNvSpPr/>
          <p:nvPr/>
        </p:nvSpPr>
        <p:spPr>
          <a:xfrm>
            <a:off x="539496" y="2798064"/>
            <a:ext cx="0" cy="512064"/>
          </a:xfrm>
          <a:prstGeom prst="line">
            <a:avLst/>
          </a:prstGeom>
          <a:noFill/>
          <a:ln w="19050">
            <a:solidFill>
              <a:srgbClr val="C8E6C9"/>
            </a:solidFill>
            <a:prstDash val="solid"/>
          </a:ln>
        </p:spPr>
        <p:txBody>
          <a:bodyPr/>
          <a:lstStyle/>
          <a:p>
            <a:endParaRPr lang="en-US"/>
          </a:p>
        </p:txBody>
      </p:sp>
      <p:sp>
        <p:nvSpPr>
          <p:cNvPr id="25" name="Shape 21"/>
          <p:cNvSpPr/>
          <p:nvPr/>
        </p:nvSpPr>
        <p:spPr>
          <a:xfrm>
            <a:off x="384048" y="3337560"/>
            <a:ext cx="310896" cy="310896"/>
          </a:xfrm>
          <a:prstGeom prst="ellipse">
            <a:avLst/>
          </a:prstGeom>
          <a:solidFill>
            <a:srgbClr val="2D6A4F"/>
          </a:solidFill>
          <a:ln w="12700">
            <a:solidFill>
              <a:srgbClr val="2D6A4F"/>
            </a:solidFill>
            <a:prstDash val="solid"/>
          </a:ln>
        </p:spPr>
        <p:txBody>
          <a:bodyPr/>
          <a:lstStyle/>
          <a:p>
            <a:endParaRPr lang="en-US"/>
          </a:p>
        </p:txBody>
      </p:sp>
      <p:sp>
        <p:nvSpPr>
          <p:cNvPr id="26" name="Text 22"/>
          <p:cNvSpPr/>
          <p:nvPr/>
        </p:nvSpPr>
        <p:spPr>
          <a:xfrm>
            <a:off x="384048" y="3337560"/>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7" name="Text 23"/>
          <p:cNvSpPr/>
          <p:nvPr/>
        </p:nvSpPr>
        <p:spPr>
          <a:xfrm>
            <a:off x="822960" y="3300984"/>
            <a:ext cx="3840480" cy="219456"/>
          </a:xfrm>
          <a:prstGeom prst="rect">
            <a:avLst/>
          </a:prstGeom>
          <a:noFill/>
          <a:ln/>
        </p:spPr>
        <p:txBody>
          <a:bodyPr wrap="square" lIns="0" tIns="0" rIns="0" bIns="0" rtlCol="0" anchor="ctr"/>
          <a:lstStyle/>
          <a:p>
            <a:pPr marL="0" indent="0">
              <a:buNone/>
            </a:pPr>
            <a:r>
              <a:rPr lang="en-US" sz="1050" b="1" dirty="0">
                <a:solidFill>
                  <a:srgbClr val="1A4731"/>
                </a:solidFill>
                <a:latin typeface="Calibri" pitchFamily="34" charset="0"/>
                <a:ea typeface="Calibri" pitchFamily="34" charset="-122"/>
                <a:cs typeface="Calibri" pitchFamily="34" charset="-120"/>
              </a:rPr>
              <a:t>Cloud Masking</a:t>
            </a:r>
            <a:endParaRPr lang="en-US" sz="1050" dirty="0"/>
          </a:p>
        </p:txBody>
      </p:sp>
      <p:sp>
        <p:nvSpPr>
          <p:cNvPr id="28" name="Text 24"/>
          <p:cNvSpPr/>
          <p:nvPr/>
        </p:nvSpPr>
        <p:spPr>
          <a:xfrm>
            <a:off x="822960" y="3520440"/>
            <a:ext cx="3840480" cy="47548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QA_PIXEL bit flags remove cloud, cirrus, shadow pixels → set to NaN</a:t>
            </a:r>
            <a:endParaRPr lang="en-US" sz="950" dirty="0"/>
          </a:p>
        </p:txBody>
      </p:sp>
      <p:sp>
        <p:nvSpPr>
          <p:cNvPr id="29" name="Shape 25"/>
          <p:cNvSpPr/>
          <p:nvPr/>
        </p:nvSpPr>
        <p:spPr>
          <a:xfrm>
            <a:off x="539496" y="3648456"/>
            <a:ext cx="0" cy="512064"/>
          </a:xfrm>
          <a:prstGeom prst="line">
            <a:avLst/>
          </a:prstGeom>
          <a:noFill/>
          <a:ln w="19050">
            <a:solidFill>
              <a:srgbClr val="C8E6C9"/>
            </a:solidFill>
            <a:prstDash val="solid"/>
          </a:ln>
        </p:spPr>
        <p:txBody>
          <a:bodyPr/>
          <a:lstStyle/>
          <a:p>
            <a:endParaRPr lang="en-US"/>
          </a:p>
        </p:txBody>
      </p:sp>
      <p:sp>
        <p:nvSpPr>
          <p:cNvPr id="30" name="Shape 26"/>
          <p:cNvSpPr/>
          <p:nvPr/>
        </p:nvSpPr>
        <p:spPr>
          <a:xfrm>
            <a:off x="384048" y="4187952"/>
            <a:ext cx="310896" cy="310896"/>
          </a:xfrm>
          <a:prstGeom prst="ellipse">
            <a:avLst/>
          </a:prstGeom>
          <a:solidFill>
            <a:srgbClr val="2D6A4F"/>
          </a:solidFill>
          <a:ln w="12700">
            <a:solidFill>
              <a:srgbClr val="2D6A4F"/>
            </a:solidFill>
            <a:prstDash val="solid"/>
          </a:ln>
        </p:spPr>
        <p:txBody>
          <a:bodyPr/>
          <a:lstStyle/>
          <a:p>
            <a:endParaRPr lang="en-US"/>
          </a:p>
        </p:txBody>
      </p:sp>
      <p:sp>
        <p:nvSpPr>
          <p:cNvPr id="31" name="Text 27"/>
          <p:cNvSpPr/>
          <p:nvPr/>
        </p:nvSpPr>
        <p:spPr>
          <a:xfrm>
            <a:off x="384048" y="4187952"/>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2" name="Text 28"/>
          <p:cNvSpPr/>
          <p:nvPr/>
        </p:nvSpPr>
        <p:spPr>
          <a:xfrm>
            <a:off x="822960" y="4151376"/>
            <a:ext cx="3840480" cy="219456"/>
          </a:xfrm>
          <a:prstGeom prst="rect">
            <a:avLst/>
          </a:prstGeom>
          <a:noFill/>
          <a:ln/>
        </p:spPr>
        <p:txBody>
          <a:bodyPr wrap="square" lIns="0" tIns="0" rIns="0" bIns="0" rtlCol="0" anchor="ctr"/>
          <a:lstStyle/>
          <a:p>
            <a:pPr marL="0" indent="0">
              <a:buNone/>
            </a:pPr>
            <a:r>
              <a:rPr lang="en-US" sz="1050" b="1" dirty="0">
                <a:solidFill>
                  <a:srgbClr val="1A4731"/>
                </a:solidFill>
                <a:latin typeface="Calibri" pitchFamily="34" charset="0"/>
                <a:ea typeface="Calibri" pitchFamily="34" charset="-122"/>
                <a:cs typeface="Calibri" pitchFamily="34" charset="-120"/>
              </a:rPr>
              <a:t>Persistent Land Mask</a:t>
            </a:r>
            <a:endParaRPr lang="en-US" sz="1050" dirty="0"/>
          </a:p>
        </p:txBody>
      </p:sp>
      <p:sp>
        <p:nvSpPr>
          <p:cNvPr id="33" name="Text 29"/>
          <p:cNvSpPr/>
          <p:nvPr/>
        </p:nvSpPr>
        <p:spPr>
          <a:xfrm>
            <a:off x="822960" y="4370832"/>
            <a:ext cx="3840480" cy="475488"/>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NDWI across all scenes identifies permanent water (lagoon, ocean) – excluded from classification</a:t>
            </a:r>
            <a:endParaRPr lang="en-US" sz="950" dirty="0"/>
          </a:p>
        </p:txBody>
      </p:sp>
      <p:sp>
        <p:nvSpPr>
          <p:cNvPr id="34" name="Text 30"/>
          <p:cNvSpPr/>
          <p:nvPr/>
        </p:nvSpPr>
        <p:spPr>
          <a:xfrm>
            <a:off x="8686800" y="4800600"/>
            <a:ext cx="365760" cy="228600"/>
          </a:xfrm>
          <a:prstGeom prst="rect">
            <a:avLst/>
          </a:prstGeom>
          <a:noFill/>
          <a:ln/>
        </p:spPr>
        <p:txBody>
          <a:bodyPr wrap="square" rtlCol="0" anchor="ctr"/>
          <a:lstStyle/>
          <a:p>
            <a:pPr marL="0" indent="0" algn="ctr">
              <a:buNone/>
            </a:pPr>
            <a:r>
              <a:rPr lang="en-US" sz="900" dirty="0">
                <a:solidFill>
                  <a:srgbClr val="90A4AE"/>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2B788"/>
          </a:solidFill>
          <a:ln w="12700">
            <a:solidFill>
              <a:srgbClr val="52B788"/>
            </a:solidFill>
            <a:prstDash val="solid"/>
          </a:ln>
        </p:spPr>
        <p:txBody>
          <a:bodyPr/>
          <a:lstStyle/>
          <a:p>
            <a:endParaRPr lang="en-US"/>
          </a:p>
        </p:txBody>
      </p:sp>
      <p:sp>
        <p:nvSpPr>
          <p:cNvPr id="4" name="Text 2"/>
          <p:cNvSpPr/>
          <p:nvPr/>
        </p:nvSpPr>
        <p:spPr>
          <a:xfrm>
            <a:off x="411480" y="128016"/>
            <a:ext cx="109728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MEMBER 3</a:t>
            </a:r>
            <a:endParaRPr lang="en-US" sz="900" dirty="0"/>
          </a:p>
        </p:txBody>
      </p:sp>
      <p:sp>
        <p:nvSpPr>
          <p:cNvPr id="5" name="Text 3"/>
          <p:cNvSpPr/>
          <p:nvPr/>
        </p:nvSpPr>
        <p:spPr>
          <a:xfrm>
            <a:off x="411480" y="128016"/>
            <a:ext cx="8321040" cy="475488"/>
          </a:xfrm>
          <a:prstGeom prst="rect">
            <a:avLst/>
          </a:prstGeom>
          <a:noFill/>
          <a:ln/>
        </p:spPr>
        <p:txBody>
          <a:bodyPr wrap="square" lIns="0" tIns="0" rIns="0" bIns="0" rtlCol="0" anchor="ctr"/>
          <a:lstStyle/>
          <a:p>
            <a:pPr marL="0" indent="0" algn="l">
              <a:buNone/>
            </a:pPr>
            <a:r>
              <a:rPr lang="en-US" sz="2200" b="1" dirty="0">
                <a:solidFill>
                  <a:srgbClr val="1A4731"/>
                </a:solidFill>
                <a:latin typeface="Calibri" pitchFamily="34" charset="0"/>
                <a:ea typeface="Calibri" pitchFamily="34" charset="-122"/>
                <a:cs typeface="Calibri" pitchFamily="34" charset="-120"/>
              </a:rPr>
              <a:t>06 Methodology Overview</a:t>
            </a:r>
            <a:endParaRPr lang="en-US" sz="2200" dirty="0"/>
          </a:p>
        </p:txBody>
      </p:sp>
      <p:sp>
        <p:nvSpPr>
          <p:cNvPr id="6" name="Shape 4"/>
          <p:cNvSpPr/>
          <p:nvPr/>
        </p:nvSpPr>
        <p:spPr>
          <a:xfrm>
            <a:off x="384048" y="1389888"/>
            <a:ext cx="1115568" cy="1481328"/>
          </a:xfrm>
          <a:prstGeom prst="rect">
            <a:avLst/>
          </a:prstGeom>
          <a:solidFill>
            <a:srgbClr val="2D6A4F"/>
          </a:solidFill>
          <a:ln w="12700">
            <a:solidFill>
              <a:srgbClr val="2D6A4F"/>
            </a:solidFill>
            <a:prstDash val="solid"/>
          </a:ln>
          <a:effectLst>
            <a:outerShdw blurRad="63500" dist="25400" dir="8100000" algn="bl" rotWithShape="0">
              <a:srgbClr val="000000">
                <a:alpha val="15000"/>
              </a:srgbClr>
            </a:outerShdw>
          </a:effectLst>
        </p:spPr>
        <p:txBody>
          <a:bodyPr/>
          <a:lstStyle/>
          <a:p>
            <a:endParaRPr lang="en-US"/>
          </a:p>
        </p:txBody>
      </p:sp>
      <p:sp>
        <p:nvSpPr>
          <p:cNvPr id="7" name="Text 5"/>
          <p:cNvSpPr/>
          <p:nvPr/>
        </p:nvSpPr>
        <p:spPr>
          <a:xfrm>
            <a:off x="384048" y="1572768"/>
            <a:ext cx="1115568"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 Data</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Collection</a:t>
            </a:r>
            <a:endParaRPr lang="en-US" sz="1000" dirty="0"/>
          </a:p>
        </p:txBody>
      </p:sp>
      <p:sp>
        <p:nvSpPr>
          <p:cNvPr id="8" name="Shape 6"/>
          <p:cNvSpPr/>
          <p:nvPr/>
        </p:nvSpPr>
        <p:spPr>
          <a:xfrm>
            <a:off x="384048" y="2304288"/>
            <a:ext cx="1115568" cy="566928"/>
          </a:xfrm>
          <a:prstGeom prst="rect">
            <a:avLst/>
          </a:prstGeom>
          <a:solidFill>
            <a:srgbClr val="000000">
              <a:alpha val="30000"/>
            </a:srgbClr>
          </a:solidFill>
          <a:ln w="12700">
            <a:solidFill>
              <a:srgbClr val="000000">
                <a:alpha val="30000"/>
              </a:srgbClr>
            </a:solidFill>
            <a:prstDash val="solid"/>
          </a:ln>
        </p:spPr>
        <p:txBody>
          <a:bodyPr/>
          <a:lstStyle/>
          <a:p>
            <a:endParaRPr lang="en-US"/>
          </a:p>
        </p:txBody>
      </p:sp>
      <p:sp>
        <p:nvSpPr>
          <p:cNvPr id="9" name="Text 7"/>
          <p:cNvSpPr/>
          <p:nvPr/>
        </p:nvSpPr>
        <p:spPr>
          <a:xfrm>
            <a:off x="384048" y="2322576"/>
            <a:ext cx="1115568" cy="512064"/>
          </a:xfrm>
          <a:prstGeom prst="rect">
            <a:avLst/>
          </a:prstGeom>
          <a:noFill/>
          <a:ln/>
        </p:spPr>
        <p:txBody>
          <a:bodyPr wrap="square" rtlCol="0" anchor="ctr"/>
          <a:lstStyle/>
          <a:p>
            <a:pPr marL="0" indent="0" algn="ctr">
              <a:buNone/>
            </a:pPr>
            <a:r>
              <a:rPr lang="en-US" sz="800" dirty="0">
                <a:solidFill>
                  <a:srgbClr val="E0F2E9"/>
                </a:solidFill>
                <a:latin typeface="Calibri" pitchFamily="34" charset="0"/>
                <a:ea typeface="Calibri" pitchFamily="34" charset="-122"/>
                <a:cs typeface="Calibri" pitchFamily="34" charset="-120"/>
              </a:rPr>
              <a:t>20 Landsat scenes</a:t>
            </a:r>
            <a:endParaRPr lang="en-US" sz="800" dirty="0"/>
          </a:p>
          <a:p>
            <a:pPr marL="0" indent="0" algn="ctr">
              <a:buNone/>
            </a:pPr>
            <a:r>
              <a:rPr lang="en-US" sz="800" dirty="0">
                <a:solidFill>
                  <a:srgbClr val="E0F2E9"/>
                </a:solidFill>
                <a:latin typeface="Calibri" pitchFamily="34" charset="0"/>
                <a:ea typeface="Calibri" pitchFamily="34" charset="-122"/>
                <a:cs typeface="Calibri" pitchFamily="34" charset="-120"/>
              </a:rPr>
              <a:t>2016–2025</a:t>
            </a:r>
            <a:endParaRPr lang="en-US" sz="800" dirty="0"/>
          </a:p>
        </p:txBody>
      </p:sp>
      <p:sp>
        <p:nvSpPr>
          <p:cNvPr id="10" name="Shape 8"/>
          <p:cNvSpPr/>
          <p:nvPr/>
        </p:nvSpPr>
        <p:spPr>
          <a:xfrm>
            <a:off x="1499616" y="2130552"/>
            <a:ext cx="54864" cy="0"/>
          </a:xfrm>
          <a:prstGeom prst="line">
            <a:avLst/>
          </a:prstGeom>
          <a:noFill/>
          <a:ln w="19050">
            <a:solidFill>
              <a:srgbClr val="90A4AE"/>
            </a:solidFill>
            <a:prstDash val="solid"/>
          </a:ln>
        </p:spPr>
        <p:txBody>
          <a:bodyPr/>
          <a:lstStyle/>
          <a:p>
            <a:endParaRPr lang="en-US"/>
          </a:p>
        </p:txBody>
      </p:sp>
      <p:sp>
        <p:nvSpPr>
          <p:cNvPr id="11" name="Shape 9"/>
          <p:cNvSpPr/>
          <p:nvPr/>
        </p:nvSpPr>
        <p:spPr>
          <a:xfrm>
            <a:off x="1554480" y="1389888"/>
            <a:ext cx="1115568" cy="1481328"/>
          </a:xfrm>
          <a:prstGeom prst="rect">
            <a:avLst/>
          </a:prstGeom>
          <a:solidFill>
            <a:srgbClr val="388E3C"/>
          </a:solidFill>
          <a:ln w="12700">
            <a:solidFill>
              <a:srgbClr val="388E3C"/>
            </a:solidFill>
            <a:prstDash val="solid"/>
          </a:ln>
          <a:effectLst>
            <a:outerShdw blurRad="63500" dist="25400" dir="8100000" algn="bl" rotWithShape="0">
              <a:srgbClr val="000000">
                <a:alpha val="15000"/>
              </a:srgbClr>
            </a:outerShdw>
          </a:effectLst>
        </p:spPr>
        <p:txBody>
          <a:bodyPr/>
          <a:lstStyle/>
          <a:p>
            <a:endParaRPr lang="en-US"/>
          </a:p>
        </p:txBody>
      </p:sp>
      <p:sp>
        <p:nvSpPr>
          <p:cNvPr id="12" name="Text 10"/>
          <p:cNvSpPr/>
          <p:nvPr/>
        </p:nvSpPr>
        <p:spPr>
          <a:xfrm>
            <a:off x="1554480" y="1572768"/>
            <a:ext cx="1115568"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 Pre-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processing</a:t>
            </a:r>
            <a:endParaRPr lang="en-US" sz="1000" dirty="0"/>
          </a:p>
        </p:txBody>
      </p:sp>
      <p:sp>
        <p:nvSpPr>
          <p:cNvPr id="13" name="Shape 11"/>
          <p:cNvSpPr/>
          <p:nvPr/>
        </p:nvSpPr>
        <p:spPr>
          <a:xfrm>
            <a:off x="1554480" y="2304288"/>
            <a:ext cx="1115568" cy="566928"/>
          </a:xfrm>
          <a:prstGeom prst="rect">
            <a:avLst/>
          </a:prstGeom>
          <a:solidFill>
            <a:srgbClr val="000000">
              <a:alpha val="30000"/>
            </a:srgbClr>
          </a:solidFill>
          <a:ln w="12700">
            <a:solidFill>
              <a:srgbClr val="000000">
                <a:alpha val="30000"/>
              </a:srgbClr>
            </a:solidFill>
            <a:prstDash val="solid"/>
          </a:ln>
        </p:spPr>
        <p:txBody>
          <a:bodyPr/>
          <a:lstStyle/>
          <a:p>
            <a:endParaRPr lang="en-US"/>
          </a:p>
        </p:txBody>
      </p:sp>
      <p:sp>
        <p:nvSpPr>
          <p:cNvPr id="14" name="Text 12"/>
          <p:cNvSpPr/>
          <p:nvPr/>
        </p:nvSpPr>
        <p:spPr>
          <a:xfrm>
            <a:off x="1554480" y="2322576"/>
            <a:ext cx="1115568" cy="512064"/>
          </a:xfrm>
          <a:prstGeom prst="rect">
            <a:avLst/>
          </a:prstGeom>
          <a:noFill/>
          <a:ln/>
        </p:spPr>
        <p:txBody>
          <a:bodyPr wrap="square" rtlCol="0" anchor="ctr"/>
          <a:lstStyle/>
          <a:p>
            <a:pPr marL="0" indent="0" algn="ctr">
              <a:buNone/>
            </a:pPr>
            <a:r>
              <a:rPr lang="en-US" sz="800" dirty="0">
                <a:solidFill>
                  <a:srgbClr val="E0F2E9"/>
                </a:solidFill>
                <a:latin typeface="Calibri" pitchFamily="34" charset="0"/>
                <a:ea typeface="Calibri" pitchFamily="34" charset="-122"/>
                <a:cs typeface="Calibri" pitchFamily="34" charset="-120"/>
              </a:rPr>
              <a:t>Scaling · Masking</a:t>
            </a:r>
            <a:endParaRPr lang="en-US" sz="800" dirty="0"/>
          </a:p>
          <a:p>
            <a:pPr marL="0" indent="0" algn="ctr">
              <a:buNone/>
            </a:pPr>
            <a:r>
              <a:rPr lang="en-US" sz="800" dirty="0">
                <a:solidFill>
                  <a:srgbClr val="E0F2E9"/>
                </a:solidFill>
                <a:latin typeface="Calibri" pitchFamily="34" charset="0"/>
                <a:ea typeface="Calibri" pitchFamily="34" charset="-122"/>
                <a:cs typeface="Calibri" pitchFamily="34" charset="-120"/>
              </a:rPr>
              <a:t>Downsampling</a:t>
            </a:r>
            <a:endParaRPr lang="en-US" sz="800" dirty="0"/>
          </a:p>
        </p:txBody>
      </p:sp>
      <p:sp>
        <p:nvSpPr>
          <p:cNvPr id="15" name="Shape 13"/>
          <p:cNvSpPr/>
          <p:nvPr/>
        </p:nvSpPr>
        <p:spPr>
          <a:xfrm>
            <a:off x="2670048" y="2130552"/>
            <a:ext cx="54864" cy="0"/>
          </a:xfrm>
          <a:prstGeom prst="line">
            <a:avLst/>
          </a:prstGeom>
          <a:noFill/>
          <a:ln w="19050">
            <a:solidFill>
              <a:srgbClr val="90A4AE"/>
            </a:solidFill>
            <a:prstDash val="solid"/>
          </a:ln>
        </p:spPr>
        <p:txBody>
          <a:bodyPr/>
          <a:lstStyle/>
          <a:p>
            <a:endParaRPr lang="en-US"/>
          </a:p>
        </p:txBody>
      </p:sp>
      <p:sp>
        <p:nvSpPr>
          <p:cNvPr id="16" name="Shape 14"/>
          <p:cNvSpPr/>
          <p:nvPr/>
        </p:nvSpPr>
        <p:spPr>
          <a:xfrm>
            <a:off x="2724912" y="1389888"/>
            <a:ext cx="1115568" cy="1481328"/>
          </a:xfrm>
          <a:prstGeom prst="rect">
            <a:avLst/>
          </a:prstGeom>
          <a:solidFill>
            <a:srgbClr val="0277BD"/>
          </a:solidFill>
          <a:ln w="12700">
            <a:solidFill>
              <a:srgbClr val="0277BD"/>
            </a:solidFill>
            <a:prstDash val="solid"/>
          </a:ln>
          <a:effectLst>
            <a:outerShdw blurRad="63500" dist="25400" dir="8100000" algn="bl" rotWithShape="0">
              <a:srgbClr val="000000">
                <a:alpha val="15000"/>
              </a:srgbClr>
            </a:outerShdw>
          </a:effectLst>
        </p:spPr>
        <p:txBody>
          <a:bodyPr/>
          <a:lstStyle/>
          <a:p>
            <a:endParaRPr lang="en-US"/>
          </a:p>
        </p:txBody>
      </p:sp>
      <p:sp>
        <p:nvSpPr>
          <p:cNvPr id="17" name="Text 15"/>
          <p:cNvSpPr/>
          <p:nvPr/>
        </p:nvSpPr>
        <p:spPr>
          <a:xfrm>
            <a:off x="2724912" y="1572768"/>
            <a:ext cx="1115568"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 Spectral</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Indices</a:t>
            </a:r>
            <a:endParaRPr lang="en-US" sz="1000" dirty="0"/>
          </a:p>
        </p:txBody>
      </p:sp>
      <p:sp>
        <p:nvSpPr>
          <p:cNvPr id="18" name="Shape 16"/>
          <p:cNvSpPr/>
          <p:nvPr/>
        </p:nvSpPr>
        <p:spPr>
          <a:xfrm>
            <a:off x="2724912" y="2304288"/>
            <a:ext cx="1115568" cy="566928"/>
          </a:xfrm>
          <a:prstGeom prst="rect">
            <a:avLst/>
          </a:prstGeom>
          <a:solidFill>
            <a:srgbClr val="000000">
              <a:alpha val="30000"/>
            </a:srgbClr>
          </a:solidFill>
          <a:ln w="12700">
            <a:solidFill>
              <a:srgbClr val="000000">
                <a:alpha val="30000"/>
              </a:srgbClr>
            </a:solidFill>
            <a:prstDash val="solid"/>
          </a:ln>
        </p:spPr>
        <p:txBody>
          <a:bodyPr/>
          <a:lstStyle/>
          <a:p>
            <a:endParaRPr lang="en-US"/>
          </a:p>
        </p:txBody>
      </p:sp>
      <p:sp>
        <p:nvSpPr>
          <p:cNvPr id="19" name="Text 17"/>
          <p:cNvSpPr/>
          <p:nvPr/>
        </p:nvSpPr>
        <p:spPr>
          <a:xfrm>
            <a:off x="2724912" y="2322576"/>
            <a:ext cx="1115568" cy="512064"/>
          </a:xfrm>
          <a:prstGeom prst="rect">
            <a:avLst/>
          </a:prstGeom>
          <a:noFill/>
          <a:ln/>
        </p:spPr>
        <p:txBody>
          <a:bodyPr wrap="square" rtlCol="0" anchor="ctr"/>
          <a:lstStyle/>
          <a:p>
            <a:pPr marL="0" indent="0" algn="ctr">
              <a:buNone/>
            </a:pPr>
            <a:r>
              <a:rPr lang="en-US" sz="800" dirty="0">
                <a:solidFill>
                  <a:srgbClr val="E0F2E9"/>
                </a:solidFill>
                <a:latin typeface="Calibri" pitchFamily="34" charset="0"/>
                <a:ea typeface="Calibri" pitchFamily="34" charset="-122"/>
                <a:cs typeface="Calibri" pitchFamily="34" charset="-120"/>
              </a:rPr>
              <a:t>NDVI NDWI</a:t>
            </a:r>
            <a:endParaRPr lang="en-US" sz="800" dirty="0"/>
          </a:p>
          <a:p>
            <a:pPr marL="0" indent="0" algn="ctr">
              <a:buNone/>
            </a:pPr>
            <a:r>
              <a:rPr lang="en-US" sz="800" dirty="0">
                <a:solidFill>
                  <a:srgbClr val="E0F2E9"/>
                </a:solidFill>
                <a:latin typeface="Calibri" pitchFamily="34" charset="0"/>
                <a:ea typeface="Calibri" pitchFamily="34" charset="-122"/>
                <a:cs typeface="Calibri" pitchFamily="34" charset="-120"/>
              </a:rPr>
              <a:t>NDBI NBR EVI</a:t>
            </a:r>
            <a:endParaRPr lang="en-US" sz="800" dirty="0"/>
          </a:p>
        </p:txBody>
      </p:sp>
      <p:sp>
        <p:nvSpPr>
          <p:cNvPr id="20" name="Shape 18"/>
          <p:cNvSpPr/>
          <p:nvPr/>
        </p:nvSpPr>
        <p:spPr>
          <a:xfrm>
            <a:off x="3840480" y="2130552"/>
            <a:ext cx="54864" cy="0"/>
          </a:xfrm>
          <a:prstGeom prst="line">
            <a:avLst/>
          </a:prstGeom>
          <a:noFill/>
          <a:ln w="19050">
            <a:solidFill>
              <a:srgbClr val="90A4AE"/>
            </a:solidFill>
            <a:prstDash val="solid"/>
          </a:ln>
        </p:spPr>
        <p:txBody>
          <a:bodyPr/>
          <a:lstStyle/>
          <a:p>
            <a:endParaRPr lang="en-US"/>
          </a:p>
        </p:txBody>
      </p:sp>
      <p:sp>
        <p:nvSpPr>
          <p:cNvPr id="21" name="Shape 19"/>
          <p:cNvSpPr/>
          <p:nvPr/>
        </p:nvSpPr>
        <p:spPr>
          <a:xfrm>
            <a:off x="3895344" y="1389888"/>
            <a:ext cx="1115568" cy="1481328"/>
          </a:xfrm>
          <a:prstGeom prst="rect">
            <a:avLst/>
          </a:prstGeom>
          <a:solidFill>
            <a:srgbClr val="6A1599"/>
          </a:solidFill>
          <a:ln w="12700">
            <a:solidFill>
              <a:srgbClr val="6A1599"/>
            </a:solidFill>
            <a:prstDash val="solid"/>
          </a:ln>
          <a:effectLst>
            <a:outerShdw blurRad="63500" dist="25400" dir="8100000" algn="bl" rotWithShape="0">
              <a:srgbClr val="000000">
                <a:alpha val="15000"/>
              </a:srgbClr>
            </a:outerShdw>
          </a:effectLst>
        </p:spPr>
        <p:txBody>
          <a:bodyPr/>
          <a:lstStyle/>
          <a:p>
            <a:endParaRPr lang="en-US"/>
          </a:p>
        </p:txBody>
      </p:sp>
      <p:sp>
        <p:nvSpPr>
          <p:cNvPr id="22" name="Text 20"/>
          <p:cNvSpPr/>
          <p:nvPr/>
        </p:nvSpPr>
        <p:spPr>
          <a:xfrm>
            <a:off x="3895344" y="1572768"/>
            <a:ext cx="1115568"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 Classifi-</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cation</a:t>
            </a:r>
            <a:endParaRPr lang="en-US" sz="1000" dirty="0"/>
          </a:p>
        </p:txBody>
      </p:sp>
      <p:sp>
        <p:nvSpPr>
          <p:cNvPr id="23" name="Shape 21"/>
          <p:cNvSpPr/>
          <p:nvPr/>
        </p:nvSpPr>
        <p:spPr>
          <a:xfrm>
            <a:off x="3895344" y="2304288"/>
            <a:ext cx="1115568" cy="566928"/>
          </a:xfrm>
          <a:prstGeom prst="rect">
            <a:avLst/>
          </a:prstGeom>
          <a:solidFill>
            <a:srgbClr val="000000">
              <a:alpha val="30000"/>
            </a:srgbClr>
          </a:solidFill>
          <a:ln w="12700">
            <a:solidFill>
              <a:srgbClr val="000000">
                <a:alpha val="30000"/>
              </a:srgbClr>
            </a:solidFill>
            <a:prstDash val="solid"/>
          </a:ln>
        </p:spPr>
        <p:txBody>
          <a:bodyPr/>
          <a:lstStyle/>
          <a:p>
            <a:endParaRPr lang="en-US"/>
          </a:p>
        </p:txBody>
      </p:sp>
      <p:sp>
        <p:nvSpPr>
          <p:cNvPr id="24" name="Text 22"/>
          <p:cNvSpPr/>
          <p:nvPr/>
        </p:nvSpPr>
        <p:spPr>
          <a:xfrm>
            <a:off x="3895344" y="2322576"/>
            <a:ext cx="1115568" cy="512064"/>
          </a:xfrm>
          <a:prstGeom prst="rect">
            <a:avLst/>
          </a:prstGeom>
          <a:noFill/>
          <a:ln/>
        </p:spPr>
        <p:txBody>
          <a:bodyPr wrap="square" rtlCol="0" anchor="ctr"/>
          <a:lstStyle/>
          <a:p>
            <a:pPr marL="0" indent="0" algn="ctr">
              <a:buNone/>
            </a:pPr>
            <a:r>
              <a:rPr lang="en-US" sz="800" dirty="0">
                <a:solidFill>
                  <a:srgbClr val="E0F2E9"/>
                </a:solidFill>
                <a:latin typeface="Calibri" pitchFamily="34" charset="0"/>
                <a:ea typeface="Calibri" pitchFamily="34" charset="-122"/>
                <a:cs typeface="Calibri" pitchFamily="34" charset="-120"/>
              </a:rPr>
              <a:t>Random Forest</a:t>
            </a:r>
            <a:endParaRPr lang="en-US" sz="800" dirty="0"/>
          </a:p>
          <a:p>
            <a:pPr marL="0" indent="0" algn="ctr">
              <a:buNone/>
            </a:pPr>
            <a:r>
              <a:rPr lang="en-US" sz="800" dirty="0">
                <a:solidFill>
                  <a:srgbClr val="E0F2E9"/>
                </a:solidFill>
                <a:latin typeface="Calibri" pitchFamily="34" charset="0"/>
                <a:ea typeface="Calibri" pitchFamily="34" charset="-122"/>
                <a:cs typeface="Calibri" pitchFamily="34" charset="-120"/>
              </a:rPr>
              <a:t>4 classes</a:t>
            </a:r>
            <a:endParaRPr lang="en-US" sz="800" dirty="0"/>
          </a:p>
        </p:txBody>
      </p:sp>
      <p:sp>
        <p:nvSpPr>
          <p:cNvPr id="25" name="Shape 23"/>
          <p:cNvSpPr/>
          <p:nvPr/>
        </p:nvSpPr>
        <p:spPr>
          <a:xfrm>
            <a:off x="5010912" y="2130552"/>
            <a:ext cx="54864" cy="0"/>
          </a:xfrm>
          <a:prstGeom prst="line">
            <a:avLst/>
          </a:prstGeom>
          <a:noFill/>
          <a:ln w="19050">
            <a:solidFill>
              <a:srgbClr val="90A4AE"/>
            </a:solidFill>
            <a:prstDash val="solid"/>
          </a:ln>
        </p:spPr>
        <p:txBody>
          <a:bodyPr/>
          <a:lstStyle/>
          <a:p>
            <a:endParaRPr lang="en-US"/>
          </a:p>
        </p:txBody>
      </p:sp>
      <p:sp>
        <p:nvSpPr>
          <p:cNvPr id="26" name="Shape 24"/>
          <p:cNvSpPr/>
          <p:nvPr/>
        </p:nvSpPr>
        <p:spPr>
          <a:xfrm>
            <a:off x="5065776" y="1389888"/>
            <a:ext cx="1115568" cy="1481328"/>
          </a:xfrm>
          <a:prstGeom prst="rect">
            <a:avLst/>
          </a:prstGeom>
          <a:solidFill>
            <a:srgbClr val="C62828"/>
          </a:solidFill>
          <a:ln w="12700">
            <a:solidFill>
              <a:srgbClr val="C62828"/>
            </a:solidFill>
            <a:prstDash val="solid"/>
          </a:ln>
          <a:effectLst>
            <a:outerShdw blurRad="63500" dist="25400" dir="8100000" algn="bl" rotWithShape="0">
              <a:srgbClr val="000000">
                <a:alpha val="15000"/>
              </a:srgbClr>
            </a:outerShdw>
          </a:effectLst>
        </p:spPr>
        <p:txBody>
          <a:bodyPr/>
          <a:lstStyle/>
          <a:p>
            <a:endParaRPr lang="en-US"/>
          </a:p>
        </p:txBody>
      </p:sp>
      <p:sp>
        <p:nvSpPr>
          <p:cNvPr id="27" name="Text 25"/>
          <p:cNvSpPr/>
          <p:nvPr/>
        </p:nvSpPr>
        <p:spPr>
          <a:xfrm>
            <a:off x="5065776" y="1572768"/>
            <a:ext cx="1115568"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 Change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Detection</a:t>
            </a:r>
            <a:endParaRPr lang="en-US" sz="1000" dirty="0"/>
          </a:p>
        </p:txBody>
      </p:sp>
      <p:sp>
        <p:nvSpPr>
          <p:cNvPr id="28" name="Shape 26"/>
          <p:cNvSpPr/>
          <p:nvPr/>
        </p:nvSpPr>
        <p:spPr>
          <a:xfrm>
            <a:off x="5065776" y="2304288"/>
            <a:ext cx="1115568" cy="566928"/>
          </a:xfrm>
          <a:prstGeom prst="rect">
            <a:avLst/>
          </a:prstGeom>
          <a:solidFill>
            <a:srgbClr val="000000">
              <a:alpha val="30000"/>
            </a:srgbClr>
          </a:solidFill>
          <a:ln w="12700">
            <a:solidFill>
              <a:srgbClr val="000000">
                <a:alpha val="30000"/>
              </a:srgbClr>
            </a:solidFill>
            <a:prstDash val="solid"/>
          </a:ln>
        </p:spPr>
        <p:txBody>
          <a:bodyPr/>
          <a:lstStyle/>
          <a:p>
            <a:endParaRPr lang="en-US"/>
          </a:p>
        </p:txBody>
      </p:sp>
      <p:sp>
        <p:nvSpPr>
          <p:cNvPr id="29" name="Text 27"/>
          <p:cNvSpPr/>
          <p:nvPr/>
        </p:nvSpPr>
        <p:spPr>
          <a:xfrm>
            <a:off x="5065776" y="2322576"/>
            <a:ext cx="1115568" cy="512064"/>
          </a:xfrm>
          <a:prstGeom prst="rect">
            <a:avLst/>
          </a:prstGeom>
          <a:noFill/>
          <a:ln/>
        </p:spPr>
        <p:txBody>
          <a:bodyPr wrap="square" rtlCol="0" anchor="ctr"/>
          <a:lstStyle/>
          <a:p>
            <a:pPr marL="0" indent="0" algn="ctr">
              <a:buNone/>
            </a:pPr>
            <a:r>
              <a:rPr lang="en-US" sz="800" dirty="0">
                <a:solidFill>
                  <a:srgbClr val="E0F2E9"/>
                </a:solidFill>
                <a:latin typeface="Calibri" pitchFamily="34" charset="0"/>
                <a:ea typeface="Calibri" pitchFamily="34" charset="-122"/>
                <a:cs typeface="Calibri" pitchFamily="34" charset="-120"/>
              </a:rPr>
              <a:t>NDVI delta</a:t>
            </a:r>
            <a:endParaRPr lang="en-US" sz="800" dirty="0"/>
          </a:p>
          <a:p>
            <a:pPr marL="0" indent="0" algn="ctr">
              <a:buNone/>
            </a:pPr>
            <a:r>
              <a:rPr lang="en-US" sz="800" dirty="0">
                <a:solidFill>
                  <a:srgbClr val="E0F2E9"/>
                </a:solidFill>
                <a:latin typeface="Calibri" pitchFamily="34" charset="0"/>
                <a:ea typeface="Calibri" pitchFamily="34" charset="-122"/>
                <a:cs typeface="Calibri" pitchFamily="34" charset="-120"/>
              </a:rPr>
              <a:t>Transition matrix</a:t>
            </a:r>
            <a:endParaRPr lang="en-US" sz="800" dirty="0"/>
          </a:p>
        </p:txBody>
      </p:sp>
      <p:sp>
        <p:nvSpPr>
          <p:cNvPr id="30" name="Shape 28"/>
          <p:cNvSpPr/>
          <p:nvPr/>
        </p:nvSpPr>
        <p:spPr>
          <a:xfrm>
            <a:off x="6181344" y="2130552"/>
            <a:ext cx="54864" cy="0"/>
          </a:xfrm>
          <a:prstGeom prst="line">
            <a:avLst/>
          </a:prstGeom>
          <a:noFill/>
          <a:ln w="19050">
            <a:solidFill>
              <a:srgbClr val="90A4AE"/>
            </a:solidFill>
            <a:prstDash val="solid"/>
          </a:ln>
        </p:spPr>
        <p:txBody>
          <a:bodyPr/>
          <a:lstStyle/>
          <a:p>
            <a:endParaRPr lang="en-US"/>
          </a:p>
        </p:txBody>
      </p:sp>
      <p:sp>
        <p:nvSpPr>
          <p:cNvPr id="31" name="Shape 29"/>
          <p:cNvSpPr/>
          <p:nvPr/>
        </p:nvSpPr>
        <p:spPr>
          <a:xfrm>
            <a:off x="6236208" y="1389888"/>
            <a:ext cx="1115568" cy="1481328"/>
          </a:xfrm>
          <a:prstGeom prst="rect">
            <a:avLst/>
          </a:prstGeom>
          <a:solidFill>
            <a:srgbClr val="D4A017"/>
          </a:solidFill>
          <a:ln w="12700">
            <a:solidFill>
              <a:srgbClr val="D4A017"/>
            </a:solidFill>
            <a:prstDash val="solid"/>
          </a:ln>
          <a:effectLst>
            <a:outerShdw blurRad="63500" dist="25400" dir="8100000" algn="bl" rotWithShape="0">
              <a:srgbClr val="000000">
                <a:alpha val="15000"/>
              </a:srgbClr>
            </a:outerShdw>
          </a:effectLst>
        </p:spPr>
        <p:txBody>
          <a:bodyPr/>
          <a:lstStyle/>
          <a:p>
            <a:endParaRPr lang="en-US"/>
          </a:p>
        </p:txBody>
      </p:sp>
      <p:sp>
        <p:nvSpPr>
          <p:cNvPr id="32" name="Text 30"/>
          <p:cNvSpPr/>
          <p:nvPr/>
        </p:nvSpPr>
        <p:spPr>
          <a:xfrm>
            <a:off x="6236208" y="1572768"/>
            <a:ext cx="1115568"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 Fore-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casting</a:t>
            </a:r>
            <a:endParaRPr lang="en-US" sz="1000" dirty="0"/>
          </a:p>
        </p:txBody>
      </p:sp>
      <p:sp>
        <p:nvSpPr>
          <p:cNvPr id="33" name="Shape 31"/>
          <p:cNvSpPr/>
          <p:nvPr/>
        </p:nvSpPr>
        <p:spPr>
          <a:xfrm>
            <a:off x="6236208" y="2304288"/>
            <a:ext cx="1115568" cy="566928"/>
          </a:xfrm>
          <a:prstGeom prst="rect">
            <a:avLst/>
          </a:prstGeom>
          <a:solidFill>
            <a:srgbClr val="000000">
              <a:alpha val="30000"/>
            </a:srgbClr>
          </a:solidFill>
          <a:ln w="12700">
            <a:solidFill>
              <a:srgbClr val="000000">
                <a:alpha val="30000"/>
              </a:srgbClr>
            </a:solidFill>
            <a:prstDash val="solid"/>
          </a:ln>
        </p:spPr>
        <p:txBody>
          <a:bodyPr/>
          <a:lstStyle/>
          <a:p>
            <a:endParaRPr lang="en-US"/>
          </a:p>
        </p:txBody>
      </p:sp>
      <p:sp>
        <p:nvSpPr>
          <p:cNvPr id="34" name="Text 32"/>
          <p:cNvSpPr/>
          <p:nvPr/>
        </p:nvSpPr>
        <p:spPr>
          <a:xfrm>
            <a:off x="6236208" y="2322576"/>
            <a:ext cx="1115568" cy="512064"/>
          </a:xfrm>
          <a:prstGeom prst="rect">
            <a:avLst/>
          </a:prstGeom>
          <a:noFill/>
          <a:ln/>
        </p:spPr>
        <p:txBody>
          <a:bodyPr wrap="square" rtlCol="0" anchor="ctr"/>
          <a:lstStyle/>
          <a:p>
            <a:pPr marL="0" indent="0" algn="ctr">
              <a:buNone/>
            </a:pPr>
            <a:r>
              <a:rPr lang="en-US" sz="800" dirty="0">
                <a:solidFill>
                  <a:srgbClr val="E0F2E9"/>
                </a:solidFill>
                <a:latin typeface="Calibri" pitchFamily="34" charset="0"/>
                <a:ea typeface="Calibri" pitchFamily="34" charset="-122"/>
                <a:cs typeface="Calibri" pitchFamily="34" charset="-120"/>
              </a:rPr>
              <a:t>Lin · Poly</a:t>
            </a:r>
            <a:endParaRPr lang="en-US" sz="800" dirty="0"/>
          </a:p>
          <a:p>
            <a:pPr marL="0" indent="0" algn="ctr">
              <a:buNone/>
            </a:pPr>
            <a:r>
              <a:rPr lang="en-US" sz="800" dirty="0">
                <a:solidFill>
                  <a:srgbClr val="E0F2E9"/>
                </a:solidFill>
                <a:latin typeface="Calibri" pitchFamily="34" charset="0"/>
                <a:ea typeface="Calibri" pitchFamily="34" charset="-122"/>
                <a:cs typeface="Calibri" pitchFamily="34" charset="-120"/>
              </a:rPr>
              <a:t>Grad Boost</a:t>
            </a:r>
            <a:endParaRPr lang="en-US" sz="800" dirty="0"/>
          </a:p>
        </p:txBody>
      </p:sp>
      <p:sp>
        <p:nvSpPr>
          <p:cNvPr id="35" name="Shape 33"/>
          <p:cNvSpPr/>
          <p:nvPr/>
        </p:nvSpPr>
        <p:spPr>
          <a:xfrm>
            <a:off x="7351776" y="2130552"/>
            <a:ext cx="54864" cy="0"/>
          </a:xfrm>
          <a:prstGeom prst="line">
            <a:avLst/>
          </a:prstGeom>
          <a:noFill/>
          <a:ln w="19050">
            <a:solidFill>
              <a:srgbClr val="90A4AE"/>
            </a:solidFill>
            <a:prstDash val="solid"/>
          </a:ln>
        </p:spPr>
        <p:txBody>
          <a:bodyPr/>
          <a:lstStyle/>
          <a:p>
            <a:endParaRPr lang="en-US"/>
          </a:p>
        </p:txBody>
      </p:sp>
      <p:sp>
        <p:nvSpPr>
          <p:cNvPr id="36" name="Shape 34"/>
          <p:cNvSpPr/>
          <p:nvPr/>
        </p:nvSpPr>
        <p:spPr>
          <a:xfrm>
            <a:off x="7406640" y="1389888"/>
            <a:ext cx="1115568" cy="1481328"/>
          </a:xfrm>
          <a:prstGeom prst="rect">
            <a:avLst/>
          </a:prstGeom>
          <a:solidFill>
            <a:srgbClr val="2E7D32"/>
          </a:solidFill>
          <a:ln w="12700">
            <a:solidFill>
              <a:srgbClr val="2E7D32"/>
            </a:solidFill>
            <a:prstDash val="solid"/>
          </a:ln>
          <a:effectLst>
            <a:outerShdw blurRad="63500" dist="25400" dir="8100000" algn="bl" rotWithShape="0">
              <a:srgbClr val="000000">
                <a:alpha val="15000"/>
              </a:srgbClr>
            </a:outerShdw>
          </a:effectLst>
        </p:spPr>
        <p:txBody>
          <a:bodyPr/>
          <a:lstStyle/>
          <a:p>
            <a:endParaRPr lang="en-US"/>
          </a:p>
        </p:txBody>
      </p:sp>
      <p:sp>
        <p:nvSpPr>
          <p:cNvPr id="37" name="Text 35"/>
          <p:cNvSpPr/>
          <p:nvPr/>
        </p:nvSpPr>
        <p:spPr>
          <a:xfrm>
            <a:off x="7406640" y="1572768"/>
            <a:ext cx="1115568"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 Analysis</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&amp; Insights</a:t>
            </a:r>
            <a:endParaRPr lang="en-US" sz="1000" dirty="0"/>
          </a:p>
        </p:txBody>
      </p:sp>
      <p:sp>
        <p:nvSpPr>
          <p:cNvPr id="38" name="Shape 36"/>
          <p:cNvSpPr/>
          <p:nvPr/>
        </p:nvSpPr>
        <p:spPr>
          <a:xfrm>
            <a:off x="7406640" y="2304288"/>
            <a:ext cx="1115568" cy="566928"/>
          </a:xfrm>
          <a:prstGeom prst="rect">
            <a:avLst/>
          </a:prstGeom>
          <a:solidFill>
            <a:srgbClr val="000000">
              <a:alpha val="30000"/>
            </a:srgbClr>
          </a:solidFill>
          <a:ln w="12700">
            <a:solidFill>
              <a:srgbClr val="000000">
                <a:alpha val="30000"/>
              </a:srgbClr>
            </a:solidFill>
            <a:prstDash val="solid"/>
          </a:ln>
        </p:spPr>
        <p:txBody>
          <a:bodyPr/>
          <a:lstStyle/>
          <a:p>
            <a:endParaRPr lang="en-US"/>
          </a:p>
        </p:txBody>
      </p:sp>
      <p:sp>
        <p:nvSpPr>
          <p:cNvPr id="39" name="Text 37"/>
          <p:cNvSpPr/>
          <p:nvPr/>
        </p:nvSpPr>
        <p:spPr>
          <a:xfrm>
            <a:off x="7406640" y="2322576"/>
            <a:ext cx="1115568" cy="512064"/>
          </a:xfrm>
          <a:prstGeom prst="rect">
            <a:avLst/>
          </a:prstGeom>
          <a:noFill/>
          <a:ln/>
        </p:spPr>
        <p:txBody>
          <a:bodyPr wrap="square" rtlCol="0" anchor="ctr"/>
          <a:lstStyle/>
          <a:p>
            <a:pPr marL="0" indent="0" algn="ctr">
              <a:buNone/>
            </a:pPr>
            <a:r>
              <a:rPr lang="en-US" sz="800" dirty="0">
                <a:solidFill>
                  <a:srgbClr val="E0F2E9"/>
                </a:solidFill>
                <a:latin typeface="Calibri" pitchFamily="34" charset="0"/>
                <a:ea typeface="Calibri" pitchFamily="34" charset="-122"/>
                <a:cs typeface="Calibri" pitchFamily="34" charset="-120"/>
              </a:rPr>
              <a:t>Environmental</a:t>
            </a:r>
            <a:endParaRPr lang="en-US" sz="800" dirty="0"/>
          </a:p>
          <a:p>
            <a:pPr marL="0" indent="0" algn="ctr">
              <a:buNone/>
            </a:pPr>
            <a:r>
              <a:rPr lang="en-US" sz="800" dirty="0">
                <a:solidFill>
                  <a:srgbClr val="E0F2E9"/>
                </a:solidFill>
                <a:latin typeface="Calibri" pitchFamily="34" charset="0"/>
                <a:ea typeface="Calibri" pitchFamily="34" charset="-122"/>
                <a:cs typeface="Calibri" pitchFamily="34" charset="-120"/>
              </a:rPr>
              <a:t>findings</a:t>
            </a:r>
            <a:endParaRPr lang="en-US" sz="800" dirty="0"/>
          </a:p>
        </p:txBody>
      </p:sp>
      <p:sp>
        <p:nvSpPr>
          <p:cNvPr id="40" name="Text 38"/>
          <p:cNvSpPr/>
          <p:nvPr/>
        </p:nvSpPr>
        <p:spPr>
          <a:xfrm>
            <a:off x="548640" y="2944368"/>
            <a:ext cx="8321040" cy="347472"/>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All steps were implemented in Python using a single Jupyter Notebook (retrain.ipynb). Each scene was processed sequentially through the full pipeline.</a:t>
            </a:r>
            <a:endParaRPr lang="en-US" sz="1000" dirty="0"/>
          </a:p>
        </p:txBody>
      </p:sp>
      <p:pic>
        <p:nvPicPr>
          <p:cNvPr id="41" name="Image 0" descr="preencoded.png"/>
          <p:cNvPicPr>
            <a:picLocks noChangeAspect="1"/>
          </p:cNvPicPr>
          <p:nvPr/>
        </p:nvPicPr>
        <p:blipFill>
          <a:blip r:embed="rId3"/>
          <a:srcRect/>
          <a:stretch/>
        </p:blipFill>
        <p:spPr>
          <a:xfrm>
            <a:off x="411480" y="3219994"/>
            <a:ext cx="8321040" cy="1736054"/>
          </a:xfrm>
          <a:prstGeom prst="rect">
            <a:avLst/>
          </a:prstGeom>
        </p:spPr>
      </p:pic>
      <p:sp>
        <p:nvSpPr>
          <p:cNvPr id="42" name="Text 39"/>
          <p:cNvSpPr/>
          <p:nvPr/>
        </p:nvSpPr>
        <p:spPr>
          <a:xfrm>
            <a:off x="411480" y="4974336"/>
            <a:ext cx="8321040" cy="164592"/>
          </a:xfrm>
          <a:prstGeom prst="rect">
            <a:avLst/>
          </a:prstGeom>
          <a:noFill/>
          <a:ln/>
        </p:spPr>
        <p:txBody>
          <a:bodyPr wrap="square" rtlCol="0" anchor="ctr"/>
          <a:lstStyle/>
          <a:p>
            <a:pPr marL="0" indent="0" algn="ctr">
              <a:buNone/>
            </a:pPr>
            <a:r>
              <a:rPr lang="en-US" sz="750" i="1" dirty="0">
                <a:solidFill>
                  <a:srgbClr val="90A4AE"/>
                </a:solidFill>
                <a:latin typeface="Calibri" pitchFamily="34" charset="0"/>
                <a:ea typeface="Calibri" pitchFamily="34" charset="-122"/>
                <a:cs typeface="Calibri" pitchFamily="34" charset="-120"/>
              </a:rPr>
              <a:t>Figure 6 – NDVI histogram distributions across all 20 scenes. Dashed line = vegetation threshold (NDVI = 0.25)</a:t>
            </a:r>
            <a:endParaRPr lang="en-US" sz="750" dirty="0"/>
          </a:p>
        </p:txBody>
      </p:sp>
      <p:sp>
        <p:nvSpPr>
          <p:cNvPr id="43" name="Text 40"/>
          <p:cNvSpPr/>
          <p:nvPr/>
        </p:nvSpPr>
        <p:spPr>
          <a:xfrm>
            <a:off x="8686800" y="4800600"/>
            <a:ext cx="365760" cy="228600"/>
          </a:xfrm>
          <a:prstGeom prst="rect">
            <a:avLst/>
          </a:prstGeom>
          <a:noFill/>
          <a:ln/>
        </p:spPr>
        <p:txBody>
          <a:bodyPr wrap="square" rtlCol="0" anchor="ctr"/>
          <a:lstStyle/>
          <a:p>
            <a:pPr marL="0" indent="0" algn="ctr">
              <a:buNone/>
            </a:pPr>
            <a:r>
              <a:rPr lang="en-US" sz="900" dirty="0">
                <a:solidFill>
                  <a:srgbClr val="90A4AE"/>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277BD"/>
          </a:solidFill>
          <a:ln w="12700">
            <a:solidFill>
              <a:srgbClr val="0277BD"/>
            </a:solidFill>
            <a:prstDash val="solid"/>
          </a:ln>
        </p:spPr>
        <p:txBody>
          <a:bodyPr/>
          <a:lstStyle/>
          <a:p>
            <a:endParaRPr lang="en-US"/>
          </a:p>
        </p:txBody>
      </p:sp>
      <p:sp>
        <p:nvSpPr>
          <p:cNvPr id="4" name="Text 2"/>
          <p:cNvSpPr/>
          <p:nvPr/>
        </p:nvSpPr>
        <p:spPr>
          <a:xfrm>
            <a:off x="411480" y="128016"/>
            <a:ext cx="109728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MEMBER 3</a:t>
            </a:r>
            <a:endParaRPr lang="en-US" sz="900" dirty="0"/>
          </a:p>
        </p:txBody>
      </p:sp>
      <p:sp>
        <p:nvSpPr>
          <p:cNvPr id="5" name="Text 3"/>
          <p:cNvSpPr/>
          <p:nvPr/>
        </p:nvSpPr>
        <p:spPr>
          <a:xfrm>
            <a:off x="411480" y="128016"/>
            <a:ext cx="8321040" cy="475488"/>
          </a:xfrm>
          <a:prstGeom prst="rect">
            <a:avLst/>
          </a:prstGeom>
          <a:noFill/>
          <a:ln/>
        </p:spPr>
        <p:txBody>
          <a:bodyPr wrap="square" lIns="0" tIns="0" rIns="0" bIns="0" rtlCol="0" anchor="ctr"/>
          <a:lstStyle/>
          <a:p>
            <a:pPr marL="0" indent="0" algn="l">
              <a:buNone/>
            </a:pPr>
            <a:r>
              <a:rPr lang="en-US" sz="2200" b="1" dirty="0">
                <a:solidFill>
                  <a:srgbClr val="1A4731"/>
                </a:solidFill>
                <a:latin typeface="Calibri" pitchFamily="34" charset="0"/>
                <a:ea typeface="Calibri" pitchFamily="34" charset="-122"/>
                <a:cs typeface="Calibri" pitchFamily="34" charset="-120"/>
              </a:rPr>
              <a:t>07 Spectral Indices</a:t>
            </a:r>
            <a:endParaRPr lang="en-US" sz="2200" dirty="0"/>
          </a:p>
        </p:txBody>
      </p:sp>
      <p:sp>
        <p:nvSpPr>
          <p:cNvPr id="6" name="Shape 4"/>
          <p:cNvSpPr/>
          <p:nvPr/>
        </p:nvSpPr>
        <p:spPr>
          <a:xfrm>
            <a:off x="347472" y="749808"/>
            <a:ext cx="1682496" cy="3547872"/>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7" name="Shape 5"/>
          <p:cNvSpPr/>
          <p:nvPr/>
        </p:nvSpPr>
        <p:spPr>
          <a:xfrm>
            <a:off x="347472" y="749808"/>
            <a:ext cx="1682496" cy="493776"/>
          </a:xfrm>
          <a:prstGeom prst="rect">
            <a:avLst/>
          </a:prstGeom>
          <a:solidFill>
            <a:srgbClr val="2E7D32"/>
          </a:solidFill>
          <a:ln w="12700">
            <a:solidFill>
              <a:srgbClr val="2E7D32"/>
            </a:solidFill>
            <a:prstDash val="solid"/>
          </a:ln>
        </p:spPr>
        <p:txBody>
          <a:bodyPr/>
          <a:lstStyle/>
          <a:p>
            <a:endParaRPr lang="en-US"/>
          </a:p>
        </p:txBody>
      </p:sp>
      <p:sp>
        <p:nvSpPr>
          <p:cNvPr id="8" name="Text 6"/>
          <p:cNvSpPr/>
          <p:nvPr/>
        </p:nvSpPr>
        <p:spPr>
          <a:xfrm>
            <a:off x="347472" y="749808"/>
            <a:ext cx="1682496" cy="49377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NDVI</a:t>
            </a:r>
            <a:endParaRPr lang="en-US" sz="1800" dirty="0"/>
          </a:p>
        </p:txBody>
      </p:sp>
      <p:sp>
        <p:nvSpPr>
          <p:cNvPr id="9" name="Text 7"/>
          <p:cNvSpPr/>
          <p:nvPr/>
        </p:nvSpPr>
        <p:spPr>
          <a:xfrm>
            <a:off x="438912" y="1316736"/>
            <a:ext cx="1499616" cy="502920"/>
          </a:xfrm>
          <a:prstGeom prst="rect">
            <a:avLst/>
          </a:prstGeom>
          <a:noFill/>
          <a:ln/>
        </p:spPr>
        <p:txBody>
          <a:bodyPr wrap="square" lIns="0" tIns="0" rIns="0" bIns="0" rtlCol="0" anchor="ctr"/>
          <a:lstStyle/>
          <a:p>
            <a:pPr marL="0" indent="0">
              <a:buNone/>
            </a:pPr>
            <a:r>
              <a:rPr lang="en-US" sz="900" b="1" dirty="0">
                <a:solidFill>
                  <a:srgbClr val="1C2B22"/>
                </a:solidFill>
                <a:latin typeface="Calibri" pitchFamily="34" charset="0"/>
                <a:ea typeface="Calibri" pitchFamily="34" charset="-122"/>
                <a:cs typeface="Calibri" pitchFamily="34" charset="-120"/>
              </a:rPr>
              <a:t>Normalized Difference Vegetation Index</a:t>
            </a:r>
            <a:endParaRPr lang="en-US" sz="900" dirty="0"/>
          </a:p>
        </p:txBody>
      </p:sp>
      <p:sp>
        <p:nvSpPr>
          <p:cNvPr id="10" name="Shape 8"/>
          <p:cNvSpPr/>
          <p:nvPr/>
        </p:nvSpPr>
        <p:spPr>
          <a:xfrm>
            <a:off x="438912" y="1847088"/>
            <a:ext cx="1499616" cy="685800"/>
          </a:xfrm>
          <a:prstGeom prst="rect">
            <a:avLst/>
          </a:prstGeom>
          <a:solidFill>
            <a:srgbClr val="F8FAF9"/>
          </a:solidFill>
          <a:ln w="12700">
            <a:solidFill>
              <a:srgbClr val="E8EFF0"/>
            </a:solidFill>
            <a:prstDash val="solid"/>
          </a:ln>
        </p:spPr>
        <p:txBody>
          <a:bodyPr/>
          <a:lstStyle/>
          <a:p>
            <a:endParaRPr lang="en-US"/>
          </a:p>
        </p:txBody>
      </p:sp>
      <p:sp>
        <p:nvSpPr>
          <p:cNvPr id="11" name="Text 9"/>
          <p:cNvSpPr/>
          <p:nvPr/>
        </p:nvSpPr>
        <p:spPr>
          <a:xfrm>
            <a:off x="457200" y="1865376"/>
            <a:ext cx="1463040" cy="640080"/>
          </a:xfrm>
          <a:prstGeom prst="rect">
            <a:avLst/>
          </a:prstGeom>
          <a:noFill/>
          <a:ln/>
        </p:spPr>
        <p:txBody>
          <a:bodyPr wrap="square" lIns="0" tIns="0" rIns="0" bIns="0" rtlCol="0" anchor="ctr"/>
          <a:lstStyle/>
          <a:p>
            <a:pPr marL="0" indent="0" algn="ctr">
              <a:buNone/>
            </a:pPr>
            <a:r>
              <a:rPr lang="en-US" sz="850" dirty="0">
                <a:solidFill>
                  <a:srgbClr val="444444"/>
                </a:solidFill>
                <a:latin typeface="Consolas" pitchFamily="34" charset="0"/>
                <a:ea typeface="Consolas" pitchFamily="34" charset="-122"/>
                <a:cs typeface="Consolas" pitchFamily="34" charset="-120"/>
              </a:rPr>
              <a:t>(NIR − Red) / (NIR + Red)</a:t>
            </a:r>
            <a:endParaRPr lang="en-US" sz="850" dirty="0"/>
          </a:p>
        </p:txBody>
      </p:sp>
      <p:sp>
        <p:nvSpPr>
          <p:cNvPr id="12" name="Text 10"/>
          <p:cNvSpPr/>
          <p:nvPr/>
        </p:nvSpPr>
        <p:spPr>
          <a:xfrm>
            <a:off x="438912" y="2578608"/>
            <a:ext cx="1499616" cy="749808"/>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Vegetation health &amp; density. Threshold &gt; 0.25 = vegetation.</a:t>
            </a:r>
            <a:endParaRPr lang="en-US" sz="900" dirty="0"/>
          </a:p>
        </p:txBody>
      </p:sp>
      <p:sp>
        <p:nvSpPr>
          <p:cNvPr id="13" name="Shape 11"/>
          <p:cNvSpPr/>
          <p:nvPr/>
        </p:nvSpPr>
        <p:spPr>
          <a:xfrm>
            <a:off x="2103120" y="749808"/>
            <a:ext cx="1682496" cy="3547872"/>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14" name="Shape 12"/>
          <p:cNvSpPr/>
          <p:nvPr/>
        </p:nvSpPr>
        <p:spPr>
          <a:xfrm>
            <a:off x="2103120" y="749808"/>
            <a:ext cx="1682496" cy="493776"/>
          </a:xfrm>
          <a:prstGeom prst="rect">
            <a:avLst/>
          </a:prstGeom>
          <a:solidFill>
            <a:srgbClr val="0277BD"/>
          </a:solidFill>
          <a:ln w="12700">
            <a:solidFill>
              <a:srgbClr val="0277BD"/>
            </a:solidFill>
            <a:prstDash val="solid"/>
          </a:ln>
        </p:spPr>
        <p:txBody>
          <a:bodyPr/>
          <a:lstStyle/>
          <a:p>
            <a:endParaRPr lang="en-US"/>
          </a:p>
        </p:txBody>
      </p:sp>
      <p:sp>
        <p:nvSpPr>
          <p:cNvPr id="15" name="Text 13"/>
          <p:cNvSpPr/>
          <p:nvPr/>
        </p:nvSpPr>
        <p:spPr>
          <a:xfrm>
            <a:off x="2103120" y="749808"/>
            <a:ext cx="1682496" cy="49377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NDWI</a:t>
            </a:r>
            <a:endParaRPr lang="en-US" sz="1800" dirty="0"/>
          </a:p>
        </p:txBody>
      </p:sp>
      <p:sp>
        <p:nvSpPr>
          <p:cNvPr id="16" name="Text 14"/>
          <p:cNvSpPr/>
          <p:nvPr/>
        </p:nvSpPr>
        <p:spPr>
          <a:xfrm>
            <a:off x="2194560" y="1316736"/>
            <a:ext cx="1499616" cy="502920"/>
          </a:xfrm>
          <a:prstGeom prst="rect">
            <a:avLst/>
          </a:prstGeom>
          <a:noFill/>
          <a:ln/>
        </p:spPr>
        <p:txBody>
          <a:bodyPr wrap="square" lIns="0" tIns="0" rIns="0" bIns="0" rtlCol="0" anchor="ctr"/>
          <a:lstStyle/>
          <a:p>
            <a:pPr marL="0" indent="0">
              <a:buNone/>
            </a:pPr>
            <a:r>
              <a:rPr lang="en-US" sz="900" b="1" dirty="0">
                <a:solidFill>
                  <a:srgbClr val="1C2B22"/>
                </a:solidFill>
                <a:latin typeface="Calibri" pitchFamily="34" charset="0"/>
                <a:ea typeface="Calibri" pitchFamily="34" charset="-122"/>
                <a:cs typeface="Calibri" pitchFamily="34" charset="-120"/>
              </a:rPr>
              <a:t>Normalized Difference Water Index</a:t>
            </a:r>
            <a:endParaRPr lang="en-US" sz="900" dirty="0"/>
          </a:p>
        </p:txBody>
      </p:sp>
      <p:sp>
        <p:nvSpPr>
          <p:cNvPr id="17" name="Shape 15"/>
          <p:cNvSpPr/>
          <p:nvPr/>
        </p:nvSpPr>
        <p:spPr>
          <a:xfrm>
            <a:off x="2194560" y="1847088"/>
            <a:ext cx="1499616" cy="685800"/>
          </a:xfrm>
          <a:prstGeom prst="rect">
            <a:avLst/>
          </a:prstGeom>
          <a:solidFill>
            <a:srgbClr val="F8FAF9"/>
          </a:solidFill>
          <a:ln w="12700">
            <a:solidFill>
              <a:srgbClr val="E8EFF0"/>
            </a:solidFill>
            <a:prstDash val="solid"/>
          </a:ln>
        </p:spPr>
        <p:txBody>
          <a:bodyPr/>
          <a:lstStyle/>
          <a:p>
            <a:endParaRPr lang="en-US"/>
          </a:p>
        </p:txBody>
      </p:sp>
      <p:sp>
        <p:nvSpPr>
          <p:cNvPr id="18" name="Text 16"/>
          <p:cNvSpPr/>
          <p:nvPr/>
        </p:nvSpPr>
        <p:spPr>
          <a:xfrm>
            <a:off x="2212848" y="1865376"/>
            <a:ext cx="1463040" cy="640080"/>
          </a:xfrm>
          <a:prstGeom prst="rect">
            <a:avLst/>
          </a:prstGeom>
          <a:noFill/>
          <a:ln/>
        </p:spPr>
        <p:txBody>
          <a:bodyPr wrap="square" lIns="0" tIns="0" rIns="0" bIns="0" rtlCol="0" anchor="ctr"/>
          <a:lstStyle/>
          <a:p>
            <a:pPr marL="0" indent="0" algn="ctr">
              <a:buNone/>
            </a:pPr>
            <a:r>
              <a:rPr lang="en-US" sz="850" dirty="0">
                <a:solidFill>
                  <a:srgbClr val="444444"/>
                </a:solidFill>
                <a:latin typeface="Consolas" pitchFamily="34" charset="0"/>
                <a:ea typeface="Consolas" pitchFamily="34" charset="-122"/>
                <a:cs typeface="Consolas" pitchFamily="34" charset="-120"/>
              </a:rPr>
              <a:t>(Green − NIR) / (Green + NIR)</a:t>
            </a:r>
            <a:endParaRPr lang="en-US" sz="850" dirty="0"/>
          </a:p>
        </p:txBody>
      </p:sp>
      <p:sp>
        <p:nvSpPr>
          <p:cNvPr id="19" name="Text 17"/>
          <p:cNvSpPr/>
          <p:nvPr/>
        </p:nvSpPr>
        <p:spPr>
          <a:xfrm>
            <a:off x="2194560" y="2578608"/>
            <a:ext cx="1499616" cy="749808"/>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Identifies open water bodies. Used to build persistent land mask.</a:t>
            </a:r>
            <a:endParaRPr lang="en-US" sz="900" dirty="0"/>
          </a:p>
        </p:txBody>
      </p:sp>
      <p:sp>
        <p:nvSpPr>
          <p:cNvPr id="20" name="Shape 18"/>
          <p:cNvSpPr/>
          <p:nvPr/>
        </p:nvSpPr>
        <p:spPr>
          <a:xfrm>
            <a:off x="3858768" y="749808"/>
            <a:ext cx="1682496" cy="3547872"/>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21" name="Shape 19"/>
          <p:cNvSpPr/>
          <p:nvPr/>
        </p:nvSpPr>
        <p:spPr>
          <a:xfrm>
            <a:off x="3858768" y="749808"/>
            <a:ext cx="1682496" cy="493776"/>
          </a:xfrm>
          <a:prstGeom prst="rect">
            <a:avLst/>
          </a:prstGeom>
          <a:solidFill>
            <a:srgbClr val="6D4C41"/>
          </a:solidFill>
          <a:ln w="12700">
            <a:solidFill>
              <a:srgbClr val="6D4C41"/>
            </a:solidFill>
            <a:prstDash val="solid"/>
          </a:ln>
        </p:spPr>
        <p:txBody>
          <a:bodyPr/>
          <a:lstStyle/>
          <a:p>
            <a:endParaRPr lang="en-US"/>
          </a:p>
        </p:txBody>
      </p:sp>
      <p:sp>
        <p:nvSpPr>
          <p:cNvPr id="22" name="Text 20"/>
          <p:cNvSpPr/>
          <p:nvPr/>
        </p:nvSpPr>
        <p:spPr>
          <a:xfrm>
            <a:off x="3858768" y="749808"/>
            <a:ext cx="1682496" cy="49377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NDBI</a:t>
            </a:r>
            <a:endParaRPr lang="en-US" sz="1800" dirty="0"/>
          </a:p>
        </p:txBody>
      </p:sp>
      <p:sp>
        <p:nvSpPr>
          <p:cNvPr id="23" name="Text 21"/>
          <p:cNvSpPr/>
          <p:nvPr/>
        </p:nvSpPr>
        <p:spPr>
          <a:xfrm>
            <a:off x="3950208" y="1316736"/>
            <a:ext cx="1499616" cy="502920"/>
          </a:xfrm>
          <a:prstGeom prst="rect">
            <a:avLst/>
          </a:prstGeom>
          <a:noFill/>
          <a:ln/>
        </p:spPr>
        <p:txBody>
          <a:bodyPr wrap="square" lIns="0" tIns="0" rIns="0" bIns="0" rtlCol="0" anchor="ctr"/>
          <a:lstStyle/>
          <a:p>
            <a:pPr marL="0" indent="0">
              <a:buNone/>
            </a:pPr>
            <a:r>
              <a:rPr lang="en-US" sz="900" b="1" dirty="0">
                <a:solidFill>
                  <a:srgbClr val="1C2B22"/>
                </a:solidFill>
                <a:latin typeface="Calibri" pitchFamily="34" charset="0"/>
                <a:ea typeface="Calibri" pitchFamily="34" charset="-122"/>
                <a:cs typeface="Calibri" pitchFamily="34" charset="-120"/>
              </a:rPr>
              <a:t>Normalized Difference Built-Up Index</a:t>
            </a:r>
            <a:endParaRPr lang="en-US" sz="900" dirty="0"/>
          </a:p>
        </p:txBody>
      </p:sp>
      <p:sp>
        <p:nvSpPr>
          <p:cNvPr id="24" name="Shape 22"/>
          <p:cNvSpPr/>
          <p:nvPr/>
        </p:nvSpPr>
        <p:spPr>
          <a:xfrm>
            <a:off x="3950208" y="1847088"/>
            <a:ext cx="1499616" cy="685800"/>
          </a:xfrm>
          <a:prstGeom prst="rect">
            <a:avLst/>
          </a:prstGeom>
          <a:solidFill>
            <a:srgbClr val="F8FAF9"/>
          </a:solidFill>
          <a:ln w="12700">
            <a:solidFill>
              <a:srgbClr val="E8EFF0"/>
            </a:solidFill>
            <a:prstDash val="solid"/>
          </a:ln>
        </p:spPr>
        <p:txBody>
          <a:bodyPr/>
          <a:lstStyle/>
          <a:p>
            <a:endParaRPr lang="en-US"/>
          </a:p>
        </p:txBody>
      </p:sp>
      <p:sp>
        <p:nvSpPr>
          <p:cNvPr id="25" name="Text 23"/>
          <p:cNvSpPr/>
          <p:nvPr/>
        </p:nvSpPr>
        <p:spPr>
          <a:xfrm>
            <a:off x="3968496" y="1865376"/>
            <a:ext cx="1463040" cy="640080"/>
          </a:xfrm>
          <a:prstGeom prst="rect">
            <a:avLst/>
          </a:prstGeom>
          <a:noFill/>
          <a:ln/>
        </p:spPr>
        <p:txBody>
          <a:bodyPr wrap="square" lIns="0" tIns="0" rIns="0" bIns="0" rtlCol="0" anchor="ctr"/>
          <a:lstStyle/>
          <a:p>
            <a:pPr marL="0" indent="0" algn="ctr">
              <a:buNone/>
            </a:pPr>
            <a:r>
              <a:rPr lang="en-US" sz="850" dirty="0">
                <a:solidFill>
                  <a:srgbClr val="444444"/>
                </a:solidFill>
                <a:latin typeface="Consolas" pitchFamily="34" charset="0"/>
                <a:ea typeface="Consolas" pitchFamily="34" charset="-122"/>
                <a:cs typeface="Consolas" pitchFamily="34" charset="-120"/>
              </a:rPr>
              <a:t>(SWIR1 − NIR) / (SWIR1 + NIR)</a:t>
            </a:r>
            <a:endParaRPr lang="en-US" sz="850" dirty="0"/>
          </a:p>
        </p:txBody>
      </p:sp>
      <p:sp>
        <p:nvSpPr>
          <p:cNvPr id="26" name="Text 24"/>
          <p:cNvSpPr/>
          <p:nvPr/>
        </p:nvSpPr>
        <p:spPr>
          <a:xfrm>
            <a:off x="3950208" y="2578608"/>
            <a:ext cx="1499616" cy="749808"/>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Highlights impervious and built-up surfaces.</a:t>
            </a:r>
            <a:endParaRPr lang="en-US" sz="900" dirty="0"/>
          </a:p>
        </p:txBody>
      </p:sp>
      <p:sp>
        <p:nvSpPr>
          <p:cNvPr id="27" name="Shape 25"/>
          <p:cNvSpPr/>
          <p:nvPr/>
        </p:nvSpPr>
        <p:spPr>
          <a:xfrm>
            <a:off x="5614416" y="749808"/>
            <a:ext cx="1682496" cy="3547872"/>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28" name="Shape 26"/>
          <p:cNvSpPr/>
          <p:nvPr/>
        </p:nvSpPr>
        <p:spPr>
          <a:xfrm>
            <a:off x="5614416" y="749808"/>
            <a:ext cx="1682496" cy="493776"/>
          </a:xfrm>
          <a:prstGeom prst="rect">
            <a:avLst/>
          </a:prstGeom>
          <a:solidFill>
            <a:srgbClr val="BF360C"/>
          </a:solidFill>
          <a:ln w="12700">
            <a:solidFill>
              <a:srgbClr val="BF360C"/>
            </a:solidFill>
            <a:prstDash val="solid"/>
          </a:ln>
        </p:spPr>
        <p:txBody>
          <a:bodyPr/>
          <a:lstStyle/>
          <a:p>
            <a:endParaRPr lang="en-US"/>
          </a:p>
        </p:txBody>
      </p:sp>
      <p:sp>
        <p:nvSpPr>
          <p:cNvPr id="29" name="Text 27"/>
          <p:cNvSpPr/>
          <p:nvPr/>
        </p:nvSpPr>
        <p:spPr>
          <a:xfrm>
            <a:off x="5614416" y="749808"/>
            <a:ext cx="1682496" cy="49377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NBR</a:t>
            </a:r>
            <a:endParaRPr lang="en-US" sz="1800" dirty="0"/>
          </a:p>
        </p:txBody>
      </p:sp>
      <p:sp>
        <p:nvSpPr>
          <p:cNvPr id="30" name="Text 28"/>
          <p:cNvSpPr/>
          <p:nvPr/>
        </p:nvSpPr>
        <p:spPr>
          <a:xfrm>
            <a:off x="5705856" y="1316736"/>
            <a:ext cx="1499616" cy="502920"/>
          </a:xfrm>
          <a:prstGeom prst="rect">
            <a:avLst/>
          </a:prstGeom>
          <a:noFill/>
          <a:ln/>
        </p:spPr>
        <p:txBody>
          <a:bodyPr wrap="square" lIns="0" tIns="0" rIns="0" bIns="0" rtlCol="0" anchor="ctr"/>
          <a:lstStyle/>
          <a:p>
            <a:pPr marL="0" indent="0">
              <a:buNone/>
            </a:pPr>
            <a:r>
              <a:rPr lang="en-US" sz="900" b="1" dirty="0">
                <a:solidFill>
                  <a:srgbClr val="1C2B22"/>
                </a:solidFill>
                <a:latin typeface="Calibri" pitchFamily="34" charset="0"/>
                <a:ea typeface="Calibri" pitchFamily="34" charset="-122"/>
                <a:cs typeface="Calibri" pitchFamily="34" charset="-120"/>
              </a:rPr>
              <a:t>Normalized Burn Ratio</a:t>
            </a:r>
            <a:endParaRPr lang="en-US" sz="900" dirty="0"/>
          </a:p>
        </p:txBody>
      </p:sp>
      <p:sp>
        <p:nvSpPr>
          <p:cNvPr id="31" name="Shape 29"/>
          <p:cNvSpPr/>
          <p:nvPr/>
        </p:nvSpPr>
        <p:spPr>
          <a:xfrm>
            <a:off x="5705856" y="1847088"/>
            <a:ext cx="1499616" cy="685800"/>
          </a:xfrm>
          <a:prstGeom prst="rect">
            <a:avLst/>
          </a:prstGeom>
          <a:solidFill>
            <a:srgbClr val="F8FAF9"/>
          </a:solidFill>
          <a:ln w="12700">
            <a:solidFill>
              <a:srgbClr val="E8EFF0"/>
            </a:solidFill>
            <a:prstDash val="solid"/>
          </a:ln>
        </p:spPr>
        <p:txBody>
          <a:bodyPr/>
          <a:lstStyle/>
          <a:p>
            <a:endParaRPr lang="en-US"/>
          </a:p>
        </p:txBody>
      </p:sp>
      <p:sp>
        <p:nvSpPr>
          <p:cNvPr id="32" name="Text 30"/>
          <p:cNvSpPr/>
          <p:nvPr/>
        </p:nvSpPr>
        <p:spPr>
          <a:xfrm>
            <a:off x="5724144" y="1865376"/>
            <a:ext cx="1463040" cy="640080"/>
          </a:xfrm>
          <a:prstGeom prst="rect">
            <a:avLst/>
          </a:prstGeom>
          <a:noFill/>
          <a:ln/>
        </p:spPr>
        <p:txBody>
          <a:bodyPr wrap="square" lIns="0" tIns="0" rIns="0" bIns="0" rtlCol="0" anchor="ctr"/>
          <a:lstStyle/>
          <a:p>
            <a:pPr marL="0" indent="0" algn="ctr">
              <a:buNone/>
            </a:pPr>
            <a:r>
              <a:rPr lang="en-US" sz="850" dirty="0">
                <a:solidFill>
                  <a:srgbClr val="444444"/>
                </a:solidFill>
                <a:latin typeface="Consolas" pitchFamily="34" charset="0"/>
                <a:ea typeface="Consolas" pitchFamily="34" charset="-122"/>
                <a:cs typeface="Consolas" pitchFamily="34" charset="-120"/>
              </a:rPr>
              <a:t>(NIR − SWIR2) / (NIR + SWIR2)</a:t>
            </a:r>
            <a:endParaRPr lang="en-US" sz="850" dirty="0"/>
          </a:p>
        </p:txBody>
      </p:sp>
      <p:sp>
        <p:nvSpPr>
          <p:cNvPr id="33" name="Text 31"/>
          <p:cNvSpPr/>
          <p:nvPr/>
        </p:nvSpPr>
        <p:spPr>
          <a:xfrm>
            <a:off x="5705856" y="2578608"/>
            <a:ext cx="1499616" cy="749808"/>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Sensitive to dry soil and previously burnt land.</a:t>
            </a:r>
            <a:endParaRPr lang="en-US" sz="900" dirty="0"/>
          </a:p>
        </p:txBody>
      </p:sp>
      <p:sp>
        <p:nvSpPr>
          <p:cNvPr id="34" name="Shape 32"/>
          <p:cNvSpPr/>
          <p:nvPr/>
        </p:nvSpPr>
        <p:spPr>
          <a:xfrm>
            <a:off x="7370064" y="749808"/>
            <a:ext cx="1682496" cy="3547872"/>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35" name="Shape 33"/>
          <p:cNvSpPr/>
          <p:nvPr/>
        </p:nvSpPr>
        <p:spPr>
          <a:xfrm>
            <a:off x="7370064" y="749808"/>
            <a:ext cx="1682496" cy="493776"/>
          </a:xfrm>
          <a:prstGeom prst="rect">
            <a:avLst/>
          </a:prstGeom>
          <a:solidFill>
            <a:srgbClr val="1B5E20"/>
          </a:solidFill>
          <a:ln w="12700">
            <a:solidFill>
              <a:srgbClr val="1B5E20"/>
            </a:solidFill>
            <a:prstDash val="solid"/>
          </a:ln>
        </p:spPr>
        <p:txBody>
          <a:bodyPr/>
          <a:lstStyle/>
          <a:p>
            <a:endParaRPr lang="en-US"/>
          </a:p>
        </p:txBody>
      </p:sp>
      <p:sp>
        <p:nvSpPr>
          <p:cNvPr id="36" name="Text 34"/>
          <p:cNvSpPr/>
          <p:nvPr/>
        </p:nvSpPr>
        <p:spPr>
          <a:xfrm>
            <a:off x="7370064" y="749808"/>
            <a:ext cx="1682496" cy="49377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EVI</a:t>
            </a:r>
            <a:endParaRPr lang="en-US" sz="1800" dirty="0"/>
          </a:p>
        </p:txBody>
      </p:sp>
      <p:sp>
        <p:nvSpPr>
          <p:cNvPr id="37" name="Text 35"/>
          <p:cNvSpPr/>
          <p:nvPr/>
        </p:nvSpPr>
        <p:spPr>
          <a:xfrm>
            <a:off x="7461504" y="1316736"/>
            <a:ext cx="1499616" cy="502920"/>
          </a:xfrm>
          <a:prstGeom prst="rect">
            <a:avLst/>
          </a:prstGeom>
          <a:noFill/>
          <a:ln/>
        </p:spPr>
        <p:txBody>
          <a:bodyPr wrap="square" lIns="0" tIns="0" rIns="0" bIns="0" rtlCol="0" anchor="ctr"/>
          <a:lstStyle/>
          <a:p>
            <a:pPr marL="0" indent="0">
              <a:buNone/>
            </a:pPr>
            <a:r>
              <a:rPr lang="en-US" sz="900" b="1" dirty="0">
                <a:solidFill>
                  <a:srgbClr val="1C2B22"/>
                </a:solidFill>
                <a:latin typeface="Calibri" pitchFamily="34" charset="0"/>
                <a:ea typeface="Calibri" pitchFamily="34" charset="-122"/>
                <a:cs typeface="Calibri" pitchFamily="34" charset="-120"/>
              </a:rPr>
              <a:t>Enhanced Vegetation Index</a:t>
            </a:r>
            <a:endParaRPr lang="en-US" sz="900" dirty="0"/>
          </a:p>
        </p:txBody>
      </p:sp>
      <p:sp>
        <p:nvSpPr>
          <p:cNvPr id="38" name="Shape 36"/>
          <p:cNvSpPr/>
          <p:nvPr/>
        </p:nvSpPr>
        <p:spPr>
          <a:xfrm>
            <a:off x="7461504" y="1847088"/>
            <a:ext cx="1499616" cy="685800"/>
          </a:xfrm>
          <a:prstGeom prst="rect">
            <a:avLst/>
          </a:prstGeom>
          <a:solidFill>
            <a:srgbClr val="F8FAF9"/>
          </a:solidFill>
          <a:ln w="12700">
            <a:solidFill>
              <a:srgbClr val="E8EFF0"/>
            </a:solidFill>
            <a:prstDash val="solid"/>
          </a:ln>
        </p:spPr>
        <p:txBody>
          <a:bodyPr/>
          <a:lstStyle/>
          <a:p>
            <a:endParaRPr lang="en-US"/>
          </a:p>
        </p:txBody>
      </p:sp>
      <p:sp>
        <p:nvSpPr>
          <p:cNvPr id="39" name="Text 37"/>
          <p:cNvSpPr/>
          <p:nvPr/>
        </p:nvSpPr>
        <p:spPr>
          <a:xfrm>
            <a:off x="7479792" y="1865376"/>
            <a:ext cx="1463040" cy="640080"/>
          </a:xfrm>
          <a:prstGeom prst="rect">
            <a:avLst/>
          </a:prstGeom>
          <a:noFill/>
          <a:ln/>
        </p:spPr>
        <p:txBody>
          <a:bodyPr wrap="square" lIns="0" tIns="0" rIns="0" bIns="0" rtlCol="0" anchor="ctr"/>
          <a:lstStyle/>
          <a:p>
            <a:pPr marL="0" indent="0" algn="ctr">
              <a:buNone/>
            </a:pPr>
            <a:r>
              <a:rPr lang="en-US" sz="850" dirty="0">
                <a:solidFill>
                  <a:srgbClr val="444444"/>
                </a:solidFill>
                <a:latin typeface="Consolas" pitchFamily="34" charset="0"/>
                <a:ea typeface="Consolas" pitchFamily="34" charset="-122"/>
                <a:cs typeface="Consolas" pitchFamily="34" charset="-120"/>
              </a:rPr>
              <a:t>2.5 × (NIR − Red) / (NIR + 6R − 7.5B + 1)</a:t>
            </a:r>
            <a:endParaRPr lang="en-US" sz="850" dirty="0"/>
          </a:p>
        </p:txBody>
      </p:sp>
      <p:sp>
        <p:nvSpPr>
          <p:cNvPr id="40" name="Text 38"/>
          <p:cNvSpPr/>
          <p:nvPr/>
        </p:nvSpPr>
        <p:spPr>
          <a:xfrm>
            <a:off x="7461504" y="2578608"/>
            <a:ext cx="1499616" cy="749808"/>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Improves NDVI in dense canopy; corrects for atmosphere and soil.</a:t>
            </a:r>
            <a:endParaRPr lang="en-US" sz="900" dirty="0"/>
          </a:p>
        </p:txBody>
      </p:sp>
      <p:sp>
        <p:nvSpPr>
          <p:cNvPr id="42" name="Text 39"/>
          <p:cNvSpPr/>
          <p:nvPr/>
        </p:nvSpPr>
        <p:spPr>
          <a:xfrm>
            <a:off x="347472" y="5074920"/>
            <a:ext cx="8449056" cy="164592"/>
          </a:xfrm>
          <a:prstGeom prst="rect">
            <a:avLst/>
          </a:prstGeom>
          <a:noFill/>
          <a:ln/>
        </p:spPr>
        <p:txBody>
          <a:bodyPr wrap="square" rtlCol="0" anchor="ctr"/>
          <a:lstStyle/>
          <a:p>
            <a:pPr marL="0" indent="0" algn="ctr">
              <a:buNone/>
            </a:pPr>
            <a:r>
              <a:rPr lang="en-US" sz="750" i="1" dirty="0">
                <a:solidFill>
                  <a:srgbClr val="90A4AE"/>
                </a:solidFill>
                <a:latin typeface="Calibri" pitchFamily="34" charset="0"/>
                <a:ea typeface="Calibri" pitchFamily="34" charset="-122"/>
                <a:cs typeface="Calibri" pitchFamily="34" charset="-120"/>
              </a:rPr>
              <a:t>NDVI maps – all 20 scenes (green = dense vegetation, red/yellow = bare/non-vegetated)</a:t>
            </a:r>
            <a:endParaRPr lang="en-US" sz="750" dirty="0"/>
          </a:p>
        </p:txBody>
      </p:sp>
      <p:sp>
        <p:nvSpPr>
          <p:cNvPr id="43" name="Text 40"/>
          <p:cNvSpPr/>
          <p:nvPr/>
        </p:nvSpPr>
        <p:spPr>
          <a:xfrm>
            <a:off x="8686800" y="4800600"/>
            <a:ext cx="365760" cy="228600"/>
          </a:xfrm>
          <a:prstGeom prst="rect">
            <a:avLst/>
          </a:prstGeom>
          <a:noFill/>
          <a:ln/>
        </p:spPr>
        <p:txBody>
          <a:bodyPr wrap="square" rtlCol="0" anchor="ctr"/>
          <a:lstStyle/>
          <a:p>
            <a:pPr marL="0" indent="0" algn="ctr">
              <a:buNone/>
            </a:pPr>
            <a:r>
              <a:rPr lang="en-US" sz="900" dirty="0">
                <a:solidFill>
                  <a:srgbClr val="90A4AE"/>
                </a:solidFil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6A1599"/>
          </a:solidFill>
          <a:ln w="12700">
            <a:solidFill>
              <a:srgbClr val="6A1599"/>
            </a:solidFill>
            <a:prstDash val="solid"/>
          </a:ln>
        </p:spPr>
        <p:txBody>
          <a:bodyPr/>
          <a:lstStyle/>
          <a:p>
            <a:endParaRPr lang="en-US"/>
          </a:p>
        </p:txBody>
      </p:sp>
      <p:sp>
        <p:nvSpPr>
          <p:cNvPr id="4" name="Text 2"/>
          <p:cNvSpPr/>
          <p:nvPr/>
        </p:nvSpPr>
        <p:spPr>
          <a:xfrm>
            <a:off x="411480" y="128016"/>
            <a:ext cx="109728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MEMBER 3</a:t>
            </a:r>
            <a:endParaRPr lang="en-US" sz="900" dirty="0"/>
          </a:p>
        </p:txBody>
      </p:sp>
      <p:sp>
        <p:nvSpPr>
          <p:cNvPr id="5" name="Text 3"/>
          <p:cNvSpPr/>
          <p:nvPr/>
        </p:nvSpPr>
        <p:spPr>
          <a:xfrm>
            <a:off x="411480" y="128016"/>
            <a:ext cx="8321040" cy="475488"/>
          </a:xfrm>
          <a:prstGeom prst="rect">
            <a:avLst/>
          </a:prstGeom>
          <a:noFill/>
          <a:ln/>
        </p:spPr>
        <p:txBody>
          <a:bodyPr wrap="square" lIns="0" tIns="0" rIns="0" bIns="0" rtlCol="0" anchor="ctr"/>
          <a:lstStyle/>
          <a:p>
            <a:pPr marL="0" indent="0" algn="l">
              <a:buNone/>
            </a:pPr>
            <a:r>
              <a:rPr lang="en-US" sz="2200" b="1" dirty="0">
                <a:solidFill>
                  <a:srgbClr val="1A4731"/>
                </a:solidFill>
                <a:latin typeface="Calibri" pitchFamily="34" charset="0"/>
                <a:ea typeface="Calibri" pitchFamily="34" charset="-122"/>
                <a:cs typeface="Calibri" pitchFamily="34" charset="-120"/>
              </a:rPr>
              <a:t>08 Land Cover Classification</a:t>
            </a:r>
            <a:endParaRPr lang="en-US" sz="2200" dirty="0"/>
          </a:p>
        </p:txBody>
      </p:sp>
      <p:sp>
        <p:nvSpPr>
          <p:cNvPr id="7" name="Text 5"/>
          <p:cNvSpPr/>
          <p:nvPr/>
        </p:nvSpPr>
        <p:spPr>
          <a:xfrm>
            <a:off x="189411" y="832104"/>
            <a:ext cx="3840480" cy="274320"/>
          </a:xfrm>
          <a:prstGeom prst="rect">
            <a:avLst/>
          </a:prstGeom>
          <a:noFill/>
          <a:ln/>
        </p:spPr>
        <p:txBody>
          <a:bodyPr wrap="square" lIns="0" tIns="0" rIns="0" bIns="0" rtlCol="0" anchor="ctr"/>
          <a:lstStyle/>
          <a:p>
            <a:pPr marL="0" indent="0">
              <a:buNone/>
            </a:pPr>
            <a:r>
              <a:rPr lang="en-US" sz="1300" b="1" dirty="0">
                <a:solidFill>
                  <a:srgbClr val="1A4731"/>
                </a:solidFill>
                <a:latin typeface="Calibri" pitchFamily="34" charset="0"/>
                <a:ea typeface="Calibri" pitchFamily="34" charset="-122"/>
                <a:cs typeface="Calibri" pitchFamily="34" charset="-120"/>
              </a:rPr>
              <a:t>Random Forest Classifier</a:t>
            </a:r>
            <a:endParaRPr lang="en-US" sz="1300" dirty="0"/>
          </a:p>
        </p:txBody>
      </p:sp>
      <p:sp>
        <p:nvSpPr>
          <p:cNvPr id="8" name="Text 6"/>
          <p:cNvSpPr/>
          <p:nvPr/>
        </p:nvSpPr>
        <p:spPr>
          <a:xfrm>
            <a:off x="189411" y="1197864"/>
            <a:ext cx="1097280" cy="228600"/>
          </a:xfrm>
          <a:prstGeom prst="rect">
            <a:avLst/>
          </a:prstGeom>
          <a:noFill/>
          <a:ln/>
        </p:spPr>
        <p:txBody>
          <a:bodyPr wrap="square" lIns="0" tIns="0" rIns="0" bIns="0" rtlCol="0" anchor="ctr"/>
          <a:lstStyle/>
          <a:p>
            <a:pPr marL="0" indent="0">
              <a:buNone/>
            </a:pPr>
            <a:r>
              <a:rPr lang="en-US" sz="1000" b="1" dirty="0">
                <a:solidFill>
                  <a:srgbClr val="2D6A4F"/>
                </a:solidFill>
                <a:latin typeface="Calibri" pitchFamily="34" charset="0"/>
                <a:ea typeface="Calibri" pitchFamily="34" charset="-122"/>
                <a:cs typeface="Calibri" pitchFamily="34" charset="-120"/>
              </a:rPr>
              <a:t>Trees:</a:t>
            </a:r>
            <a:endParaRPr lang="en-US" sz="1000" dirty="0"/>
          </a:p>
        </p:txBody>
      </p:sp>
      <p:sp>
        <p:nvSpPr>
          <p:cNvPr id="9" name="Text 7"/>
          <p:cNvSpPr/>
          <p:nvPr/>
        </p:nvSpPr>
        <p:spPr>
          <a:xfrm>
            <a:off x="1259259" y="1197864"/>
            <a:ext cx="2788920" cy="228600"/>
          </a:xfrm>
          <a:prstGeom prst="rect">
            <a:avLst/>
          </a:prstGeom>
          <a:noFill/>
          <a:ln/>
        </p:spPr>
        <p:txBody>
          <a:bodyPr wrap="square" lIns="0" tIns="0" rIns="0" bIns="0" rtlCol="0" anchor="ctr"/>
          <a:lstStyle/>
          <a:p>
            <a:pPr marL="0" indent="0">
              <a:buNone/>
            </a:pPr>
            <a:r>
              <a:rPr lang="en-US" sz="1000" dirty="0">
                <a:solidFill>
                  <a:srgbClr val="1C2B22"/>
                </a:solidFill>
                <a:latin typeface="Calibri" pitchFamily="34" charset="0"/>
                <a:ea typeface="Calibri" pitchFamily="34" charset="-122"/>
                <a:cs typeface="Calibri" pitchFamily="34" charset="-120"/>
              </a:rPr>
              <a:t>200  |  Max depth: 15</a:t>
            </a:r>
            <a:endParaRPr lang="en-US" sz="1000" dirty="0"/>
          </a:p>
        </p:txBody>
      </p:sp>
      <p:sp>
        <p:nvSpPr>
          <p:cNvPr id="10" name="Text 8"/>
          <p:cNvSpPr/>
          <p:nvPr/>
        </p:nvSpPr>
        <p:spPr>
          <a:xfrm>
            <a:off x="189411" y="1545336"/>
            <a:ext cx="1097280" cy="228600"/>
          </a:xfrm>
          <a:prstGeom prst="rect">
            <a:avLst/>
          </a:prstGeom>
          <a:noFill/>
          <a:ln/>
        </p:spPr>
        <p:txBody>
          <a:bodyPr wrap="square" lIns="0" tIns="0" rIns="0" bIns="0" rtlCol="0" anchor="ctr"/>
          <a:lstStyle/>
          <a:p>
            <a:pPr marL="0" indent="0">
              <a:buNone/>
            </a:pPr>
            <a:r>
              <a:rPr lang="en-US" sz="1000" b="1" dirty="0">
                <a:solidFill>
                  <a:srgbClr val="2D6A4F"/>
                </a:solidFill>
                <a:latin typeface="Calibri" pitchFamily="34" charset="0"/>
                <a:ea typeface="Calibri" pitchFamily="34" charset="-122"/>
                <a:cs typeface="Calibri" pitchFamily="34" charset="-120"/>
              </a:rPr>
              <a:t>Features:</a:t>
            </a:r>
            <a:endParaRPr lang="en-US" sz="1000" dirty="0"/>
          </a:p>
        </p:txBody>
      </p:sp>
      <p:sp>
        <p:nvSpPr>
          <p:cNvPr id="11" name="Text 9"/>
          <p:cNvSpPr/>
          <p:nvPr/>
        </p:nvSpPr>
        <p:spPr>
          <a:xfrm>
            <a:off x="1259259" y="1545336"/>
            <a:ext cx="2788920" cy="228600"/>
          </a:xfrm>
          <a:prstGeom prst="rect">
            <a:avLst/>
          </a:prstGeom>
          <a:noFill/>
          <a:ln/>
        </p:spPr>
        <p:txBody>
          <a:bodyPr wrap="square" lIns="0" tIns="0" rIns="0" bIns="0" rtlCol="0" anchor="ctr"/>
          <a:lstStyle/>
          <a:p>
            <a:pPr marL="0" indent="0">
              <a:buNone/>
            </a:pPr>
            <a:r>
              <a:rPr lang="en-US" sz="1000" dirty="0">
                <a:solidFill>
                  <a:srgbClr val="1C2B22"/>
                </a:solidFill>
                <a:latin typeface="Calibri" pitchFamily="34" charset="0"/>
                <a:ea typeface="Calibri" pitchFamily="34" charset="-122"/>
                <a:cs typeface="Calibri" pitchFamily="34" charset="-120"/>
              </a:rPr>
              <a:t>11  (6 bands + 5 spectral indices)</a:t>
            </a:r>
            <a:endParaRPr lang="en-US" sz="1000" dirty="0"/>
          </a:p>
        </p:txBody>
      </p:sp>
      <p:sp>
        <p:nvSpPr>
          <p:cNvPr id="12" name="Text 10"/>
          <p:cNvSpPr/>
          <p:nvPr/>
        </p:nvSpPr>
        <p:spPr>
          <a:xfrm>
            <a:off x="189411" y="1892808"/>
            <a:ext cx="1097280" cy="228600"/>
          </a:xfrm>
          <a:prstGeom prst="rect">
            <a:avLst/>
          </a:prstGeom>
          <a:noFill/>
          <a:ln/>
        </p:spPr>
        <p:txBody>
          <a:bodyPr wrap="square" lIns="0" tIns="0" rIns="0" bIns="0" rtlCol="0" anchor="ctr"/>
          <a:lstStyle/>
          <a:p>
            <a:pPr marL="0" indent="0">
              <a:buNone/>
            </a:pPr>
            <a:r>
              <a:rPr lang="en-US" sz="1000" b="1" dirty="0">
                <a:solidFill>
                  <a:srgbClr val="2D6A4F"/>
                </a:solidFill>
                <a:latin typeface="Calibri" pitchFamily="34" charset="0"/>
                <a:ea typeface="Calibri" pitchFamily="34" charset="-122"/>
                <a:cs typeface="Calibri" pitchFamily="34" charset="-120"/>
              </a:rPr>
              <a:t>Training:</a:t>
            </a:r>
            <a:endParaRPr lang="en-US" sz="1000" dirty="0"/>
          </a:p>
        </p:txBody>
      </p:sp>
      <p:sp>
        <p:nvSpPr>
          <p:cNvPr id="13" name="Text 11"/>
          <p:cNvSpPr/>
          <p:nvPr/>
        </p:nvSpPr>
        <p:spPr>
          <a:xfrm>
            <a:off x="1259259" y="1892808"/>
            <a:ext cx="2788920" cy="228600"/>
          </a:xfrm>
          <a:prstGeom prst="rect">
            <a:avLst/>
          </a:prstGeom>
          <a:noFill/>
          <a:ln/>
        </p:spPr>
        <p:txBody>
          <a:bodyPr wrap="square" lIns="0" tIns="0" rIns="0" bIns="0" rtlCol="0" anchor="ctr"/>
          <a:lstStyle/>
          <a:p>
            <a:pPr marL="0" indent="0">
              <a:buNone/>
            </a:pPr>
            <a:r>
              <a:rPr lang="en-US" sz="1000" dirty="0">
                <a:solidFill>
                  <a:srgbClr val="1C2B22"/>
                </a:solidFill>
                <a:latin typeface="Calibri" pitchFamily="34" charset="0"/>
                <a:ea typeface="Calibri" pitchFamily="34" charset="-122"/>
                <a:cs typeface="Calibri" pitchFamily="34" charset="-120"/>
              </a:rPr>
              <a:t>Auto pseudo-labelling (spectral thresholds)</a:t>
            </a:r>
            <a:endParaRPr lang="en-US" sz="1000" dirty="0"/>
          </a:p>
        </p:txBody>
      </p:sp>
      <p:sp>
        <p:nvSpPr>
          <p:cNvPr id="14" name="Text 12"/>
          <p:cNvSpPr/>
          <p:nvPr/>
        </p:nvSpPr>
        <p:spPr>
          <a:xfrm>
            <a:off x="189411" y="2240280"/>
            <a:ext cx="1097280" cy="228600"/>
          </a:xfrm>
          <a:prstGeom prst="rect">
            <a:avLst/>
          </a:prstGeom>
          <a:noFill/>
          <a:ln/>
        </p:spPr>
        <p:txBody>
          <a:bodyPr wrap="square" lIns="0" tIns="0" rIns="0" bIns="0" rtlCol="0" anchor="ctr"/>
          <a:lstStyle/>
          <a:p>
            <a:pPr marL="0" indent="0">
              <a:buNone/>
            </a:pPr>
            <a:r>
              <a:rPr lang="en-US" sz="1000" b="1" dirty="0">
                <a:solidFill>
                  <a:srgbClr val="2D6A4F"/>
                </a:solidFill>
                <a:latin typeface="Calibri" pitchFamily="34" charset="0"/>
                <a:ea typeface="Calibri" pitchFamily="34" charset="-122"/>
                <a:cs typeface="Calibri" pitchFamily="34" charset="-120"/>
              </a:rPr>
              <a:t>Split:</a:t>
            </a:r>
            <a:endParaRPr lang="en-US" sz="1000" dirty="0"/>
          </a:p>
        </p:txBody>
      </p:sp>
      <p:sp>
        <p:nvSpPr>
          <p:cNvPr id="15" name="Text 13"/>
          <p:cNvSpPr/>
          <p:nvPr/>
        </p:nvSpPr>
        <p:spPr>
          <a:xfrm>
            <a:off x="1259259" y="2240280"/>
            <a:ext cx="2788920" cy="228600"/>
          </a:xfrm>
          <a:prstGeom prst="rect">
            <a:avLst/>
          </a:prstGeom>
          <a:noFill/>
          <a:ln/>
        </p:spPr>
        <p:txBody>
          <a:bodyPr wrap="square" lIns="0" tIns="0" rIns="0" bIns="0" rtlCol="0" anchor="ctr"/>
          <a:lstStyle/>
          <a:p>
            <a:pPr marL="0" indent="0">
              <a:buNone/>
            </a:pPr>
            <a:r>
              <a:rPr lang="en-US" sz="1000" dirty="0">
                <a:solidFill>
                  <a:srgbClr val="1C2B22"/>
                </a:solidFill>
                <a:latin typeface="Calibri" pitchFamily="34" charset="0"/>
                <a:ea typeface="Calibri" pitchFamily="34" charset="-122"/>
                <a:cs typeface="Calibri" pitchFamily="34" charset="-120"/>
              </a:rPr>
              <a:t>75 / 25 train / test · stratified</a:t>
            </a:r>
            <a:endParaRPr lang="en-US" sz="1000" dirty="0"/>
          </a:p>
        </p:txBody>
      </p:sp>
      <p:sp>
        <p:nvSpPr>
          <p:cNvPr id="16" name="Text 14"/>
          <p:cNvSpPr/>
          <p:nvPr/>
        </p:nvSpPr>
        <p:spPr>
          <a:xfrm>
            <a:off x="189411" y="2587752"/>
            <a:ext cx="1097280" cy="228600"/>
          </a:xfrm>
          <a:prstGeom prst="rect">
            <a:avLst/>
          </a:prstGeom>
          <a:noFill/>
          <a:ln/>
        </p:spPr>
        <p:txBody>
          <a:bodyPr wrap="square" lIns="0" tIns="0" rIns="0" bIns="0" rtlCol="0" anchor="ctr"/>
          <a:lstStyle/>
          <a:p>
            <a:pPr marL="0" indent="0">
              <a:buNone/>
            </a:pPr>
            <a:r>
              <a:rPr lang="en-US" sz="1000" b="1" dirty="0">
                <a:solidFill>
                  <a:srgbClr val="2D6A4F"/>
                </a:solidFill>
                <a:latin typeface="Calibri" pitchFamily="34" charset="0"/>
                <a:ea typeface="Calibri" pitchFamily="34" charset="-122"/>
                <a:cs typeface="Calibri" pitchFamily="34" charset="-120"/>
              </a:rPr>
              <a:t>Classes:</a:t>
            </a:r>
            <a:endParaRPr lang="en-US" sz="1000" dirty="0"/>
          </a:p>
        </p:txBody>
      </p:sp>
      <p:sp>
        <p:nvSpPr>
          <p:cNvPr id="17" name="Text 15"/>
          <p:cNvSpPr/>
          <p:nvPr/>
        </p:nvSpPr>
        <p:spPr>
          <a:xfrm>
            <a:off x="1259259" y="2587752"/>
            <a:ext cx="2788920" cy="228600"/>
          </a:xfrm>
          <a:prstGeom prst="rect">
            <a:avLst/>
          </a:prstGeom>
          <a:noFill/>
          <a:ln/>
        </p:spPr>
        <p:txBody>
          <a:bodyPr wrap="square" lIns="0" tIns="0" rIns="0" bIns="0" rtlCol="0" anchor="ctr"/>
          <a:lstStyle/>
          <a:p>
            <a:pPr marL="0" indent="0">
              <a:buNone/>
            </a:pPr>
            <a:r>
              <a:rPr lang="en-US" sz="1000" dirty="0">
                <a:solidFill>
                  <a:srgbClr val="1C2B22"/>
                </a:solidFill>
                <a:latin typeface="Calibri" pitchFamily="34" charset="0"/>
                <a:ea typeface="Calibri" pitchFamily="34" charset="-122"/>
                <a:cs typeface="Calibri" pitchFamily="34" charset="-120"/>
              </a:rPr>
              <a:t>Water · Vegetation · Bare Soil · Built-Up</a:t>
            </a:r>
            <a:endParaRPr lang="en-US" sz="1000" dirty="0"/>
          </a:p>
        </p:txBody>
      </p:sp>
      <p:sp>
        <p:nvSpPr>
          <p:cNvPr id="18" name="Shape 16"/>
          <p:cNvSpPr/>
          <p:nvPr/>
        </p:nvSpPr>
        <p:spPr>
          <a:xfrm>
            <a:off x="182880" y="3127248"/>
            <a:ext cx="3840480" cy="1481328"/>
          </a:xfrm>
          <a:prstGeom prst="rect">
            <a:avLst/>
          </a:prstGeom>
          <a:solidFill>
            <a:srgbClr val="F8FAF9"/>
          </a:solidFill>
          <a:ln w="12700">
            <a:solidFill>
              <a:srgbClr val="E8EFF0"/>
            </a:solidFill>
            <a:prstDash val="solid"/>
          </a:ln>
        </p:spPr>
        <p:txBody>
          <a:bodyPr/>
          <a:lstStyle/>
          <a:p>
            <a:endParaRPr lang="en-US"/>
          </a:p>
        </p:txBody>
      </p:sp>
      <p:sp>
        <p:nvSpPr>
          <p:cNvPr id="19" name="Text 17"/>
          <p:cNvSpPr/>
          <p:nvPr/>
        </p:nvSpPr>
        <p:spPr>
          <a:xfrm>
            <a:off x="515983" y="3287921"/>
            <a:ext cx="3657600" cy="219456"/>
          </a:xfrm>
          <a:prstGeom prst="rect">
            <a:avLst/>
          </a:prstGeom>
          <a:noFill/>
          <a:ln/>
        </p:spPr>
        <p:txBody>
          <a:bodyPr wrap="square" lIns="0" tIns="0" rIns="0" bIns="0" rtlCol="0" anchor="ctr"/>
          <a:lstStyle/>
          <a:p>
            <a:pPr marL="0" indent="0">
              <a:buNone/>
            </a:pPr>
            <a:r>
              <a:rPr lang="en-US" sz="1000" b="1" dirty="0">
                <a:solidFill>
                  <a:srgbClr val="1A4731"/>
                </a:solidFill>
                <a:latin typeface="Calibri" pitchFamily="34" charset="0"/>
                <a:ea typeface="Calibri" pitchFamily="34" charset="-122"/>
                <a:cs typeface="Calibri" pitchFamily="34" charset="-120"/>
              </a:rPr>
              <a:t>Pseudo-label rules</a:t>
            </a:r>
            <a:endParaRPr lang="en-US" sz="1000" dirty="0"/>
          </a:p>
        </p:txBody>
      </p:sp>
      <p:sp>
        <p:nvSpPr>
          <p:cNvPr id="20" name="Text 18"/>
          <p:cNvSpPr/>
          <p:nvPr/>
        </p:nvSpPr>
        <p:spPr>
          <a:xfrm>
            <a:off x="515983" y="3543953"/>
            <a:ext cx="3749040" cy="219456"/>
          </a:xfrm>
          <a:prstGeom prst="rect">
            <a:avLst/>
          </a:prstGeom>
          <a:noFill/>
          <a:ln/>
        </p:spPr>
        <p:txBody>
          <a:bodyPr wrap="square" lIns="0" tIns="0" rIns="0" bIns="0" rtlCol="0" anchor="ctr"/>
          <a:lstStyle/>
          <a:p>
            <a:pPr marL="0" indent="0">
              <a:buNone/>
            </a:pPr>
            <a:r>
              <a:rPr lang="en-US" sz="850" dirty="0">
                <a:solidFill>
                  <a:srgbClr val="4A5568"/>
                </a:solidFill>
                <a:latin typeface="Consolas" pitchFamily="34" charset="0"/>
                <a:ea typeface="Consolas" pitchFamily="34" charset="-122"/>
                <a:cs typeface="Consolas" pitchFamily="34" charset="-120"/>
              </a:rPr>
              <a:t>💧 Water:       NDWI &gt; 0.15  AND  NDVI &lt; 0.02</a:t>
            </a:r>
            <a:endParaRPr lang="en-US" sz="850" dirty="0"/>
          </a:p>
        </p:txBody>
      </p:sp>
      <p:sp>
        <p:nvSpPr>
          <p:cNvPr id="21" name="Text 19"/>
          <p:cNvSpPr/>
          <p:nvPr/>
        </p:nvSpPr>
        <p:spPr>
          <a:xfrm>
            <a:off x="515983" y="3781697"/>
            <a:ext cx="3749040" cy="219456"/>
          </a:xfrm>
          <a:prstGeom prst="rect">
            <a:avLst/>
          </a:prstGeom>
          <a:noFill/>
          <a:ln/>
        </p:spPr>
        <p:txBody>
          <a:bodyPr wrap="square" lIns="0" tIns="0" rIns="0" bIns="0" rtlCol="0" anchor="ctr"/>
          <a:lstStyle/>
          <a:p>
            <a:pPr marL="0" indent="0">
              <a:buNone/>
            </a:pPr>
            <a:r>
              <a:rPr lang="en-US" sz="850" dirty="0">
                <a:solidFill>
                  <a:srgbClr val="4A5568"/>
                </a:solidFill>
                <a:latin typeface="Consolas" pitchFamily="34" charset="0"/>
                <a:ea typeface="Consolas" pitchFamily="34" charset="-122"/>
                <a:cs typeface="Consolas" pitchFamily="34" charset="-120"/>
              </a:rPr>
              <a:t>🌿 Vegetation:  NDVI &gt; 0.32  AND  NDWI &lt; −0.05</a:t>
            </a:r>
            <a:endParaRPr lang="en-US" sz="850" dirty="0"/>
          </a:p>
        </p:txBody>
      </p:sp>
      <p:sp>
        <p:nvSpPr>
          <p:cNvPr id="22" name="Text 20"/>
          <p:cNvSpPr/>
          <p:nvPr/>
        </p:nvSpPr>
        <p:spPr>
          <a:xfrm>
            <a:off x="515983" y="4019441"/>
            <a:ext cx="3749040" cy="219456"/>
          </a:xfrm>
          <a:prstGeom prst="rect">
            <a:avLst/>
          </a:prstGeom>
          <a:noFill/>
          <a:ln/>
        </p:spPr>
        <p:txBody>
          <a:bodyPr wrap="square" lIns="0" tIns="0" rIns="0" bIns="0" rtlCol="0" anchor="ctr"/>
          <a:lstStyle/>
          <a:p>
            <a:pPr marL="0" indent="0">
              <a:buNone/>
            </a:pPr>
            <a:r>
              <a:rPr lang="en-US" sz="850" dirty="0">
                <a:solidFill>
                  <a:srgbClr val="4A5568"/>
                </a:solidFill>
                <a:latin typeface="Consolas" pitchFamily="34" charset="0"/>
                <a:ea typeface="Consolas" pitchFamily="34" charset="-122"/>
                <a:cs typeface="Consolas" pitchFamily="34" charset="-120"/>
              </a:rPr>
              <a:t>🏗️ Built-Up:   NDBI &gt; 0.08  AND  NDVI &lt; 0.12</a:t>
            </a:r>
            <a:endParaRPr lang="en-US" sz="850" dirty="0"/>
          </a:p>
        </p:txBody>
      </p:sp>
      <p:sp>
        <p:nvSpPr>
          <p:cNvPr id="23" name="Text 21"/>
          <p:cNvSpPr/>
          <p:nvPr/>
        </p:nvSpPr>
        <p:spPr>
          <a:xfrm>
            <a:off x="515983" y="4257185"/>
            <a:ext cx="3749040" cy="219456"/>
          </a:xfrm>
          <a:prstGeom prst="rect">
            <a:avLst/>
          </a:prstGeom>
          <a:noFill/>
          <a:ln/>
        </p:spPr>
        <p:txBody>
          <a:bodyPr wrap="square" lIns="0" tIns="0" rIns="0" bIns="0" rtlCol="0" anchor="ctr"/>
          <a:lstStyle/>
          <a:p>
            <a:pPr marL="0" indent="0">
              <a:buNone/>
            </a:pPr>
            <a:r>
              <a:rPr lang="en-US" sz="850" dirty="0">
                <a:solidFill>
                  <a:srgbClr val="4A5568"/>
                </a:solidFill>
                <a:latin typeface="Consolas" pitchFamily="34" charset="0"/>
                <a:ea typeface="Consolas" pitchFamily="34" charset="-122"/>
                <a:cs typeface="Consolas" pitchFamily="34" charset="-120"/>
              </a:rPr>
              <a:t>🟤 Bare Soil:   Remaining moderate NDVI pixels</a:t>
            </a:r>
            <a:endParaRPr lang="en-US" sz="850" dirty="0"/>
          </a:p>
        </p:txBody>
      </p:sp>
      <p:pic>
        <p:nvPicPr>
          <p:cNvPr id="24" name="Image 0" descr="preencoded.png"/>
          <p:cNvPicPr>
            <a:picLocks noChangeAspect="1"/>
          </p:cNvPicPr>
          <p:nvPr/>
        </p:nvPicPr>
        <p:blipFill>
          <a:blip r:embed="rId3"/>
          <a:srcRect/>
          <a:stretch/>
        </p:blipFill>
        <p:spPr>
          <a:xfrm>
            <a:off x="3513909" y="749808"/>
            <a:ext cx="5538651" cy="2286000"/>
          </a:xfrm>
          <a:prstGeom prst="rect">
            <a:avLst/>
          </a:prstGeom>
        </p:spPr>
      </p:pic>
      <p:sp>
        <p:nvSpPr>
          <p:cNvPr id="25" name="Text 22"/>
          <p:cNvSpPr/>
          <p:nvPr/>
        </p:nvSpPr>
        <p:spPr>
          <a:xfrm>
            <a:off x="4709160" y="3054096"/>
            <a:ext cx="4251960" cy="201168"/>
          </a:xfrm>
          <a:prstGeom prst="rect">
            <a:avLst/>
          </a:prstGeom>
          <a:noFill/>
          <a:ln/>
        </p:spPr>
        <p:txBody>
          <a:bodyPr wrap="square" rtlCol="0" anchor="ctr"/>
          <a:lstStyle/>
          <a:p>
            <a:pPr marL="0" indent="0" algn="ctr">
              <a:buNone/>
            </a:pPr>
            <a:r>
              <a:rPr lang="en-US" sz="800" i="1" dirty="0">
                <a:solidFill>
                  <a:srgbClr val="90A4AE"/>
                </a:solidFill>
                <a:latin typeface="Calibri" pitchFamily="34" charset="0"/>
                <a:ea typeface="Calibri" pitchFamily="34" charset="-122"/>
                <a:cs typeface="Calibri" pitchFamily="34" charset="-120"/>
              </a:rPr>
              <a:t>Figure 7 – Confusion matrix · Cross-scene validation accuracy · Feature importances</a:t>
            </a:r>
            <a:endParaRPr lang="en-US" sz="800" dirty="0"/>
          </a:p>
        </p:txBody>
      </p:sp>
      <p:pic>
        <p:nvPicPr>
          <p:cNvPr id="26" name="Image 1" descr="preencoded.png"/>
          <p:cNvPicPr>
            <a:picLocks noChangeAspect="1"/>
          </p:cNvPicPr>
          <p:nvPr/>
        </p:nvPicPr>
        <p:blipFill>
          <a:blip r:embed="rId4"/>
          <a:srcRect/>
          <a:stretch/>
        </p:blipFill>
        <p:spPr>
          <a:xfrm>
            <a:off x="4709160" y="3310128"/>
            <a:ext cx="4251960" cy="1554480"/>
          </a:xfrm>
          <a:prstGeom prst="rect">
            <a:avLst/>
          </a:prstGeom>
        </p:spPr>
      </p:pic>
      <p:sp>
        <p:nvSpPr>
          <p:cNvPr id="27" name="Text 23"/>
          <p:cNvSpPr/>
          <p:nvPr/>
        </p:nvSpPr>
        <p:spPr>
          <a:xfrm>
            <a:off x="4709160" y="4882896"/>
            <a:ext cx="4251960" cy="201168"/>
          </a:xfrm>
          <a:prstGeom prst="rect">
            <a:avLst/>
          </a:prstGeom>
          <a:noFill/>
          <a:ln/>
        </p:spPr>
        <p:txBody>
          <a:bodyPr wrap="square" rtlCol="0" anchor="ctr"/>
          <a:lstStyle/>
          <a:p>
            <a:pPr marL="0" indent="0" algn="ctr">
              <a:buNone/>
            </a:pPr>
            <a:r>
              <a:rPr lang="en-US" sz="800" i="1" dirty="0">
                <a:solidFill>
                  <a:srgbClr val="90A4AE"/>
                </a:solidFill>
                <a:latin typeface="Calibri" pitchFamily="34" charset="0"/>
                <a:ea typeface="Calibri" pitchFamily="34" charset="-122"/>
                <a:cs typeface="Calibri" pitchFamily="34" charset="-120"/>
              </a:rPr>
              <a:t>Figure 9 – Classified map 2016 (left) vs 2025 (right) — Green = Vegetation, Brown = Bare Soil</a:t>
            </a:r>
            <a:endParaRPr lang="en-US" sz="800" dirty="0"/>
          </a:p>
        </p:txBody>
      </p:sp>
      <p:sp>
        <p:nvSpPr>
          <p:cNvPr id="28" name="Text 24"/>
          <p:cNvSpPr/>
          <p:nvPr/>
        </p:nvSpPr>
        <p:spPr>
          <a:xfrm>
            <a:off x="8686800" y="4800600"/>
            <a:ext cx="365760" cy="228600"/>
          </a:xfrm>
          <a:prstGeom prst="rect">
            <a:avLst/>
          </a:prstGeom>
          <a:noFill/>
          <a:ln/>
        </p:spPr>
        <p:txBody>
          <a:bodyPr wrap="square" rtlCol="0" anchor="ctr"/>
          <a:lstStyle/>
          <a:p>
            <a:pPr marL="0" indent="0" algn="ctr">
              <a:buNone/>
            </a:pPr>
            <a:r>
              <a:rPr lang="en-US" sz="900" dirty="0">
                <a:solidFill>
                  <a:srgbClr val="90A4AE"/>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4A017"/>
          </a:solidFill>
          <a:ln w="12700">
            <a:solidFill>
              <a:srgbClr val="D4A017"/>
            </a:solidFill>
            <a:prstDash val="solid"/>
          </a:ln>
        </p:spPr>
        <p:txBody>
          <a:bodyPr/>
          <a:lstStyle/>
          <a:p>
            <a:endParaRPr lang="en-US"/>
          </a:p>
        </p:txBody>
      </p:sp>
      <p:sp>
        <p:nvSpPr>
          <p:cNvPr id="4" name="Text 2"/>
          <p:cNvSpPr/>
          <p:nvPr/>
        </p:nvSpPr>
        <p:spPr>
          <a:xfrm>
            <a:off x="411480" y="128016"/>
            <a:ext cx="109728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MEMBER 4</a:t>
            </a:r>
            <a:endParaRPr lang="en-US" sz="900" dirty="0"/>
          </a:p>
        </p:txBody>
      </p:sp>
      <p:sp>
        <p:nvSpPr>
          <p:cNvPr id="5" name="Text 3"/>
          <p:cNvSpPr/>
          <p:nvPr/>
        </p:nvSpPr>
        <p:spPr>
          <a:xfrm>
            <a:off x="411480" y="128016"/>
            <a:ext cx="8321040" cy="475488"/>
          </a:xfrm>
          <a:prstGeom prst="rect">
            <a:avLst/>
          </a:prstGeom>
          <a:noFill/>
          <a:ln/>
        </p:spPr>
        <p:txBody>
          <a:bodyPr wrap="square" lIns="0" tIns="0" rIns="0" bIns="0" rtlCol="0" anchor="ctr"/>
          <a:lstStyle/>
          <a:p>
            <a:pPr marL="0" indent="0" algn="l">
              <a:buNone/>
            </a:pPr>
            <a:r>
              <a:rPr lang="en-US" sz="2200" b="1" dirty="0">
                <a:solidFill>
                  <a:srgbClr val="1A4731"/>
                </a:solidFill>
                <a:latin typeface="Calibri" pitchFamily="34" charset="0"/>
                <a:ea typeface="Calibri" pitchFamily="34" charset="-122"/>
                <a:cs typeface="Calibri" pitchFamily="34" charset="-120"/>
              </a:rPr>
              <a:t>09 Change Detection Results</a:t>
            </a:r>
            <a:endParaRPr lang="en-US" sz="2200" dirty="0"/>
          </a:p>
        </p:txBody>
      </p:sp>
      <p:pic>
        <p:nvPicPr>
          <p:cNvPr id="6" name="Image 0" descr="preencoded.png"/>
          <p:cNvPicPr>
            <a:picLocks noChangeAspect="1"/>
          </p:cNvPicPr>
          <p:nvPr/>
        </p:nvPicPr>
        <p:blipFill>
          <a:blip r:embed="rId3"/>
          <a:srcRect/>
          <a:stretch/>
        </p:blipFill>
        <p:spPr>
          <a:xfrm>
            <a:off x="347472" y="749808"/>
            <a:ext cx="8449056" cy="2670048"/>
          </a:xfrm>
          <a:prstGeom prst="rect">
            <a:avLst/>
          </a:prstGeom>
        </p:spPr>
      </p:pic>
      <p:sp>
        <p:nvSpPr>
          <p:cNvPr id="7" name="Text 4"/>
          <p:cNvSpPr/>
          <p:nvPr/>
        </p:nvSpPr>
        <p:spPr>
          <a:xfrm>
            <a:off x="347472" y="3438144"/>
            <a:ext cx="8449056" cy="201168"/>
          </a:xfrm>
          <a:prstGeom prst="rect">
            <a:avLst/>
          </a:prstGeom>
          <a:noFill/>
          <a:ln/>
        </p:spPr>
        <p:txBody>
          <a:bodyPr wrap="square" rtlCol="0" anchor="ctr"/>
          <a:lstStyle/>
          <a:p>
            <a:pPr marL="0" indent="0" algn="ctr">
              <a:buNone/>
            </a:pPr>
            <a:r>
              <a:rPr lang="en-US" sz="800" i="1" dirty="0">
                <a:solidFill>
                  <a:srgbClr val="90A4AE"/>
                </a:solidFill>
                <a:latin typeface="Calibri" pitchFamily="34" charset="0"/>
                <a:ea typeface="Calibri" pitchFamily="34" charset="-122"/>
                <a:cs typeface="Calibri" pitchFamily="34" charset="-120"/>
              </a:rPr>
              <a:t>Figure 10 – Seasonal-adjusted NDVI change detection.  Left: 2016 baseline NDVI.  Centre: 2025_03 NDVI.  Right: Delta NDVI (red = loss, blue = gain)</a:t>
            </a:r>
            <a:endParaRPr lang="en-US" sz="800" dirty="0"/>
          </a:p>
        </p:txBody>
      </p:sp>
      <p:sp>
        <p:nvSpPr>
          <p:cNvPr id="8" name="Shape 5"/>
          <p:cNvSpPr/>
          <p:nvPr/>
        </p:nvSpPr>
        <p:spPr>
          <a:xfrm>
            <a:off x="347472" y="3703320"/>
            <a:ext cx="2011680" cy="1261872"/>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9" name="Shape 6"/>
          <p:cNvSpPr/>
          <p:nvPr/>
        </p:nvSpPr>
        <p:spPr>
          <a:xfrm>
            <a:off x="347472" y="3703320"/>
            <a:ext cx="2011680" cy="73152"/>
          </a:xfrm>
          <a:prstGeom prst="rect">
            <a:avLst/>
          </a:prstGeom>
          <a:solidFill>
            <a:srgbClr val="C62828"/>
          </a:solidFill>
          <a:ln w="12700">
            <a:solidFill>
              <a:srgbClr val="C62828"/>
            </a:solidFill>
            <a:prstDash val="solid"/>
          </a:ln>
        </p:spPr>
        <p:txBody>
          <a:bodyPr/>
          <a:lstStyle/>
          <a:p>
            <a:endParaRPr lang="en-US"/>
          </a:p>
        </p:txBody>
      </p:sp>
      <p:sp>
        <p:nvSpPr>
          <p:cNvPr id="10" name="Text 7"/>
          <p:cNvSpPr/>
          <p:nvPr/>
        </p:nvSpPr>
        <p:spPr>
          <a:xfrm>
            <a:off x="438912" y="3813048"/>
            <a:ext cx="1828800" cy="402336"/>
          </a:xfrm>
          <a:prstGeom prst="rect">
            <a:avLst/>
          </a:prstGeom>
          <a:noFill/>
          <a:ln/>
        </p:spPr>
        <p:txBody>
          <a:bodyPr wrap="square" lIns="0" tIns="0" rIns="0" bIns="0" rtlCol="0" anchor="ctr"/>
          <a:lstStyle/>
          <a:p>
            <a:pPr marL="0" indent="0" algn="ctr">
              <a:buNone/>
            </a:pPr>
            <a:r>
              <a:rPr lang="en-US" sz="2000" b="1" dirty="0">
                <a:solidFill>
                  <a:srgbClr val="C62828"/>
                </a:solidFill>
                <a:latin typeface="Calibri" pitchFamily="34" charset="0"/>
                <a:ea typeface="Calibri" pitchFamily="34" charset="-122"/>
                <a:cs typeface="Calibri" pitchFamily="34" charset="-120"/>
              </a:rPr>
              <a:t>2022–2023</a:t>
            </a:r>
            <a:endParaRPr lang="en-US" sz="2000" dirty="0"/>
          </a:p>
        </p:txBody>
      </p:sp>
      <p:sp>
        <p:nvSpPr>
          <p:cNvPr id="11" name="Text 8"/>
          <p:cNvSpPr/>
          <p:nvPr/>
        </p:nvSpPr>
        <p:spPr>
          <a:xfrm>
            <a:off x="438912" y="4233672"/>
            <a:ext cx="1828800" cy="201168"/>
          </a:xfrm>
          <a:prstGeom prst="rect">
            <a:avLst/>
          </a:prstGeom>
          <a:noFill/>
          <a:ln/>
        </p:spPr>
        <p:txBody>
          <a:bodyPr wrap="square" lIns="0" tIns="0" rIns="0" bIns="0" rtlCol="0" anchor="ctr"/>
          <a:lstStyle/>
          <a:p>
            <a:pPr marL="0" indent="0" algn="ctr">
              <a:buNone/>
            </a:pPr>
            <a:r>
              <a:rPr lang="en-US" sz="900" b="1" dirty="0">
                <a:solidFill>
                  <a:srgbClr val="1C2B22"/>
                </a:solidFill>
                <a:latin typeface="Calibri" pitchFamily="34" charset="0"/>
                <a:ea typeface="Calibri" pitchFamily="34" charset="-122"/>
                <a:cs typeface="Calibri" pitchFamily="34" charset="-120"/>
              </a:rPr>
              <a:t>Peak loss period</a:t>
            </a:r>
            <a:endParaRPr lang="en-US" sz="900" dirty="0"/>
          </a:p>
        </p:txBody>
      </p:sp>
      <p:sp>
        <p:nvSpPr>
          <p:cNvPr id="12" name="Text 9"/>
          <p:cNvSpPr/>
          <p:nvPr/>
        </p:nvSpPr>
        <p:spPr>
          <a:xfrm>
            <a:off x="438912" y="4434840"/>
            <a:ext cx="1828800" cy="438912"/>
          </a:xfrm>
          <a:prstGeom prst="rect">
            <a:avLst/>
          </a:prstGeom>
          <a:noFill/>
          <a:ln/>
        </p:spPr>
        <p:txBody>
          <a:bodyPr wrap="square" lIns="0" tIns="0" rIns="0" bIns="0" rtlCol="0" anchor="ctr"/>
          <a:lstStyle/>
          <a:p>
            <a:pPr marL="0" indent="0" algn="ctr">
              <a:buNone/>
            </a:pPr>
            <a:r>
              <a:rPr lang="en-US" sz="850" dirty="0">
                <a:solidFill>
                  <a:srgbClr val="90A4AE"/>
                </a:solidFill>
                <a:latin typeface="Calibri" pitchFamily="34" charset="0"/>
                <a:ea typeface="Calibri" pitchFamily="34" charset="-122"/>
                <a:cs typeface="Calibri" pitchFamily="34" charset="-120"/>
              </a:rPr>
              <a:t>−11,042 ha net loss (82.6%)</a:t>
            </a:r>
            <a:endParaRPr lang="en-US" sz="850" dirty="0"/>
          </a:p>
        </p:txBody>
      </p:sp>
      <p:sp>
        <p:nvSpPr>
          <p:cNvPr id="13" name="Shape 10"/>
          <p:cNvSpPr/>
          <p:nvPr/>
        </p:nvSpPr>
        <p:spPr>
          <a:xfrm>
            <a:off x="2468880" y="3703320"/>
            <a:ext cx="2011680" cy="1261872"/>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14" name="Shape 11"/>
          <p:cNvSpPr/>
          <p:nvPr/>
        </p:nvSpPr>
        <p:spPr>
          <a:xfrm>
            <a:off x="2468880" y="3703320"/>
            <a:ext cx="2011680" cy="73152"/>
          </a:xfrm>
          <a:prstGeom prst="rect">
            <a:avLst/>
          </a:prstGeom>
          <a:solidFill>
            <a:srgbClr val="C62828"/>
          </a:solidFill>
          <a:ln w="12700">
            <a:solidFill>
              <a:srgbClr val="C62828"/>
            </a:solidFill>
            <a:prstDash val="solid"/>
          </a:ln>
        </p:spPr>
        <p:txBody>
          <a:bodyPr/>
          <a:lstStyle/>
          <a:p>
            <a:endParaRPr lang="en-US"/>
          </a:p>
        </p:txBody>
      </p:sp>
      <p:sp>
        <p:nvSpPr>
          <p:cNvPr id="15" name="Text 12"/>
          <p:cNvSpPr/>
          <p:nvPr/>
        </p:nvSpPr>
        <p:spPr>
          <a:xfrm>
            <a:off x="2560320" y="3813048"/>
            <a:ext cx="1828800" cy="402336"/>
          </a:xfrm>
          <a:prstGeom prst="rect">
            <a:avLst/>
          </a:prstGeom>
          <a:noFill/>
          <a:ln/>
        </p:spPr>
        <p:txBody>
          <a:bodyPr wrap="square" lIns="0" tIns="0" rIns="0" bIns="0" rtlCol="0" anchor="ctr"/>
          <a:lstStyle/>
          <a:p>
            <a:pPr marL="0" indent="0" algn="ctr">
              <a:buNone/>
            </a:pPr>
            <a:r>
              <a:rPr lang="en-US" sz="2000" b="1" dirty="0">
                <a:solidFill>
                  <a:srgbClr val="C62828"/>
                </a:solidFill>
                <a:latin typeface="Calibri" pitchFamily="34" charset="0"/>
                <a:ea typeface="Calibri" pitchFamily="34" charset="-122"/>
                <a:cs typeface="Calibri" pitchFamily="34" charset="-120"/>
              </a:rPr>
              <a:t>−0.152</a:t>
            </a:r>
            <a:endParaRPr lang="en-US" sz="2000" dirty="0"/>
          </a:p>
        </p:txBody>
      </p:sp>
      <p:sp>
        <p:nvSpPr>
          <p:cNvPr id="16" name="Text 13"/>
          <p:cNvSpPr/>
          <p:nvPr/>
        </p:nvSpPr>
        <p:spPr>
          <a:xfrm>
            <a:off x="2560320" y="4233672"/>
            <a:ext cx="1828800" cy="201168"/>
          </a:xfrm>
          <a:prstGeom prst="rect">
            <a:avLst/>
          </a:prstGeom>
          <a:noFill/>
          <a:ln/>
        </p:spPr>
        <p:txBody>
          <a:bodyPr wrap="square" lIns="0" tIns="0" rIns="0" bIns="0" rtlCol="0" anchor="ctr"/>
          <a:lstStyle/>
          <a:p>
            <a:pPr marL="0" indent="0" algn="ctr">
              <a:buNone/>
            </a:pPr>
            <a:r>
              <a:rPr lang="en-US" sz="900" b="1" dirty="0">
                <a:solidFill>
                  <a:srgbClr val="1C2B22"/>
                </a:solidFill>
                <a:latin typeface="Calibri" pitchFamily="34" charset="0"/>
                <a:ea typeface="Calibri" pitchFamily="34" charset="-122"/>
                <a:cs typeface="Calibri" pitchFamily="34" charset="-120"/>
              </a:rPr>
              <a:t>Delta NDVI</a:t>
            </a:r>
            <a:endParaRPr lang="en-US" sz="900" dirty="0"/>
          </a:p>
        </p:txBody>
      </p:sp>
      <p:sp>
        <p:nvSpPr>
          <p:cNvPr id="17" name="Text 14"/>
          <p:cNvSpPr/>
          <p:nvPr/>
        </p:nvSpPr>
        <p:spPr>
          <a:xfrm>
            <a:off x="2560320" y="4434840"/>
            <a:ext cx="1828800" cy="438912"/>
          </a:xfrm>
          <a:prstGeom prst="rect">
            <a:avLst/>
          </a:prstGeom>
          <a:noFill/>
          <a:ln/>
        </p:spPr>
        <p:txBody>
          <a:bodyPr wrap="square" lIns="0" tIns="0" rIns="0" bIns="0" rtlCol="0" anchor="ctr"/>
          <a:lstStyle/>
          <a:p>
            <a:pPr marL="0" indent="0" algn="ctr">
              <a:buNone/>
            </a:pPr>
            <a:r>
              <a:rPr lang="en-US" sz="850" dirty="0">
                <a:solidFill>
                  <a:srgbClr val="90A4AE"/>
                </a:solidFill>
                <a:latin typeface="Calibri" pitchFamily="34" charset="0"/>
                <a:ea typeface="Calibri" pitchFamily="34" charset="-122"/>
                <a:cs typeface="Calibri" pitchFamily="34" charset="-120"/>
              </a:rPr>
              <a:t>Largest single-step NDVI drop</a:t>
            </a:r>
            <a:endParaRPr lang="en-US" sz="850" dirty="0"/>
          </a:p>
        </p:txBody>
      </p:sp>
      <p:sp>
        <p:nvSpPr>
          <p:cNvPr id="18" name="Shape 15"/>
          <p:cNvSpPr/>
          <p:nvPr/>
        </p:nvSpPr>
        <p:spPr>
          <a:xfrm>
            <a:off x="4590288" y="3703320"/>
            <a:ext cx="2011680" cy="1261872"/>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19" name="Shape 16"/>
          <p:cNvSpPr/>
          <p:nvPr/>
        </p:nvSpPr>
        <p:spPr>
          <a:xfrm>
            <a:off x="4590288" y="3703320"/>
            <a:ext cx="2011680" cy="73152"/>
          </a:xfrm>
          <a:prstGeom prst="rect">
            <a:avLst/>
          </a:prstGeom>
          <a:solidFill>
            <a:srgbClr val="C62828"/>
          </a:solidFill>
          <a:ln w="12700">
            <a:solidFill>
              <a:srgbClr val="C62828"/>
            </a:solidFill>
            <a:prstDash val="solid"/>
          </a:ln>
        </p:spPr>
        <p:txBody>
          <a:bodyPr/>
          <a:lstStyle/>
          <a:p>
            <a:endParaRPr lang="en-US"/>
          </a:p>
        </p:txBody>
      </p:sp>
      <p:sp>
        <p:nvSpPr>
          <p:cNvPr id="20" name="Text 17"/>
          <p:cNvSpPr/>
          <p:nvPr/>
        </p:nvSpPr>
        <p:spPr>
          <a:xfrm>
            <a:off x="4681728" y="3813048"/>
            <a:ext cx="1828800" cy="402336"/>
          </a:xfrm>
          <a:prstGeom prst="rect">
            <a:avLst/>
          </a:prstGeom>
          <a:noFill/>
          <a:ln/>
        </p:spPr>
        <p:txBody>
          <a:bodyPr wrap="square" lIns="0" tIns="0" rIns="0" bIns="0" rtlCol="0" anchor="ctr"/>
          <a:lstStyle/>
          <a:p>
            <a:pPr marL="0" indent="0" algn="ctr">
              <a:buNone/>
            </a:pPr>
            <a:r>
              <a:rPr lang="en-US" sz="2000" b="1" dirty="0">
                <a:solidFill>
                  <a:srgbClr val="C62828"/>
                </a:solidFill>
                <a:latin typeface="Calibri" pitchFamily="34" charset="0"/>
                <a:ea typeface="Calibri" pitchFamily="34" charset="-122"/>
                <a:cs typeface="Calibri" pitchFamily="34" charset="-120"/>
              </a:rPr>
              <a:t>+11,271 ha</a:t>
            </a:r>
            <a:endParaRPr lang="en-US" sz="2000" dirty="0"/>
          </a:p>
        </p:txBody>
      </p:sp>
      <p:sp>
        <p:nvSpPr>
          <p:cNvPr id="21" name="Text 18"/>
          <p:cNvSpPr/>
          <p:nvPr/>
        </p:nvSpPr>
        <p:spPr>
          <a:xfrm>
            <a:off x="4681728" y="4233672"/>
            <a:ext cx="1828800" cy="201168"/>
          </a:xfrm>
          <a:prstGeom prst="rect">
            <a:avLst/>
          </a:prstGeom>
          <a:noFill/>
          <a:ln/>
        </p:spPr>
        <p:txBody>
          <a:bodyPr wrap="square" lIns="0" tIns="0" rIns="0" bIns="0" rtlCol="0" anchor="ctr"/>
          <a:lstStyle/>
          <a:p>
            <a:pPr marL="0" indent="0" algn="ctr">
              <a:buNone/>
            </a:pPr>
            <a:r>
              <a:rPr lang="en-US" sz="900" b="1" dirty="0">
                <a:solidFill>
                  <a:srgbClr val="1C2B22"/>
                </a:solidFill>
                <a:latin typeface="Calibri" pitchFamily="34" charset="0"/>
                <a:ea typeface="Calibri" pitchFamily="34" charset="-122"/>
                <a:cs typeface="Calibri" pitchFamily="34" charset="-120"/>
              </a:rPr>
              <a:t>Recovery</a:t>
            </a:r>
            <a:endParaRPr lang="en-US" sz="900" dirty="0"/>
          </a:p>
        </p:txBody>
      </p:sp>
      <p:sp>
        <p:nvSpPr>
          <p:cNvPr id="22" name="Text 19"/>
          <p:cNvSpPr/>
          <p:nvPr/>
        </p:nvSpPr>
        <p:spPr>
          <a:xfrm>
            <a:off x="4681728" y="4434840"/>
            <a:ext cx="1828800" cy="438912"/>
          </a:xfrm>
          <a:prstGeom prst="rect">
            <a:avLst/>
          </a:prstGeom>
          <a:noFill/>
          <a:ln/>
        </p:spPr>
        <p:txBody>
          <a:bodyPr wrap="square" lIns="0" tIns="0" rIns="0" bIns="0" rtlCol="0" anchor="ctr"/>
          <a:lstStyle/>
          <a:p>
            <a:pPr marL="0" indent="0" algn="ctr">
              <a:buNone/>
            </a:pPr>
            <a:r>
              <a:rPr lang="en-US" sz="850" dirty="0">
                <a:solidFill>
                  <a:srgbClr val="90A4AE"/>
                </a:solidFill>
                <a:latin typeface="Calibri" pitchFamily="34" charset="0"/>
                <a:ea typeface="Calibri" pitchFamily="34" charset="-122"/>
                <a:cs typeface="Calibri" pitchFamily="34" charset="-120"/>
              </a:rPr>
              <a:t>Between 2024/03 and 2025/02</a:t>
            </a:r>
            <a:endParaRPr lang="en-US" sz="850" dirty="0"/>
          </a:p>
        </p:txBody>
      </p:sp>
      <p:sp>
        <p:nvSpPr>
          <p:cNvPr id="23" name="Shape 20"/>
          <p:cNvSpPr/>
          <p:nvPr/>
        </p:nvSpPr>
        <p:spPr>
          <a:xfrm>
            <a:off x="6711696" y="3703320"/>
            <a:ext cx="2011680" cy="1261872"/>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24" name="Shape 21"/>
          <p:cNvSpPr/>
          <p:nvPr/>
        </p:nvSpPr>
        <p:spPr>
          <a:xfrm>
            <a:off x="6711696" y="3703320"/>
            <a:ext cx="2011680" cy="73152"/>
          </a:xfrm>
          <a:prstGeom prst="rect">
            <a:avLst/>
          </a:prstGeom>
          <a:solidFill>
            <a:srgbClr val="C62828"/>
          </a:solidFill>
          <a:ln w="12700">
            <a:solidFill>
              <a:srgbClr val="C62828"/>
            </a:solidFill>
            <a:prstDash val="solid"/>
          </a:ln>
        </p:spPr>
        <p:txBody>
          <a:bodyPr/>
          <a:lstStyle/>
          <a:p>
            <a:endParaRPr lang="en-US"/>
          </a:p>
        </p:txBody>
      </p:sp>
      <p:sp>
        <p:nvSpPr>
          <p:cNvPr id="25" name="Text 22"/>
          <p:cNvSpPr/>
          <p:nvPr/>
        </p:nvSpPr>
        <p:spPr>
          <a:xfrm>
            <a:off x="6803136" y="3813048"/>
            <a:ext cx="1828800" cy="402336"/>
          </a:xfrm>
          <a:prstGeom prst="rect">
            <a:avLst/>
          </a:prstGeom>
          <a:noFill/>
          <a:ln/>
        </p:spPr>
        <p:txBody>
          <a:bodyPr wrap="square" lIns="0" tIns="0" rIns="0" bIns="0" rtlCol="0" anchor="ctr"/>
          <a:lstStyle/>
          <a:p>
            <a:pPr marL="0" indent="0" algn="ctr">
              <a:buNone/>
            </a:pPr>
            <a:r>
              <a:rPr lang="en-US" sz="2000" b="1" dirty="0">
                <a:solidFill>
                  <a:srgbClr val="C62828"/>
                </a:solidFill>
                <a:latin typeface="Calibri" pitchFamily="34" charset="0"/>
                <a:ea typeface="Calibri" pitchFamily="34" charset="-122"/>
                <a:cs typeface="Calibri" pitchFamily="34" charset="-120"/>
              </a:rPr>
              <a:t>Decline</a:t>
            </a:r>
            <a:endParaRPr lang="en-US" sz="2000" dirty="0"/>
          </a:p>
        </p:txBody>
      </p:sp>
      <p:sp>
        <p:nvSpPr>
          <p:cNvPr id="26" name="Text 23"/>
          <p:cNvSpPr/>
          <p:nvPr/>
        </p:nvSpPr>
        <p:spPr>
          <a:xfrm>
            <a:off x="6803136" y="4233672"/>
            <a:ext cx="1828800" cy="201168"/>
          </a:xfrm>
          <a:prstGeom prst="rect">
            <a:avLst/>
          </a:prstGeom>
          <a:noFill/>
          <a:ln/>
        </p:spPr>
        <p:txBody>
          <a:bodyPr wrap="square" lIns="0" tIns="0" rIns="0" bIns="0" rtlCol="0" anchor="ctr"/>
          <a:lstStyle/>
          <a:p>
            <a:pPr marL="0" indent="0" algn="ctr">
              <a:buNone/>
            </a:pPr>
            <a:r>
              <a:rPr lang="en-US" sz="900" b="1" dirty="0">
                <a:solidFill>
                  <a:srgbClr val="1C2B22"/>
                </a:solidFill>
                <a:latin typeface="Calibri" pitchFamily="34" charset="0"/>
                <a:ea typeface="Calibri" pitchFamily="34" charset="-122"/>
                <a:cs typeface="Calibri" pitchFamily="34" charset="-120"/>
              </a:rPr>
              <a:t>Overall trend</a:t>
            </a:r>
            <a:endParaRPr lang="en-US" sz="900" dirty="0"/>
          </a:p>
        </p:txBody>
      </p:sp>
      <p:sp>
        <p:nvSpPr>
          <p:cNvPr id="27" name="Text 24"/>
          <p:cNvSpPr/>
          <p:nvPr/>
        </p:nvSpPr>
        <p:spPr>
          <a:xfrm>
            <a:off x="6803136" y="4434840"/>
            <a:ext cx="1828800" cy="438912"/>
          </a:xfrm>
          <a:prstGeom prst="rect">
            <a:avLst/>
          </a:prstGeom>
          <a:noFill/>
          <a:ln/>
        </p:spPr>
        <p:txBody>
          <a:bodyPr wrap="square" lIns="0" tIns="0" rIns="0" bIns="0" rtlCol="0" anchor="ctr"/>
          <a:lstStyle/>
          <a:p>
            <a:pPr marL="0" indent="0" algn="ctr">
              <a:buNone/>
            </a:pPr>
            <a:r>
              <a:rPr lang="en-US" sz="850" dirty="0">
                <a:solidFill>
                  <a:srgbClr val="90A4AE"/>
                </a:solidFill>
                <a:latin typeface="Calibri" pitchFamily="34" charset="0"/>
                <a:ea typeface="Calibri" pitchFamily="34" charset="-122"/>
                <a:cs typeface="Calibri" pitchFamily="34" charset="-120"/>
              </a:rPr>
              <a:t>Interior &amp; south most affected</a:t>
            </a:r>
            <a:endParaRPr lang="en-US" sz="850" dirty="0"/>
          </a:p>
        </p:txBody>
      </p:sp>
      <p:sp>
        <p:nvSpPr>
          <p:cNvPr id="28" name="Text 25"/>
          <p:cNvSpPr/>
          <p:nvPr/>
        </p:nvSpPr>
        <p:spPr>
          <a:xfrm>
            <a:off x="8686800" y="4800600"/>
            <a:ext cx="365760" cy="228600"/>
          </a:xfrm>
          <a:prstGeom prst="rect">
            <a:avLst/>
          </a:prstGeom>
          <a:noFill/>
          <a:ln/>
        </p:spPr>
        <p:txBody>
          <a:bodyPr wrap="square" rtlCol="0" anchor="ctr"/>
          <a:lstStyle/>
          <a:p>
            <a:pPr marL="0" indent="0" algn="ctr">
              <a:buNone/>
            </a:pPr>
            <a:r>
              <a:rPr lang="en-US" sz="900" dirty="0">
                <a:solidFill>
                  <a:srgbClr val="90A4AE"/>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B71C1C"/>
          </a:solidFill>
          <a:ln w="12700">
            <a:solidFill>
              <a:srgbClr val="B71C1C"/>
            </a:solidFill>
            <a:prstDash val="solid"/>
          </a:ln>
        </p:spPr>
        <p:txBody>
          <a:bodyPr/>
          <a:lstStyle/>
          <a:p>
            <a:endParaRPr lang="en-US"/>
          </a:p>
        </p:txBody>
      </p:sp>
      <p:sp>
        <p:nvSpPr>
          <p:cNvPr id="4" name="Text 2"/>
          <p:cNvSpPr/>
          <p:nvPr/>
        </p:nvSpPr>
        <p:spPr>
          <a:xfrm>
            <a:off x="411480" y="128016"/>
            <a:ext cx="109728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MEMBER 4</a:t>
            </a:r>
            <a:endParaRPr lang="en-US" sz="900" dirty="0"/>
          </a:p>
        </p:txBody>
      </p:sp>
      <p:sp>
        <p:nvSpPr>
          <p:cNvPr id="5" name="Text 3"/>
          <p:cNvSpPr/>
          <p:nvPr/>
        </p:nvSpPr>
        <p:spPr>
          <a:xfrm>
            <a:off x="411480" y="128016"/>
            <a:ext cx="8321040" cy="475488"/>
          </a:xfrm>
          <a:prstGeom prst="rect">
            <a:avLst/>
          </a:prstGeom>
          <a:noFill/>
          <a:ln/>
        </p:spPr>
        <p:txBody>
          <a:bodyPr wrap="square" lIns="0" tIns="0" rIns="0" bIns="0" rtlCol="0" anchor="ctr"/>
          <a:lstStyle/>
          <a:p>
            <a:pPr marL="0" indent="0" algn="l">
              <a:buNone/>
            </a:pPr>
            <a:r>
              <a:rPr lang="en-US" sz="2200" b="1" dirty="0">
                <a:solidFill>
                  <a:srgbClr val="1A4731"/>
                </a:solidFill>
                <a:latin typeface="Calibri" pitchFamily="34" charset="0"/>
                <a:ea typeface="Calibri" pitchFamily="34" charset="-122"/>
                <a:cs typeface="Calibri" pitchFamily="34" charset="-120"/>
              </a:rPr>
              <a:t>10 Land Cover Transitions &amp; Hotspots</a:t>
            </a:r>
            <a:endParaRPr lang="en-US" sz="2200" dirty="0"/>
          </a:p>
        </p:txBody>
      </p:sp>
      <p:pic>
        <p:nvPicPr>
          <p:cNvPr id="6" name="Image 0" descr="preencoded.png"/>
          <p:cNvPicPr>
            <a:picLocks noChangeAspect="1"/>
          </p:cNvPicPr>
          <p:nvPr/>
        </p:nvPicPr>
        <p:blipFill>
          <a:blip r:embed="rId3"/>
          <a:srcRect/>
          <a:stretch/>
        </p:blipFill>
        <p:spPr>
          <a:xfrm>
            <a:off x="347472" y="749808"/>
            <a:ext cx="4206240" cy="3154680"/>
          </a:xfrm>
          <a:prstGeom prst="rect">
            <a:avLst/>
          </a:prstGeom>
        </p:spPr>
      </p:pic>
      <p:sp>
        <p:nvSpPr>
          <p:cNvPr id="7" name="Text 4"/>
          <p:cNvSpPr/>
          <p:nvPr/>
        </p:nvSpPr>
        <p:spPr>
          <a:xfrm>
            <a:off x="347472" y="3913632"/>
            <a:ext cx="4206240" cy="237744"/>
          </a:xfrm>
          <a:prstGeom prst="rect">
            <a:avLst/>
          </a:prstGeom>
          <a:noFill/>
          <a:ln/>
        </p:spPr>
        <p:txBody>
          <a:bodyPr wrap="square" rtlCol="0" anchor="ctr"/>
          <a:lstStyle/>
          <a:p>
            <a:pPr marL="0" indent="0" algn="ctr">
              <a:buNone/>
            </a:pPr>
            <a:r>
              <a:rPr lang="en-US" sz="800" i="1" dirty="0">
                <a:solidFill>
                  <a:srgbClr val="90A4AE"/>
                </a:solidFill>
                <a:latin typeface="Calibri" pitchFamily="34" charset="0"/>
                <a:ea typeface="Calibri" pitchFamily="34" charset="-122"/>
                <a:cs typeface="Calibri" pitchFamily="34" charset="-120"/>
              </a:rPr>
              <a:t>Figure 12 – Normalised transition matrix: % of 2016 pixels moved to each 2025 class</a:t>
            </a:r>
            <a:endParaRPr lang="en-US" sz="800" dirty="0"/>
          </a:p>
        </p:txBody>
      </p:sp>
      <p:pic>
        <p:nvPicPr>
          <p:cNvPr id="8" name="Image 1" descr="preencoded.png"/>
          <p:cNvPicPr>
            <a:picLocks noChangeAspect="1"/>
          </p:cNvPicPr>
          <p:nvPr/>
        </p:nvPicPr>
        <p:blipFill>
          <a:blip r:embed="rId4"/>
          <a:srcRect/>
          <a:stretch/>
        </p:blipFill>
        <p:spPr>
          <a:xfrm>
            <a:off x="4709160" y="749808"/>
            <a:ext cx="4206240" cy="2194560"/>
          </a:xfrm>
          <a:prstGeom prst="rect">
            <a:avLst/>
          </a:prstGeom>
        </p:spPr>
      </p:pic>
      <p:sp>
        <p:nvSpPr>
          <p:cNvPr id="9" name="Text 5"/>
          <p:cNvSpPr/>
          <p:nvPr/>
        </p:nvSpPr>
        <p:spPr>
          <a:xfrm>
            <a:off x="4709160" y="2962656"/>
            <a:ext cx="4206240" cy="201168"/>
          </a:xfrm>
          <a:prstGeom prst="rect">
            <a:avLst/>
          </a:prstGeom>
          <a:noFill/>
          <a:ln/>
        </p:spPr>
        <p:txBody>
          <a:bodyPr wrap="square" rtlCol="0" anchor="ctr"/>
          <a:lstStyle/>
          <a:p>
            <a:pPr marL="0" indent="0" algn="ctr">
              <a:buNone/>
            </a:pPr>
            <a:r>
              <a:rPr lang="en-US" sz="800" i="1" dirty="0">
                <a:solidFill>
                  <a:srgbClr val="90A4AE"/>
                </a:solidFill>
                <a:latin typeface="Calibri" pitchFamily="34" charset="0"/>
                <a:ea typeface="Calibri" pitchFamily="34" charset="-122"/>
                <a:cs typeface="Calibri" pitchFamily="34" charset="-120"/>
              </a:rPr>
              <a:t>Figure 11 – Annualised deforestation vs regrowth rates (ha/year) by time period</a:t>
            </a:r>
            <a:endParaRPr lang="en-US" sz="800" dirty="0"/>
          </a:p>
        </p:txBody>
      </p:sp>
      <p:sp>
        <p:nvSpPr>
          <p:cNvPr id="10" name="Shape 6"/>
          <p:cNvSpPr/>
          <p:nvPr/>
        </p:nvSpPr>
        <p:spPr>
          <a:xfrm>
            <a:off x="4709160" y="3255264"/>
            <a:ext cx="4206240" cy="1755648"/>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11" name="Text 7"/>
          <p:cNvSpPr/>
          <p:nvPr/>
        </p:nvSpPr>
        <p:spPr>
          <a:xfrm>
            <a:off x="4846320" y="3346704"/>
            <a:ext cx="3931920" cy="237744"/>
          </a:xfrm>
          <a:prstGeom prst="rect">
            <a:avLst/>
          </a:prstGeom>
          <a:noFill/>
          <a:ln/>
        </p:spPr>
        <p:txBody>
          <a:bodyPr wrap="square" lIns="0" tIns="0" rIns="0" bIns="0" rtlCol="0" anchor="ctr"/>
          <a:lstStyle/>
          <a:p>
            <a:pPr marL="0" indent="0">
              <a:buNone/>
            </a:pPr>
            <a:r>
              <a:rPr lang="en-US" sz="1100" b="1" dirty="0">
                <a:solidFill>
                  <a:srgbClr val="B71C1C"/>
                </a:solidFill>
                <a:latin typeface="Calibri" pitchFamily="34" charset="0"/>
                <a:ea typeface="Calibri" pitchFamily="34" charset="-122"/>
                <a:cs typeface="Calibri" pitchFamily="34" charset="-120"/>
              </a:rPr>
              <a:t>Key Observations</a:t>
            </a:r>
            <a:endParaRPr lang="en-US" sz="1100" dirty="0"/>
          </a:p>
        </p:txBody>
      </p:sp>
      <p:sp>
        <p:nvSpPr>
          <p:cNvPr id="12" name="Text 8"/>
          <p:cNvSpPr/>
          <p:nvPr/>
        </p:nvSpPr>
        <p:spPr>
          <a:xfrm>
            <a:off x="4846320" y="3657600"/>
            <a:ext cx="3931920" cy="274320"/>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  A large share of 2016 vegetation pixels became Water/Bare Soil by 2025</a:t>
            </a:r>
            <a:endParaRPr lang="en-US" sz="950" dirty="0"/>
          </a:p>
        </p:txBody>
      </p:sp>
      <p:sp>
        <p:nvSpPr>
          <p:cNvPr id="13" name="Text 9"/>
          <p:cNvSpPr/>
          <p:nvPr/>
        </p:nvSpPr>
        <p:spPr>
          <a:xfrm>
            <a:off x="4846320" y="3950208"/>
            <a:ext cx="3931920" cy="274320"/>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  2022–2023 saw the sharpest deforestation spike across all periods</a:t>
            </a:r>
            <a:endParaRPr lang="en-US" sz="950" dirty="0"/>
          </a:p>
        </p:txBody>
      </p:sp>
      <p:sp>
        <p:nvSpPr>
          <p:cNvPr id="14" name="Text 10"/>
          <p:cNvSpPr/>
          <p:nvPr/>
        </p:nvSpPr>
        <p:spPr>
          <a:xfrm>
            <a:off x="4846320" y="4242816"/>
            <a:ext cx="3931920" cy="274320"/>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  Partial regrowth visible in 2024/03 to 2025/02  +11,271 ha</a:t>
            </a:r>
            <a:endParaRPr lang="en-US" sz="950" dirty="0"/>
          </a:p>
        </p:txBody>
      </p:sp>
      <p:sp>
        <p:nvSpPr>
          <p:cNvPr id="15" name="Text 11"/>
          <p:cNvSpPr/>
          <p:nvPr/>
        </p:nvSpPr>
        <p:spPr>
          <a:xfrm>
            <a:off x="4846320" y="4535424"/>
            <a:ext cx="3931920" cy="274320"/>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  Interior and southern zones are persistent loss hotspots</a:t>
            </a:r>
            <a:endParaRPr lang="en-US" sz="950" dirty="0"/>
          </a:p>
        </p:txBody>
      </p:sp>
      <p:sp>
        <p:nvSpPr>
          <p:cNvPr id="16" name="Shape 12"/>
          <p:cNvSpPr/>
          <p:nvPr/>
        </p:nvSpPr>
        <p:spPr>
          <a:xfrm>
            <a:off x="347472" y="4224528"/>
            <a:ext cx="4206240" cy="777240"/>
          </a:xfrm>
          <a:prstGeom prst="rect">
            <a:avLst/>
          </a:prstGeom>
          <a:solidFill>
            <a:srgbClr val="FFF3E0"/>
          </a:solidFill>
          <a:ln w="12700">
            <a:solidFill>
              <a:srgbClr val="FFCC80"/>
            </a:solidFill>
            <a:prstDash val="solid"/>
          </a:ln>
        </p:spPr>
        <p:txBody>
          <a:bodyPr/>
          <a:lstStyle/>
          <a:p>
            <a:endParaRPr lang="en-US"/>
          </a:p>
        </p:txBody>
      </p:sp>
      <p:sp>
        <p:nvSpPr>
          <p:cNvPr id="17" name="Text 13"/>
          <p:cNvSpPr/>
          <p:nvPr/>
        </p:nvSpPr>
        <p:spPr>
          <a:xfrm>
            <a:off x="502920" y="4279392"/>
            <a:ext cx="3913632" cy="658368"/>
          </a:xfrm>
          <a:prstGeom prst="rect">
            <a:avLst/>
          </a:prstGeom>
          <a:noFill/>
          <a:ln/>
        </p:spPr>
        <p:txBody>
          <a:bodyPr wrap="square" lIns="0" tIns="0" rIns="0" bIns="0" rtlCol="0" anchor="ctr"/>
          <a:lstStyle/>
          <a:p>
            <a:pPr marL="0" indent="0">
              <a:buNone/>
            </a:pPr>
            <a:r>
              <a:rPr lang="en-US" sz="850" dirty="0">
                <a:solidFill>
                  <a:srgbClr val="5D4037"/>
                </a:solidFill>
                <a:latin typeface="Calibri" pitchFamily="34" charset="0"/>
                <a:ea typeface="Calibri" pitchFamily="34" charset="-122"/>
                <a:cs typeface="Calibri" pitchFamily="34" charset="-120"/>
              </a:rPr>
              <a:t>Transition Matrix Insight: Of the 40,334 pixels vegetated in 2016, 53,134 pixels (from the Vegetation row) shifted to Water by 2025. This partly reflects lagoon boundary fluctuation but also indicates genuine vegetation-to-water conversion along the lagoon edge.</a:t>
            </a:r>
            <a:endParaRPr lang="en-US" sz="850" dirty="0"/>
          </a:p>
        </p:txBody>
      </p:sp>
      <p:sp>
        <p:nvSpPr>
          <p:cNvPr id="18" name="Text 14"/>
          <p:cNvSpPr/>
          <p:nvPr/>
        </p:nvSpPr>
        <p:spPr>
          <a:xfrm>
            <a:off x="8686800" y="4800600"/>
            <a:ext cx="365760" cy="228600"/>
          </a:xfrm>
          <a:prstGeom prst="rect">
            <a:avLst/>
          </a:prstGeom>
          <a:noFill/>
          <a:ln/>
        </p:spPr>
        <p:txBody>
          <a:bodyPr wrap="square" rtlCol="0" anchor="ctr"/>
          <a:lstStyle/>
          <a:p>
            <a:pPr marL="0" indent="0" algn="ctr">
              <a:buNone/>
            </a:pPr>
            <a:r>
              <a:rPr lang="en-US" sz="900" dirty="0">
                <a:solidFill>
                  <a:srgbClr val="90A4AE"/>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4A017"/>
          </a:solidFill>
          <a:ln w="12700">
            <a:solidFill>
              <a:srgbClr val="D4A017"/>
            </a:solidFill>
            <a:prstDash val="solid"/>
          </a:ln>
        </p:spPr>
        <p:txBody>
          <a:bodyPr/>
          <a:lstStyle/>
          <a:p>
            <a:endParaRPr lang="en-US"/>
          </a:p>
        </p:txBody>
      </p:sp>
      <p:sp>
        <p:nvSpPr>
          <p:cNvPr id="4" name="Text 2"/>
          <p:cNvSpPr/>
          <p:nvPr/>
        </p:nvSpPr>
        <p:spPr>
          <a:xfrm>
            <a:off x="411480" y="128016"/>
            <a:ext cx="109728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MEMBER 4</a:t>
            </a:r>
            <a:endParaRPr lang="en-US" sz="900" dirty="0"/>
          </a:p>
        </p:txBody>
      </p:sp>
      <p:sp>
        <p:nvSpPr>
          <p:cNvPr id="5" name="Text 3"/>
          <p:cNvSpPr/>
          <p:nvPr/>
        </p:nvSpPr>
        <p:spPr>
          <a:xfrm>
            <a:off x="381000" y="0"/>
            <a:ext cx="8321040" cy="475488"/>
          </a:xfrm>
          <a:prstGeom prst="rect">
            <a:avLst/>
          </a:prstGeom>
          <a:noFill/>
          <a:ln/>
        </p:spPr>
        <p:txBody>
          <a:bodyPr wrap="square" lIns="0" tIns="0" rIns="0" bIns="0" rtlCol="0" anchor="ctr"/>
          <a:lstStyle/>
          <a:p>
            <a:pPr marL="0" indent="0" algn="l">
              <a:buNone/>
            </a:pPr>
            <a:r>
              <a:rPr lang="en-US" sz="2200" b="1" dirty="0">
                <a:solidFill>
                  <a:srgbClr val="1A4731"/>
                </a:solidFill>
                <a:latin typeface="Calibri" pitchFamily="34" charset="0"/>
                <a:ea typeface="Calibri" pitchFamily="34" charset="-122"/>
                <a:cs typeface="Calibri" pitchFamily="34" charset="-120"/>
              </a:rPr>
              <a:t>11 Forecasting Results</a:t>
            </a:r>
            <a:endParaRPr lang="en-US" sz="2200" dirty="0"/>
          </a:p>
        </p:txBody>
      </p:sp>
      <p:pic>
        <p:nvPicPr>
          <p:cNvPr id="6" name="Image 0" descr="preencoded.png"/>
          <p:cNvPicPr>
            <a:picLocks noChangeAspect="1"/>
          </p:cNvPicPr>
          <p:nvPr/>
        </p:nvPicPr>
        <p:blipFill>
          <a:blip r:embed="rId3"/>
          <a:srcRect/>
          <a:stretch/>
        </p:blipFill>
        <p:spPr>
          <a:xfrm>
            <a:off x="347472" y="515112"/>
            <a:ext cx="6217920" cy="4572000"/>
          </a:xfrm>
          <a:prstGeom prst="rect">
            <a:avLst/>
          </a:prstGeom>
        </p:spPr>
      </p:pic>
      <p:sp>
        <p:nvSpPr>
          <p:cNvPr id="7" name="Text 4"/>
          <p:cNvSpPr/>
          <p:nvPr/>
        </p:nvSpPr>
        <p:spPr>
          <a:xfrm>
            <a:off x="370332" y="5173980"/>
            <a:ext cx="6217920" cy="164592"/>
          </a:xfrm>
          <a:prstGeom prst="rect">
            <a:avLst/>
          </a:prstGeom>
          <a:noFill/>
          <a:ln/>
        </p:spPr>
        <p:txBody>
          <a:bodyPr wrap="square" rtlCol="0" anchor="ctr"/>
          <a:lstStyle/>
          <a:p>
            <a:pPr marL="0" indent="0" algn="ctr">
              <a:buNone/>
            </a:pPr>
            <a:r>
              <a:rPr lang="en-US" sz="750" i="1" dirty="0">
                <a:solidFill>
                  <a:srgbClr val="90A4AE"/>
                </a:solidFill>
                <a:latin typeface="Calibri" pitchFamily="34" charset="0"/>
                <a:ea typeface="Calibri" pitchFamily="34" charset="-122"/>
                <a:cs typeface="Calibri" pitchFamily="34" charset="-120"/>
              </a:rPr>
              <a:t>Figure 14 – NDVI forecast to 2030 (top), dense veg %, land cover area, and deforestation trends</a:t>
            </a:r>
            <a:endParaRPr lang="en-US" sz="750" dirty="0"/>
          </a:p>
        </p:txBody>
      </p:sp>
      <p:sp>
        <p:nvSpPr>
          <p:cNvPr id="8" name="Shape 5"/>
          <p:cNvSpPr/>
          <p:nvPr/>
        </p:nvSpPr>
        <p:spPr>
          <a:xfrm>
            <a:off x="6748272" y="749808"/>
            <a:ext cx="2212848" cy="1051560"/>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9" name="Shape 6"/>
          <p:cNvSpPr/>
          <p:nvPr/>
        </p:nvSpPr>
        <p:spPr>
          <a:xfrm>
            <a:off x="6748272" y="749808"/>
            <a:ext cx="73152" cy="1051560"/>
          </a:xfrm>
          <a:prstGeom prst="rect">
            <a:avLst/>
          </a:prstGeom>
          <a:solidFill>
            <a:srgbClr val="0277BD"/>
          </a:solidFill>
          <a:ln w="12700">
            <a:solidFill>
              <a:srgbClr val="0277BD"/>
            </a:solidFill>
            <a:prstDash val="solid"/>
          </a:ln>
        </p:spPr>
        <p:txBody>
          <a:bodyPr/>
          <a:lstStyle/>
          <a:p>
            <a:endParaRPr lang="en-US"/>
          </a:p>
        </p:txBody>
      </p:sp>
      <p:sp>
        <p:nvSpPr>
          <p:cNvPr id="10" name="Text 7"/>
          <p:cNvSpPr/>
          <p:nvPr/>
        </p:nvSpPr>
        <p:spPr>
          <a:xfrm>
            <a:off x="6903720" y="841248"/>
            <a:ext cx="1965960" cy="237744"/>
          </a:xfrm>
          <a:prstGeom prst="rect">
            <a:avLst/>
          </a:prstGeom>
          <a:noFill/>
          <a:ln/>
        </p:spPr>
        <p:txBody>
          <a:bodyPr wrap="square" lIns="0" tIns="0" rIns="0" bIns="0" rtlCol="0" anchor="ctr"/>
          <a:lstStyle/>
          <a:p>
            <a:pPr marL="0" indent="0">
              <a:buNone/>
            </a:pPr>
            <a:r>
              <a:rPr lang="en-US" sz="1000" b="1" dirty="0">
                <a:solidFill>
                  <a:srgbClr val="1C2B22"/>
                </a:solidFill>
                <a:latin typeface="Calibri" pitchFamily="34" charset="0"/>
                <a:ea typeface="Calibri" pitchFamily="34" charset="-122"/>
                <a:cs typeface="Calibri" pitchFamily="34" charset="-120"/>
              </a:rPr>
              <a:t>Linear Regression</a:t>
            </a:r>
            <a:endParaRPr lang="en-US" sz="1000" dirty="0"/>
          </a:p>
        </p:txBody>
      </p:sp>
      <p:sp>
        <p:nvSpPr>
          <p:cNvPr id="11" name="Text 8"/>
          <p:cNvSpPr/>
          <p:nvPr/>
        </p:nvSpPr>
        <p:spPr>
          <a:xfrm>
            <a:off x="6903720" y="1097280"/>
            <a:ext cx="1965960" cy="594360"/>
          </a:xfrm>
          <a:prstGeom prst="rect">
            <a:avLst/>
          </a:prstGeom>
          <a:noFill/>
          <a:ln/>
        </p:spPr>
        <p:txBody>
          <a:bodyPr wrap="square" lIns="0" tIns="0" rIns="0" bIns="0" rtlCol="0" anchor="ctr"/>
          <a:lstStyle/>
          <a:p>
            <a:pPr marL="0" indent="0">
              <a:buNone/>
            </a:pPr>
            <a:r>
              <a:rPr lang="en-US" sz="850" dirty="0">
                <a:solidFill>
                  <a:srgbClr val="4A5568"/>
                </a:solidFill>
                <a:latin typeface="Calibri" pitchFamily="34" charset="0"/>
                <a:ea typeface="Calibri" pitchFamily="34" charset="-122"/>
                <a:cs typeface="Calibri" pitchFamily="34" charset="-120"/>
              </a:rPr>
              <a:t>Captures the overall downward trend. Long-term slope is negative, confirming vegetation decline.</a:t>
            </a:r>
            <a:endParaRPr lang="en-US" sz="850" dirty="0"/>
          </a:p>
        </p:txBody>
      </p:sp>
      <p:sp>
        <p:nvSpPr>
          <p:cNvPr id="12" name="Shape 9"/>
          <p:cNvSpPr/>
          <p:nvPr/>
        </p:nvSpPr>
        <p:spPr>
          <a:xfrm>
            <a:off x="6748272" y="1901952"/>
            <a:ext cx="2212848" cy="1051560"/>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13" name="Shape 10"/>
          <p:cNvSpPr/>
          <p:nvPr/>
        </p:nvSpPr>
        <p:spPr>
          <a:xfrm>
            <a:off x="6748272" y="1901952"/>
            <a:ext cx="73152" cy="1051560"/>
          </a:xfrm>
          <a:prstGeom prst="rect">
            <a:avLst/>
          </a:prstGeom>
          <a:solidFill>
            <a:srgbClr val="6A1599"/>
          </a:solidFill>
          <a:ln w="12700">
            <a:solidFill>
              <a:srgbClr val="6A1599"/>
            </a:solidFill>
            <a:prstDash val="solid"/>
          </a:ln>
        </p:spPr>
        <p:txBody>
          <a:bodyPr/>
          <a:lstStyle/>
          <a:p>
            <a:endParaRPr lang="en-US"/>
          </a:p>
        </p:txBody>
      </p:sp>
      <p:sp>
        <p:nvSpPr>
          <p:cNvPr id="14" name="Text 11"/>
          <p:cNvSpPr/>
          <p:nvPr/>
        </p:nvSpPr>
        <p:spPr>
          <a:xfrm>
            <a:off x="6903720" y="1993392"/>
            <a:ext cx="1965960" cy="237744"/>
          </a:xfrm>
          <a:prstGeom prst="rect">
            <a:avLst/>
          </a:prstGeom>
          <a:noFill/>
          <a:ln/>
        </p:spPr>
        <p:txBody>
          <a:bodyPr wrap="square" lIns="0" tIns="0" rIns="0" bIns="0" rtlCol="0" anchor="ctr"/>
          <a:lstStyle/>
          <a:p>
            <a:pPr marL="0" indent="0">
              <a:buNone/>
            </a:pPr>
            <a:r>
              <a:rPr lang="en-US" sz="1000" b="1" dirty="0">
                <a:solidFill>
                  <a:srgbClr val="1C2B22"/>
                </a:solidFill>
                <a:latin typeface="Calibri" pitchFamily="34" charset="0"/>
                <a:ea typeface="Calibri" pitchFamily="34" charset="-122"/>
                <a:cs typeface="Calibri" pitchFamily="34" charset="-120"/>
              </a:rPr>
              <a:t>Polynomial Regression</a:t>
            </a:r>
            <a:endParaRPr lang="en-US" sz="1000" dirty="0"/>
          </a:p>
        </p:txBody>
      </p:sp>
      <p:sp>
        <p:nvSpPr>
          <p:cNvPr id="15" name="Text 12"/>
          <p:cNvSpPr/>
          <p:nvPr/>
        </p:nvSpPr>
        <p:spPr>
          <a:xfrm>
            <a:off x="6903720" y="2249424"/>
            <a:ext cx="1965960" cy="594360"/>
          </a:xfrm>
          <a:prstGeom prst="rect">
            <a:avLst/>
          </a:prstGeom>
          <a:noFill/>
          <a:ln/>
        </p:spPr>
        <p:txBody>
          <a:bodyPr wrap="square" lIns="0" tIns="0" rIns="0" bIns="0" rtlCol="0" anchor="ctr"/>
          <a:lstStyle/>
          <a:p>
            <a:pPr marL="0" indent="0">
              <a:buNone/>
            </a:pPr>
            <a:r>
              <a:rPr lang="en-US" sz="850" dirty="0">
                <a:solidFill>
                  <a:srgbClr val="4A5568"/>
                </a:solidFill>
                <a:latin typeface="Calibri" pitchFamily="34" charset="0"/>
                <a:ea typeface="Calibri" pitchFamily="34" charset="-122"/>
                <a:cs typeface="Calibri" pitchFamily="34" charset="-120"/>
              </a:rPr>
              <a:t>Degree-2 fit. Shows acceleration of loss in 2022–2023 and potential levelling after 2024.</a:t>
            </a:r>
            <a:endParaRPr lang="en-US" sz="850" dirty="0"/>
          </a:p>
        </p:txBody>
      </p:sp>
      <p:sp>
        <p:nvSpPr>
          <p:cNvPr id="16" name="Shape 13"/>
          <p:cNvSpPr/>
          <p:nvPr/>
        </p:nvSpPr>
        <p:spPr>
          <a:xfrm>
            <a:off x="6748272" y="3054096"/>
            <a:ext cx="2212848" cy="1051560"/>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17" name="Shape 14"/>
          <p:cNvSpPr/>
          <p:nvPr/>
        </p:nvSpPr>
        <p:spPr>
          <a:xfrm>
            <a:off x="6748272" y="3054096"/>
            <a:ext cx="73152" cy="1051560"/>
          </a:xfrm>
          <a:prstGeom prst="rect">
            <a:avLst/>
          </a:prstGeom>
          <a:solidFill>
            <a:srgbClr val="C62828"/>
          </a:solidFill>
          <a:ln w="12700">
            <a:solidFill>
              <a:srgbClr val="C62828"/>
            </a:solidFill>
            <a:prstDash val="solid"/>
          </a:ln>
        </p:spPr>
        <p:txBody>
          <a:bodyPr/>
          <a:lstStyle/>
          <a:p>
            <a:endParaRPr lang="en-US"/>
          </a:p>
        </p:txBody>
      </p:sp>
      <p:sp>
        <p:nvSpPr>
          <p:cNvPr id="18" name="Text 15"/>
          <p:cNvSpPr/>
          <p:nvPr/>
        </p:nvSpPr>
        <p:spPr>
          <a:xfrm>
            <a:off x="6903720" y="3145536"/>
            <a:ext cx="1965960" cy="237744"/>
          </a:xfrm>
          <a:prstGeom prst="rect">
            <a:avLst/>
          </a:prstGeom>
          <a:noFill/>
          <a:ln/>
        </p:spPr>
        <p:txBody>
          <a:bodyPr wrap="square" lIns="0" tIns="0" rIns="0" bIns="0" rtlCol="0" anchor="ctr"/>
          <a:lstStyle/>
          <a:p>
            <a:pPr marL="0" indent="0">
              <a:buNone/>
            </a:pPr>
            <a:r>
              <a:rPr lang="en-US" sz="1000" b="1" dirty="0">
                <a:solidFill>
                  <a:srgbClr val="1C2B22"/>
                </a:solidFill>
                <a:latin typeface="Calibri" pitchFamily="34" charset="0"/>
                <a:ea typeface="Calibri" pitchFamily="34" charset="-122"/>
                <a:cs typeface="Calibri" pitchFamily="34" charset="-120"/>
              </a:rPr>
              <a:t>Gradient Boosting</a:t>
            </a:r>
            <a:endParaRPr lang="en-US" sz="1000" dirty="0"/>
          </a:p>
        </p:txBody>
      </p:sp>
      <p:sp>
        <p:nvSpPr>
          <p:cNvPr id="19" name="Text 16"/>
          <p:cNvSpPr/>
          <p:nvPr/>
        </p:nvSpPr>
        <p:spPr>
          <a:xfrm>
            <a:off x="6903720" y="3401568"/>
            <a:ext cx="1965960" cy="594360"/>
          </a:xfrm>
          <a:prstGeom prst="rect">
            <a:avLst/>
          </a:prstGeom>
          <a:noFill/>
          <a:ln/>
        </p:spPr>
        <p:txBody>
          <a:bodyPr wrap="square" lIns="0" tIns="0" rIns="0" bIns="0" rtlCol="0" anchor="ctr"/>
          <a:lstStyle/>
          <a:p>
            <a:pPr marL="0" indent="0">
              <a:buNone/>
            </a:pPr>
            <a:r>
              <a:rPr lang="en-US" sz="850" dirty="0">
                <a:solidFill>
                  <a:srgbClr val="4A5568"/>
                </a:solidFill>
                <a:latin typeface="Calibri" pitchFamily="34" charset="0"/>
                <a:ea typeface="Calibri" pitchFamily="34" charset="-122"/>
                <a:cs typeface="Calibri" pitchFamily="34" charset="-120"/>
              </a:rPr>
              <a:t>Non-parametric approach. Fits the complex, episodic historical patterns more closely.</a:t>
            </a:r>
            <a:endParaRPr lang="en-US" sz="850" dirty="0"/>
          </a:p>
        </p:txBody>
      </p:sp>
      <p:sp>
        <p:nvSpPr>
          <p:cNvPr id="20" name="Shape 17"/>
          <p:cNvSpPr/>
          <p:nvPr/>
        </p:nvSpPr>
        <p:spPr>
          <a:xfrm>
            <a:off x="6748272" y="4206240"/>
            <a:ext cx="2212848" cy="1051560"/>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21" name="Shape 18"/>
          <p:cNvSpPr/>
          <p:nvPr/>
        </p:nvSpPr>
        <p:spPr>
          <a:xfrm>
            <a:off x="6748272" y="4206240"/>
            <a:ext cx="73152" cy="1051560"/>
          </a:xfrm>
          <a:prstGeom prst="rect">
            <a:avLst/>
          </a:prstGeom>
          <a:solidFill>
            <a:srgbClr val="D4A017"/>
          </a:solidFill>
          <a:ln w="12700">
            <a:solidFill>
              <a:srgbClr val="D4A017"/>
            </a:solidFill>
            <a:prstDash val="solid"/>
          </a:ln>
        </p:spPr>
        <p:txBody>
          <a:bodyPr/>
          <a:lstStyle/>
          <a:p>
            <a:endParaRPr lang="en-US"/>
          </a:p>
        </p:txBody>
      </p:sp>
      <p:sp>
        <p:nvSpPr>
          <p:cNvPr id="22" name="Text 19"/>
          <p:cNvSpPr/>
          <p:nvPr/>
        </p:nvSpPr>
        <p:spPr>
          <a:xfrm>
            <a:off x="6903720" y="4297680"/>
            <a:ext cx="1965960" cy="237744"/>
          </a:xfrm>
          <a:prstGeom prst="rect">
            <a:avLst/>
          </a:prstGeom>
          <a:noFill/>
          <a:ln/>
        </p:spPr>
        <p:txBody>
          <a:bodyPr wrap="square" lIns="0" tIns="0" rIns="0" bIns="0" rtlCol="0" anchor="ctr"/>
          <a:lstStyle/>
          <a:p>
            <a:pPr marL="0" indent="0">
              <a:buNone/>
            </a:pPr>
            <a:r>
              <a:rPr lang="en-US" sz="1000" b="1" dirty="0">
                <a:solidFill>
                  <a:srgbClr val="1C2B22"/>
                </a:solidFill>
                <a:latin typeface="Calibri" pitchFamily="34" charset="0"/>
                <a:ea typeface="Calibri" pitchFamily="34" charset="-122"/>
                <a:cs typeface="Calibri" pitchFamily="34" charset="-120"/>
              </a:rPr>
              <a:t>Ensemble Forecast</a:t>
            </a:r>
            <a:endParaRPr lang="en-US" sz="1000" dirty="0"/>
          </a:p>
        </p:txBody>
      </p:sp>
      <p:sp>
        <p:nvSpPr>
          <p:cNvPr id="23" name="Text 20"/>
          <p:cNvSpPr/>
          <p:nvPr/>
        </p:nvSpPr>
        <p:spPr>
          <a:xfrm>
            <a:off x="6903720" y="4553712"/>
            <a:ext cx="1965960" cy="594360"/>
          </a:xfrm>
          <a:prstGeom prst="rect">
            <a:avLst/>
          </a:prstGeom>
          <a:noFill/>
          <a:ln/>
        </p:spPr>
        <p:txBody>
          <a:bodyPr wrap="square" lIns="0" tIns="0" rIns="0" bIns="0" rtlCol="0" anchor="ctr"/>
          <a:lstStyle/>
          <a:p>
            <a:pPr marL="0" indent="0">
              <a:buNone/>
            </a:pPr>
            <a:r>
              <a:rPr lang="en-US" sz="850" dirty="0">
                <a:solidFill>
                  <a:srgbClr val="4A5568"/>
                </a:solidFill>
                <a:latin typeface="Calibri" pitchFamily="34" charset="0"/>
                <a:ea typeface="Calibri" pitchFamily="34" charset="-122"/>
                <a:cs typeface="Calibri" pitchFamily="34" charset="-120"/>
              </a:rPr>
              <a:t>Average of all three models. Red line in top panel. Widening CI shows forecast uncertainty grows toward 2030.</a:t>
            </a:r>
            <a:endParaRPr lang="en-US" sz="850" dirty="0"/>
          </a:p>
        </p:txBody>
      </p:sp>
      <p:sp>
        <p:nvSpPr>
          <p:cNvPr id="24" name="Shape 21"/>
          <p:cNvSpPr/>
          <p:nvPr/>
        </p:nvSpPr>
        <p:spPr>
          <a:xfrm>
            <a:off x="6748272" y="5120640"/>
            <a:ext cx="2212848" cy="384048"/>
          </a:xfrm>
          <a:prstGeom prst="rect">
            <a:avLst/>
          </a:prstGeom>
          <a:solidFill>
            <a:srgbClr val="FFF9C4"/>
          </a:solidFill>
          <a:ln w="12700">
            <a:solidFill>
              <a:srgbClr val="F9A825"/>
            </a:solidFill>
            <a:prstDash val="solid"/>
          </a:ln>
        </p:spPr>
        <p:txBody>
          <a:bodyPr/>
          <a:lstStyle/>
          <a:p>
            <a:endParaRPr lang="en-US"/>
          </a:p>
        </p:txBody>
      </p:sp>
      <p:sp>
        <p:nvSpPr>
          <p:cNvPr id="25" name="Text 22"/>
          <p:cNvSpPr/>
          <p:nvPr/>
        </p:nvSpPr>
        <p:spPr>
          <a:xfrm>
            <a:off x="6839712" y="5148072"/>
            <a:ext cx="2048256" cy="347472"/>
          </a:xfrm>
          <a:prstGeom prst="rect">
            <a:avLst/>
          </a:prstGeom>
          <a:noFill/>
          <a:ln/>
        </p:spPr>
        <p:txBody>
          <a:bodyPr wrap="square" lIns="0" tIns="0" rIns="0" bIns="0" rtlCol="0" anchor="ctr"/>
          <a:lstStyle/>
          <a:p>
            <a:pPr marL="0" indent="0">
              <a:buNone/>
            </a:pPr>
            <a:r>
              <a:rPr lang="en-US" sz="750" dirty="0">
                <a:solidFill>
                  <a:srgbClr val="5D4037"/>
                </a:solidFill>
                <a:latin typeface="Calibri" pitchFamily="34" charset="0"/>
                <a:ea typeface="Calibri" pitchFamily="34" charset="-122"/>
                <a:cs typeface="Calibri" pitchFamily="34" charset="-120"/>
              </a:rPr>
              <a:t>⚠  Models are trend extrapolations — not scenario-based. They don't include rainfall or policy factors.</a:t>
            </a:r>
            <a:endParaRPr lang="en-US" sz="750" dirty="0"/>
          </a:p>
        </p:txBody>
      </p:sp>
      <p:sp>
        <p:nvSpPr>
          <p:cNvPr id="26" name="Text 23"/>
          <p:cNvSpPr/>
          <p:nvPr/>
        </p:nvSpPr>
        <p:spPr>
          <a:xfrm>
            <a:off x="8686800" y="4800600"/>
            <a:ext cx="365760" cy="228600"/>
          </a:xfrm>
          <a:prstGeom prst="rect">
            <a:avLst/>
          </a:prstGeom>
          <a:noFill/>
          <a:ln/>
        </p:spPr>
        <p:txBody>
          <a:bodyPr wrap="square" rtlCol="0" anchor="ctr"/>
          <a:lstStyle/>
          <a:p>
            <a:pPr marL="0" indent="0" algn="ctr">
              <a:buNone/>
            </a:pPr>
            <a:r>
              <a:rPr lang="en-US" sz="900" dirty="0">
                <a:solidFill>
                  <a:srgbClr val="90A4AE"/>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D6A4F"/>
          </a:solidFill>
          <a:ln w="12700">
            <a:solidFill>
              <a:srgbClr val="2D6A4F"/>
            </a:solidFill>
            <a:prstDash val="solid"/>
          </a:ln>
        </p:spPr>
        <p:txBody>
          <a:bodyPr/>
          <a:lstStyle/>
          <a:p>
            <a:endParaRPr lang="en-US"/>
          </a:p>
        </p:txBody>
      </p:sp>
      <p:sp>
        <p:nvSpPr>
          <p:cNvPr id="4" name="Text 2"/>
          <p:cNvSpPr/>
          <p:nvPr/>
        </p:nvSpPr>
        <p:spPr>
          <a:xfrm>
            <a:off x="411480" y="128016"/>
            <a:ext cx="109728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MEMBER 4</a:t>
            </a:r>
            <a:endParaRPr lang="en-US" sz="900" dirty="0"/>
          </a:p>
        </p:txBody>
      </p:sp>
      <p:sp>
        <p:nvSpPr>
          <p:cNvPr id="5" name="Text 3"/>
          <p:cNvSpPr/>
          <p:nvPr/>
        </p:nvSpPr>
        <p:spPr>
          <a:xfrm>
            <a:off x="411480" y="128016"/>
            <a:ext cx="8321040" cy="475488"/>
          </a:xfrm>
          <a:prstGeom prst="rect">
            <a:avLst/>
          </a:prstGeom>
          <a:noFill/>
          <a:ln/>
        </p:spPr>
        <p:txBody>
          <a:bodyPr wrap="square" lIns="0" tIns="0" rIns="0" bIns="0" rtlCol="0" anchor="ctr"/>
          <a:lstStyle/>
          <a:p>
            <a:pPr marL="0" indent="0" algn="l">
              <a:buNone/>
            </a:pPr>
            <a:r>
              <a:rPr lang="en-US" sz="2200" b="1" dirty="0">
                <a:solidFill>
                  <a:srgbClr val="1A4731"/>
                </a:solidFill>
                <a:latin typeface="Calibri" pitchFamily="34" charset="0"/>
                <a:ea typeface="Calibri" pitchFamily="34" charset="-122"/>
                <a:cs typeface="Calibri" pitchFamily="34" charset="-120"/>
              </a:rPr>
              <a:t>12 Results &amp; Discussion</a:t>
            </a:r>
            <a:endParaRPr lang="en-US" sz="2200" dirty="0"/>
          </a:p>
        </p:txBody>
      </p:sp>
      <p:sp>
        <p:nvSpPr>
          <p:cNvPr id="6" name="Shape 4"/>
          <p:cNvSpPr/>
          <p:nvPr/>
        </p:nvSpPr>
        <p:spPr>
          <a:xfrm>
            <a:off x="347472" y="777240"/>
            <a:ext cx="4206240" cy="960120"/>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7" name="Text 5"/>
          <p:cNvSpPr/>
          <p:nvPr/>
        </p:nvSpPr>
        <p:spPr>
          <a:xfrm>
            <a:off x="502920" y="868680"/>
            <a:ext cx="3913632" cy="237744"/>
          </a:xfrm>
          <a:prstGeom prst="rect">
            <a:avLst/>
          </a:prstGeom>
          <a:noFill/>
          <a:ln/>
        </p:spPr>
        <p:txBody>
          <a:bodyPr wrap="square" lIns="0" tIns="0" rIns="0" bIns="0" rtlCol="0" anchor="ctr"/>
          <a:lstStyle/>
          <a:p>
            <a:pPr marL="0" indent="0">
              <a:buNone/>
            </a:pPr>
            <a:r>
              <a:rPr lang="en-US" sz="1100" b="1" dirty="0">
                <a:solidFill>
                  <a:srgbClr val="1A4731"/>
                </a:solidFill>
                <a:latin typeface="Calibri" pitchFamily="34" charset="0"/>
                <a:ea typeface="Calibri" pitchFamily="34" charset="-122"/>
                <a:cs typeface="Calibri" pitchFamily="34" charset="-120"/>
              </a:rPr>
              <a:t>Vegetation Decline</a:t>
            </a:r>
            <a:endParaRPr lang="en-US" sz="1100" dirty="0"/>
          </a:p>
        </p:txBody>
      </p:sp>
      <p:sp>
        <p:nvSpPr>
          <p:cNvPr id="8" name="Text 6"/>
          <p:cNvSpPr/>
          <p:nvPr/>
        </p:nvSpPr>
        <p:spPr>
          <a:xfrm>
            <a:off x="502920" y="1124712"/>
            <a:ext cx="3913632" cy="530352"/>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Overall NDVI trend is negative 2016–2025. Most pronounced loss in interior and southern zones.</a:t>
            </a:r>
            <a:endParaRPr lang="en-US" sz="950" dirty="0"/>
          </a:p>
        </p:txBody>
      </p:sp>
      <p:sp>
        <p:nvSpPr>
          <p:cNvPr id="9" name="Shape 7"/>
          <p:cNvSpPr/>
          <p:nvPr/>
        </p:nvSpPr>
        <p:spPr>
          <a:xfrm>
            <a:off x="347472" y="1828800"/>
            <a:ext cx="4206240" cy="960120"/>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10" name="Text 8"/>
          <p:cNvSpPr/>
          <p:nvPr/>
        </p:nvSpPr>
        <p:spPr>
          <a:xfrm>
            <a:off x="502920" y="1920240"/>
            <a:ext cx="3913632" cy="237744"/>
          </a:xfrm>
          <a:prstGeom prst="rect">
            <a:avLst/>
          </a:prstGeom>
          <a:noFill/>
          <a:ln/>
        </p:spPr>
        <p:txBody>
          <a:bodyPr wrap="square" lIns="0" tIns="0" rIns="0" bIns="0" rtlCol="0" anchor="ctr"/>
          <a:lstStyle/>
          <a:p>
            <a:pPr marL="0" indent="0">
              <a:buNone/>
            </a:pPr>
            <a:r>
              <a:rPr lang="en-US" sz="1100" b="1" dirty="0">
                <a:solidFill>
                  <a:srgbClr val="1A4731"/>
                </a:solidFill>
                <a:latin typeface="Calibri" pitchFamily="34" charset="0"/>
                <a:ea typeface="Calibri" pitchFamily="34" charset="-122"/>
                <a:cs typeface="Calibri" pitchFamily="34" charset="-120"/>
              </a:rPr>
              <a:t>2022–2023 Spike</a:t>
            </a:r>
            <a:endParaRPr lang="en-US" sz="1100" dirty="0"/>
          </a:p>
        </p:txBody>
      </p:sp>
      <p:sp>
        <p:nvSpPr>
          <p:cNvPr id="11" name="Text 9"/>
          <p:cNvSpPr/>
          <p:nvPr/>
        </p:nvSpPr>
        <p:spPr>
          <a:xfrm>
            <a:off x="502920" y="2176272"/>
            <a:ext cx="3913632" cy="530352"/>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Largest vegetation loss on record: ~82.6% of initial area. Likely combined effect of land clearance, drought stress, and cloud effects.</a:t>
            </a:r>
            <a:endParaRPr lang="en-US" sz="950" dirty="0"/>
          </a:p>
        </p:txBody>
      </p:sp>
      <p:sp>
        <p:nvSpPr>
          <p:cNvPr id="12" name="Shape 10"/>
          <p:cNvSpPr/>
          <p:nvPr/>
        </p:nvSpPr>
        <p:spPr>
          <a:xfrm>
            <a:off x="347472" y="2880360"/>
            <a:ext cx="4206240" cy="960120"/>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13" name="Text 11"/>
          <p:cNvSpPr/>
          <p:nvPr/>
        </p:nvSpPr>
        <p:spPr>
          <a:xfrm>
            <a:off x="502920" y="2971800"/>
            <a:ext cx="3913632" cy="237744"/>
          </a:xfrm>
          <a:prstGeom prst="rect">
            <a:avLst/>
          </a:prstGeom>
          <a:noFill/>
          <a:ln/>
        </p:spPr>
        <p:txBody>
          <a:bodyPr wrap="square" lIns="0" tIns="0" rIns="0" bIns="0" rtlCol="0" anchor="ctr"/>
          <a:lstStyle/>
          <a:p>
            <a:pPr marL="0" indent="0">
              <a:buNone/>
            </a:pPr>
            <a:r>
              <a:rPr lang="en-US" sz="1100" b="1" dirty="0">
                <a:solidFill>
                  <a:srgbClr val="1A4731"/>
                </a:solidFill>
                <a:latin typeface="Calibri" pitchFamily="34" charset="0"/>
                <a:ea typeface="Calibri" pitchFamily="34" charset="-122"/>
                <a:cs typeface="Calibri" pitchFamily="34" charset="-120"/>
              </a:rPr>
              <a:t>Partial Recovery (2025)</a:t>
            </a:r>
            <a:endParaRPr lang="en-US" sz="1100" dirty="0"/>
          </a:p>
        </p:txBody>
      </p:sp>
      <p:sp>
        <p:nvSpPr>
          <p:cNvPr id="14" name="Text 12"/>
          <p:cNvSpPr/>
          <p:nvPr/>
        </p:nvSpPr>
        <p:spPr>
          <a:xfrm>
            <a:off x="502920" y="3227832"/>
            <a:ext cx="3913632" cy="530352"/>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Encouraging regrowth of ~11,271 ha between late 2024 and early 2025. May reflect natural regeneration.</a:t>
            </a:r>
            <a:endParaRPr lang="en-US" sz="950" dirty="0"/>
          </a:p>
        </p:txBody>
      </p:sp>
      <p:sp>
        <p:nvSpPr>
          <p:cNvPr id="15" name="Shape 13"/>
          <p:cNvSpPr/>
          <p:nvPr/>
        </p:nvSpPr>
        <p:spPr>
          <a:xfrm>
            <a:off x="347472" y="3931920"/>
            <a:ext cx="4206240" cy="960120"/>
          </a:xfrm>
          <a:prstGeom prst="rect">
            <a:avLst/>
          </a:prstGeom>
          <a:solidFill>
            <a:srgbClr val="FFFFFF"/>
          </a:solidFill>
          <a:ln w="12700">
            <a:solidFill>
              <a:srgbClr val="E8EFF0"/>
            </a:solidFill>
            <a:prstDash val="solid"/>
          </a:ln>
          <a:effectLst>
            <a:outerShdw blurRad="38100" dist="12700" dir="8100000" algn="bl" rotWithShape="0">
              <a:srgbClr val="000000">
                <a:alpha val="7000"/>
              </a:srgbClr>
            </a:outerShdw>
          </a:effectLst>
        </p:spPr>
        <p:txBody>
          <a:bodyPr/>
          <a:lstStyle/>
          <a:p>
            <a:endParaRPr lang="en-US"/>
          </a:p>
        </p:txBody>
      </p:sp>
      <p:sp>
        <p:nvSpPr>
          <p:cNvPr id="16" name="Text 14"/>
          <p:cNvSpPr/>
          <p:nvPr/>
        </p:nvSpPr>
        <p:spPr>
          <a:xfrm>
            <a:off x="502920" y="4023360"/>
            <a:ext cx="3913632" cy="237744"/>
          </a:xfrm>
          <a:prstGeom prst="rect">
            <a:avLst/>
          </a:prstGeom>
          <a:noFill/>
          <a:ln/>
        </p:spPr>
        <p:txBody>
          <a:bodyPr wrap="square" lIns="0" tIns="0" rIns="0" bIns="0" rtlCol="0" anchor="ctr"/>
          <a:lstStyle/>
          <a:p>
            <a:pPr marL="0" indent="0">
              <a:buNone/>
            </a:pPr>
            <a:r>
              <a:rPr lang="en-US" sz="1100" b="1" dirty="0">
                <a:solidFill>
                  <a:srgbClr val="1A4731"/>
                </a:solidFill>
                <a:latin typeface="Calibri" pitchFamily="34" charset="0"/>
                <a:ea typeface="Calibri" pitchFamily="34" charset="-122"/>
                <a:cs typeface="Calibri" pitchFamily="34" charset="-120"/>
              </a:rPr>
              <a:t>Classifier Performance</a:t>
            </a:r>
            <a:endParaRPr lang="en-US" sz="1100" dirty="0"/>
          </a:p>
        </p:txBody>
      </p:sp>
      <p:sp>
        <p:nvSpPr>
          <p:cNvPr id="17" name="Text 15"/>
          <p:cNvSpPr/>
          <p:nvPr/>
        </p:nvSpPr>
        <p:spPr>
          <a:xfrm>
            <a:off x="502920" y="4279392"/>
            <a:ext cx="3913632" cy="530352"/>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11-feature Random Forest outperformed bands-only model in cross-scene validation. Spectral indices add genuine value.</a:t>
            </a:r>
            <a:endParaRPr lang="en-US" sz="950" dirty="0"/>
          </a:p>
        </p:txBody>
      </p:sp>
      <p:pic>
        <p:nvPicPr>
          <p:cNvPr id="18" name="Image 0" descr="preencoded.png"/>
          <p:cNvPicPr>
            <a:picLocks noChangeAspect="1"/>
          </p:cNvPicPr>
          <p:nvPr/>
        </p:nvPicPr>
        <p:blipFill>
          <a:blip r:embed="rId3"/>
          <a:srcRect/>
          <a:stretch/>
        </p:blipFill>
        <p:spPr>
          <a:xfrm>
            <a:off x="4754880" y="292608"/>
            <a:ext cx="4206240" cy="2194560"/>
          </a:xfrm>
          <a:prstGeom prst="rect">
            <a:avLst/>
          </a:prstGeom>
        </p:spPr>
      </p:pic>
      <p:sp>
        <p:nvSpPr>
          <p:cNvPr id="19" name="Text 16"/>
          <p:cNvSpPr/>
          <p:nvPr/>
        </p:nvSpPr>
        <p:spPr>
          <a:xfrm>
            <a:off x="4721134" y="2615184"/>
            <a:ext cx="4206240" cy="182880"/>
          </a:xfrm>
          <a:prstGeom prst="rect">
            <a:avLst/>
          </a:prstGeom>
          <a:noFill/>
          <a:ln/>
        </p:spPr>
        <p:txBody>
          <a:bodyPr wrap="square" rtlCol="0" anchor="ctr"/>
          <a:lstStyle/>
          <a:p>
            <a:pPr marL="0" indent="0" algn="ctr">
              <a:buNone/>
            </a:pPr>
            <a:r>
              <a:rPr lang="en-US" sz="800" i="1" dirty="0">
                <a:solidFill>
                  <a:srgbClr val="90A4AE"/>
                </a:solidFill>
                <a:latin typeface="Calibri" pitchFamily="34" charset="0"/>
                <a:ea typeface="Calibri" pitchFamily="34" charset="-122"/>
                <a:cs typeface="Calibri" pitchFamily="34" charset="-120"/>
              </a:rPr>
              <a:t>Figure 8 – Land cover area composition (ha) per scene</a:t>
            </a:r>
            <a:endParaRPr lang="en-US" sz="800" dirty="0"/>
          </a:p>
        </p:txBody>
      </p:sp>
      <p:pic>
        <p:nvPicPr>
          <p:cNvPr id="20" name="Image 1" descr="preencoded.png"/>
          <p:cNvPicPr>
            <a:picLocks noChangeAspect="1"/>
          </p:cNvPicPr>
          <p:nvPr/>
        </p:nvPicPr>
        <p:blipFill>
          <a:blip r:embed="rId4"/>
          <a:srcRect l="24352" t="5588" r="1" b="7011"/>
          <a:stretch>
            <a:fillRect/>
          </a:stretch>
        </p:blipFill>
        <p:spPr>
          <a:xfrm>
            <a:off x="5033219" y="2773244"/>
            <a:ext cx="3582069" cy="2118795"/>
          </a:xfrm>
          <a:prstGeom prst="rect">
            <a:avLst/>
          </a:prstGeom>
        </p:spPr>
      </p:pic>
      <p:sp>
        <p:nvSpPr>
          <p:cNvPr id="21" name="Text 17"/>
          <p:cNvSpPr/>
          <p:nvPr/>
        </p:nvSpPr>
        <p:spPr>
          <a:xfrm>
            <a:off x="4930140" y="4832604"/>
            <a:ext cx="4206240" cy="164592"/>
          </a:xfrm>
          <a:prstGeom prst="rect">
            <a:avLst/>
          </a:prstGeom>
          <a:noFill/>
          <a:ln/>
        </p:spPr>
        <p:txBody>
          <a:bodyPr wrap="square" rtlCol="0" anchor="ctr"/>
          <a:lstStyle/>
          <a:p>
            <a:pPr marL="0" indent="0" algn="ctr">
              <a:buNone/>
            </a:pPr>
            <a:r>
              <a:rPr lang="en-US" sz="800" i="1" dirty="0">
                <a:solidFill>
                  <a:srgbClr val="90A4AE"/>
                </a:solidFill>
                <a:latin typeface="Calibri" pitchFamily="34" charset="0"/>
                <a:ea typeface="Calibri" pitchFamily="34" charset="-122"/>
                <a:cs typeface="Calibri" pitchFamily="34" charset="-120"/>
              </a:rPr>
              <a:t>Sequential vegetation gain vs loss by period</a:t>
            </a:r>
            <a:endParaRPr lang="en-US" sz="800" dirty="0"/>
          </a:p>
        </p:txBody>
      </p:sp>
      <p:sp>
        <p:nvSpPr>
          <p:cNvPr id="22" name="Text 18"/>
          <p:cNvSpPr/>
          <p:nvPr/>
        </p:nvSpPr>
        <p:spPr>
          <a:xfrm>
            <a:off x="8686800" y="4800600"/>
            <a:ext cx="365760" cy="228600"/>
          </a:xfrm>
          <a:prstGeom prst="rect">
            <a:avLst/>
          </a:prstGeom>
          <a:noFill/>
          <a:ln/>
        </p:spPr>
        <p:txBody>
          <a:bodyPr wrap="square" rtlCol="0" anchor="ctr"/>
          <a:lstStyle/>
          <a:p>
            <a:pPr marL="0" indent="0" algn="ctr">
              <a:buNone/>
            </a:pPr>
            <a:r>
              <a:rPr lang="en-US" sz="900" dirty="0">
                <a:solidFill>
                  <a:srgbClr val="90A4AE"/>
                </a:solidFill>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8">
            <a:extLst>
              <a:ext uri="{FF2B5EF4-FFF2-40B4-BE49-F238E27FC236}">
                <a16:creationId xmlns:a16="http://schemas.microsoft.com/office/drawing/2014/main" id="{68848E5B-CF7F-F148-C9DA-54F72740D5C8}"/>
              </a:ext>
            </a:extLst>
          </p:cNvPr>
          <p:cNvSpPr/>
          <p:nvPr/>
        </p:nvSpPr>
        <p:spPr>
          <a:xfrm>
            <a:off x="271272" y="830580"/>
            <a:ext cx="4160520" cy="3817620"/>
          </a:xfrm>
          <a:prstGeom prst="rect">
            <a:avLst/>
          </a:prstGeom>
          <a:solidFill>
            <a:srgbClr val="FFF3E0"/>
          </a:solidFill>
          <a:ln w="12700">
            <a:solidFill>
              <a:srgbClr val="FFCC80"/>
            </a:solidFill>
            <a:prstDash val="solid"/>
          </a:ln>
        </p:spPr>
        <p:txBody>
          <a:bodyPr/>
          <a:lstStyle/>
          <a:p>
            <a:endParaRPr lang="en-US" sz="1200" dirty="0"/>
          </a:p>
        </p:txBody>
      </p:sp>
      <p:sp>
        <p:nvSpPr>
          <p:cNvPr id="3" name="Text 19">
            <a:extLst>
              <a:ext uri="{FF2B5EF4-FFF2-40B4-BE49-F238E27FC236}">
                <a16:creationId xmlns:a16="http://schemas.microsoft.com/office/drawing/2014/main" id="{254FCAD3-EC35-0198-6B8F-2A2789C1983F}"/>
              </a:ext>
            </a:extLst>
          </p:cNvPr>
          <p:cNvSpPr/>
          <p:nvPr/>
        </p:nvSpPr>
        <p:spPr>
          <a:xfrm>
            <a:off x="426720" y="1441704"/>
            <a:ext cx="3840480" cy="256032"/>
          </a:xfrm>
          <a:prstGeom prst="rect">
            <a:avLst/>
          </a:prstGeom>
          <a:noFill/>
          <a:ln/>
        </p:spPr>
        <p:txBody>
          <a:bodyPr wrap="square" lIns="0" tIns="0" rIns="0" bIns="0" rtlCol="0" anchor="ctr"/>
          <a:lstStyle/>
          <a:p>
            <a:pPr marL="0" indent="0">
              <a:buNone/>
            </a:pPr>
            <a:r>
              <a:rPr lang="en-US" sz="1500" b="1" dirty="0">
                <a:solidFill>
                  <a:srgbClr val="BF360C"/>
                </a:solidFill>
                <a:latin typeface="Calibri" pitchFamily="34" charset="0"/>
                <a:ea typeface="Calibri" pitchFamily="34" charset="-122"/>
                <a:cs typeface="Calibri" pitchFamily="34" charset="-120"/>
              </a:rPr>
              <a:t>Limitations</a:t>
            </a:r>
            <a:endParaRPr lang="en-US" sz="1500" dirty="0"/>
          </a:p>
        </p:txBody>
      </p:sp>
      <p:sp>
        <p:nvSpPr>
          <p:cNvPr id="4" name="Text 20">
            <a:extLst>
              <a:ext uri="{FF2B5EF4-FFF2-40B4-BE49-F238E27FC236}">
                <a16:creationId xmlns:a16="http://schemas.microsoft.com/office/drawing/2014/main" id="{88E06ACF-9F82-7217-8317-2376DD7177A1}"/>
              </a:ext>
            </a:extLst>
          </p:cNvPr>
          <p:cNvSpPr/>
          <p:nvPr/>
        </p:nvSpPr>
        <p:spPr>
          <a:xfrm>
            <a:off x="426720" y="2308860"/>
            <a:ext cx="3840480" cy="256032"/>
          </a:xfrm>
          <a:prstGeom prst="rect">
            <a:avLst/>
          </a:prstGeom>
          <a:noFill/>
          <a:ln/>
        </p:spPr>
        <p:txBody>
          <a:bodyPr wrap="square" lIns="0" tIns="0" rIns="0" bIns="0" rtlCol="0" anchor="ctr"/>
          <a:lstStyle/>
          <a:p>
            <a:pPr marL="0" indent="0">
              <a:buNone/>
            </a:pPr>
            <a:r>
              <a:rPr lang="en-US" sz="1200" dirty="0">
                <a:solidFill>
                  <a:srgbClr val="5D4037"/>
                </a:solidFill>
                <a:latin typeface="Calibri" pitchFamily="34" charset="0"/>
                <a:ea typeface="Calibri" pitchFamily="34" charset="-122"/>
                <a:cs typeface="Calibri" pitchFamily="34" charset="-120"/>
              </a:rPr>
              <a:t>• 60 m resolution misses fine-scale changes</a:t>
            </a:r>
            <a:endParaRPr lang="en-US" sz="1200" dirty="0"/>
          </a:p>
        </p:txBody>
      </p:sp>
      <p:sp>
        <p:nvSpPr>
          <p:cNvPr id="5" name="Text 21">
            <a:extLst>
              <a:ext uri="{FF2B5EF4-FFF2-40B4-BE49-F238E27FC236}">
                <a16:creationId xmlns:a16="http://schemas.microsoft.com/office/drawing/2014/main" id="{9B362FF9-194A-6436-2601-B9F58D3CFED1}"/>
              </a:ext>
            </a:extLst>
          </p:cNvPr>
          <p:cNvSpPr/>
          <p:nvPr/>
        </p:nvSpPr>
        <p:spPr>
          <a:xfrm>
            <a:off x="426720" y="2583180"/>
            <a:ext cx="3840480" cy="256032"/>
          </a:xfrm>
          <a:prstGeom prst="rect">
            <a:avLst/>
          </a:prstGeom>
          <a:noFill/>
          <a:ln/>
        </p:spPr>
        <p:txBody>
          <a:bodyPr wrap="square" lIns="0" tIns="0" rIns="0" bIns="0" rtlCol="0" anchor="ctr"/>
          <a:lstStyle/>
          <a:p>
            <a:pPr marL="0" indent="0">
              <a:buNone/>
            </a:pPr>
            <a:endParaRPr lang="en-US" sz="1200" dirty="0">
              <a:solidFill>
                <a:srgbClr val="5D4037"/>
              </a:solidFill>
              <a:latin typeface="Calibri" pitchFamily="34" charset="0"/>
              <a:ea typeface="Calibri" pitchFamily="34" charset="-122"/>
              <a:cs typeface="Calibri" pitchFamily="34" charset="-120"/>
            </a:endParaRPr>
          </a:p>
          <a:p>
            <a:pPr marL="0" indent="0">
              <a:buNone/>
            </a:pPr>
            <a:r>
              <a:rPr lang="en-US" sz="1200" dirty="0">
                <a:solidFill>
                  <a:srgbClr val="5D4037"/>
                </a:solidFill>
                <a:latin typeface="Calibri" pitchFamily="34" charset="0"/>
                <a:ea typeface="Calibri" pitchFamily="34" charset="-122"/>
                <a:cs typeface="Calibri" pitchFamily="34" charset="-120"/>
              </a:rPr>
              <a:t>• Pseudo-labels = circular validation (no field truth)</a:t>
            </a:r>
            <a:endParaRPr lang="en-US" sz="1200" dirty="0"/>
          </a:p>
        </p:txBody>
      </p:sp>
      <p:sp>
        <p:nvSpPr>
          <p:cNvPr id="6" name="Text 22">
            <a:extLst>
              <a:ext uri="{FF2B5EF4-FFF2-40B4-BE49-F238E27FC236}">
                <a16:creationId xmlns:a16="http://schemas.microsoft.com/office/drawing/2014/main" id="{B3122431-2B5E-2732-C470-B7C55CED7551}"/>
              </a:ext>
            </a:extLst>
          </p:cNvPr>
          <p:cNvSpPr/>
          <p:nvPr/>
        </p:nvSpPr>
        <p:spPr>
          <a:xfrm>
            <a:off x="426720" y="2857500"/>
            <a:ext cx="3840480" cy="256032"/>
          </a:xfrm>
          <a:prstGeom prst="rect">
            <a:avLst/>
          </a:prstGeom>
          <a:noFill/>
          <a:ln/>
        </p:spPr>
        <p:txBody>
          <a:bodyPr wrap="square" lIns="0" tIns="0" rIns="0" bIns="0" rtlCol="0" anchor="ctr"/>
          <a:lstStyle/>
          <a:p>
            <a:pPr marL="0" indent="0">
              <a:buNone/>
            </a:pPr>
            <a:endParaRPr lang="en-US" sz="1200" dirty="0">
              <a:solidFill>
                <a:srgbClr val="5D4037"/>
              </a:solidFill>
              <a:latin typeface="Calibri" pitchFamily="34" charset="0"/>
              <a:ea typeface="Calibri" pitchFamily="34" charset="-122"/>
              <a:cs typeface="Calibri" pitchFamily="34" charset="-120"/>
            </a:endParaRPr>
          </a:p>
          <a:p>
            <a:pPr marL="0" indent="0">
              <a:buNone/>
            </a:pPr>
            <a:endParaRPr lang="en-US" sz="1200" dirty="0">
              <a:solidFill>
                <a:srgbClr val="5D4037"/>
              </a:solidFill>
              <a:latin typeface="Calibri" pitchFamily="34" charset="0"/>
              <a:ea typeface="Calibri" pitchFamily="34" charset="-122"/>
              <a:cs typeface="Calibri" pitchFamily="34" charset="-120"/>
            </a:endParaRPr>
          </a:p>
          <a:p>
            <a:pPr marL="0" indent="0">
              <a:buNone/>
            </a:pPr>
            <a:r>
              <a:rPr lang="en-US" sz="1200" dirty="0">
                <a:solidFill>
                  <a:srgbClr val="5D4037"/>
                </a:solidFill>
                <a:latin typeface="Calibri" pitchFamily="34" charset="0"/>
                <a:ea typeface="Calibri" pitchFamily="34" charset="-122"/>
                <a:cs typeface="Calibri" pitchFamily="34" charset="-120"/>
              </a:rPr>
              <a:t>• Cloud cover limits valid observations in some years</a:t>
            </a:r>
            <a:endParaRPr lang="en-US" sz="1200" dirty="0"/>
          </a:p>
        </p:txBody>
      </p:sp>
      <p:sp>
        <p:nvSpPr>
          <p:cNvPr id="7" name="Text 23">
            <a:extLst>
              <a:ext uri="{FF2B5EF4-FFF2-40B4-BE49-F238E27FC236}">
                <a16:creationId xmlns:a16="http://schemas.microsoft.com/office/drawing/2014/main" id="{A05B1D07-BD18-AE57-1D6A-2940D18C0061}"/>
              </a:ext>
            </a:extLst>
          </p:cNvPr>
          <p:cNvSpPr/>
          <p:nvPr/>
        </p:nvSpPr>
        <p:spPr>
          <a:xfrm>
            <a:off x="426720" y="3131820"/>
            <a:ext cx="3840480" cy="256032"/>
          </a:xfrm>
          <a:prstGeom prst="rect">
            <a:avLst/>
          </a:prstGeom>
          <a:noFill/>
          <a:ln/>
        </p:spPr>
        <p:txBody>
          <a:bodyPr wrap="square" lIns="0" tIns="0" rIns="0" bIns="0" rtlCol="0" anchor="ctr"/>
          <a:lstStyle/>
          <a:p>
            <a:pPr marL="0" indent="0">
              <a:buNone/>
            </a:pPr>
            <a:endParaRPr lang="en-US" sz="1200" dirty="0">
              <a:solidFill>
                <a:srgbClr val="5D4037"/>
              </a:solidFill>
              <a:latin typeface="Calibri" pitchFamily="34" charset="0"/>
              <a:ea typeface="Calibri" pitchFamily="34" charset="-122"/>
              <a:cs typeface="Calibri" pitchFamily="34" charset="-120"/>
            </a:endParaRPr>
          </a:p>
          <a:p>
            <a:pPr marL="0" indent="0">
              <a:buNone/>
            </a:pPr>
            <a:endParaRPr lang="en-US" sz="1200" dirty="0">
              <a:solidFill>
                <a:srgbClr val="5D4037"/>
              </a:solidFill>
              <a:latin typeface="Calibri" pitchFamily="34" charset="0"/>
              <a:ea typeface="Calibri" pitchFamily="34" charset="-122"/>
              <a:cs typeface="Calibri" pitchFamily="34" charset="-120"/>
            </a:endParaRPr>
          </a:p>
          <a:p>
            <a:pPr marL="0" indent="0">
              <a:buNone/>
            </a:pPr>
            <a:endParaRPr lang="en-US" sz="1200" dirty="0">
              <a:solidFill>
                <a:srgbClr val="5D4037"/>
              </a:solidFill>
              <a:latin typeface="Calibri" pitchFamily="34" charset="0"/>
              <a:ea typeface="Calibri" pitchFamily="34" charset="-122"/>
              <a:cs typeface="Calibri" pitchFamily="34" charset="-120"/>
            </a:endParaRPr>
          </a:p>
          <a:p>
            <a:pPr marL="0" indent="0">
              <a:buNone/>
            </a:pPr>
            <a:r>
              <a:rPr lang="en-US" sz="1200" dirty="0">
                <a:solidFill>
                  <a:srgbClr val="5D4037"/>
                </a:solidFill>
                <a:latin typeface="Calibri" pitchFamily="34" charset="0"/>
                <a:ea typeface="Calibri" pitchFamily="34" charset="-122"/>
                <a:cs typeface="Calibri" pitchFamily="34" charset="-120"/>
              </a:rPr>
              <a:t>• Forecasts exclude rainfall &amp; policy variables</a:t>
            </a:r>
            <a:endParaRPr lang="en-US" sz="1200" dirty="0"/>
          </a:p>
        </p:txBody>
      </p:sp>
      <p:sp>
        <p:nvSpPr>
          <p:cNvPr id="26" name="Shape 24"/>
          <p:cNvSpPr/>
          <p:nvPr/>
        </p:nvSpPr>
        <p:spPr>
          <a:xfrm>
            <a:off x="4681728" y="830580"/>
            <a:ext cx="4160520" cy="3817620"/>
          </a:xfrm>
          <a:prstGeom prst="rect">
            <a:avLst/>
          </a:prstGeom>
          <a:solidFill>
            <a:srgbClr val="E8F5E9"/>
          </a:solidFill>
          <a:ln w="12700">
            <a:solidFill>
              <a:srgbClr val="81C784"/>
            </a:solidFill>
            <a:prstDash val="solid"/>
          </a:ln>
        </p:spPr>
        <p:txBody>
          <a:bodyPr/>
          <a:lstStyle/>
          <a:p>
            <a:endParaRPr lang="en-US"/>
          </a:p>
        </p:txBody>
      </p:sp>
      <p:sp>
        <p:nvSpPr>
          <p:cNvPr id="27" name="Text 25"/>
          <p:cNvSpPr/>
          <p:nvPr/>
        </p:nvSpPr>
        <p:spPr>
          <a:xfrm>
            <a:off x="4876800" y="1441704"/>
            <a:ext cx="3840480" cy="256032"/>
          </a:xfrm>
          <a:prstGeom prst="rect">
            <a:avLst/>
          </a:prstGeom>
          <a:noFill/>
          <a:ln/>
        </p:spPr>
        <p:txBody>
          <a:bodyPr wrap="square" lIns="0" tIns="0" rIns="0" bIns="0" rtlCol="0" anchor="ctr"/>
          <a:lstStyle/>
          <a:p>
            <a:pPr marL="0" indent="0">
              <a:buNone/>
            </a:pPr>
            <a:r>
              <a:rPr lang="en-US" sz="1500" b="1" dirty="0">
                <a:solidFill>
                  <a:srgbClr val="1B5E20"/>
                </a:solidFill>
                <a:latin typeface="Calibri" pitchFamily="34" charset="0"/>
                <a:ea typeface="Calibri" pitchFamily="34" charset="-122"/>
                <a:cs typeface="Calibri" pitchFamily="34" charset="-120"/>
              </a:rPr>
              <a:t>Future Work</a:t>
            </a:r>
            <a:endParaRPr lang="en-US" sz="1500" dirty="0"/>
          </a:p>
        </p:txBody>
      </p:sp>
      <p:sp>
        <p:nvSpPr>
          <p:cNvPr id="28" name="Text 26"/>
          <p:cNvSpPr/>
          <p:nvPr/>
        </p:nvSpPr>
        <p:spPr>
          <a:xfrm>
            <a:off x="4828032" y="2377440"/>
            <a:ext cx="3840480" cy="256032"/>
          </a:xfrm>
          <a:prstGeom prst="rect">
            <a:avLst/>
          </a:prstGeom>
          <a:noFill/>
          <a:ln/>
        </p:spPr>
        <p:txBody>
          <a:bodyPr wrap="square" lIns="0" tIns="0" rIns="0" bIns="0" rtlCol="0" anchor="ctr"/>
          <a:lstStyle/>
          <a:p>
            <a:pPr marL="0" indent="0">
              <a:buNone/>
            </a:pPr>
            <a:r>
              <a:rPr lang="en-US" sz="1200" dirty="0">
                <a:solidFill>
                  <a:srgbClr val="2E7D32"/>
                </a:solidFill>
                <a:latin typeface="Calibri" pitchFamily="34" charset="0"/>
                <a:ea typeface="Calibri" pitchFamily="34" charset="-122"/>
                <a:cs typeface="Calibri" pitchFamily="34" charset="-120"/>
              </a:rPr>
              <a:t>• Use Sentinel-2 (10 m) for higher resolution</a:t>
            </a:r>
            <a:endParaRPr lang="en-US" sz="1200" dirty="0"/>
          </a:p>
        </p:txBody>
      </p:sp>
      <p:sp>
        <p:nvSpPr>
          <p:cNvPr id="29" name="Text 27"/>
          <p:cNvSpPr/>
          <p:nvPr/>
        </p:nvSpPr>
        <p:spPr>
          <a:xfrm>
            <a:off x="4828032" y="2651760"/>
            <a:ext cx="3840480" cy="256032"/>
          </a:xfrm>
          <a:prstGeom prst="rect">
            <a:avLst/>
          </a:prstGeom>
          <a:noFill/>
          <a:ln/>
        </p:spPr>
        <p:txBody>
          <a:bodyPr wrap="square" lIns="0" tIns="0" rIns="0" bIns="0" rtlCol="0" anchor="ctr"/>
          <a:lstStyle/>
          <a:p>
            <a:pPr marL="0" indent="0">
              <a:buNone/>
            </a:pPr>
            <a:endParaRPr lang="en-US" sz="1200" dirty="0">
              <a:solidFill>
                <a:srgbClr val="2E7D32"/>
              </a:solidFill>
              <a:latin typeface="Calibri" pitchFamily="34" charset="0"/>
              <a:ea typeface="Calibri" pitchFamily="34" charset="-122"/>
              <a:cs typeface="Calibri" pitchFamily="34" charset="-120"/>
            </a:endParaRPr>
          </a:p>
          <a:p>
            <a:pPr marL="0" indent="0">
              <a:buNone/>
            </a:pPr>
            <a:r>
              <a:rPr lang="en-US" sz="1200" dirty="0">
                <a:solidFill>
                  <a:srgbClr val="2E7D32"/>
                </a:solidFill>
                <a:latin typeface="Calibri" pitchFamily="34" charset="0"/>
                <a:ea typeface="Calibri" pitchFamily="34" charset="-122"/>
                <a:cs typeface="Calibri" pitchFamily="34" charset="-120"/>
              </a:rPr>
              <a:t>• Collect ground truth for true accuracy validation</a:t>
            </a:r>
            <a:endParaRPr lang="en-US" sz="1200" dirty="0"/>
          </a:p>
        </p:txBody>
      </p:sp>
      <p:sp>
        <p:nvSpPr>
          <p:cNvPr id="30" name="Text 28"/>
          <p:cNvSpPr/>
          <p:nvPr/>
        </p:nvSpPr>
        <p:spPr>
          <a:xfrm>
            <a:off x="4828032" y="2926080"/>
            <a:ext cx="3840480" cy="256032"/>
          </a:xfrm>
          <a:prstGeom prst="rect">
            <a:avLst/>
          </a:prstGeom>
          <a:noFill/>
          <a:ln/>
        </p:spPr>
        <p:txBody>
          <a:bodyPr wrap="square" lIns="0" tIns="0" rIns="0" bIns="0" rtlCol="0" anchor="ctr"/>
          <a:lstStyle/>
          <a:p>
            <a:pPr marL="0" indent="0">
              <a:buNone/>
            </a:pPr>
            <a:endParaRPr lang="en-US" sz="1200" dirty="0">
              <a:solidFill>
                <a:srgbClr val="2E7D32"/>
              </a:solidFill>
              <a:latin typeface="Calibri" pitchFamily="34" charset="0"/>
              <a:ea typeface="Calibri" pitchFamily="34" charset="-122"/>
              <a:cs typeface="Calibri" pitchFamily="34" charset="-120"/>
            </a:endParaRPr>
          </a:p>
          <a:p>
            <a:pPr marL="0" indent="0">
              <a:buNone/>
            </a:pPr>
            <a:r>
              <a:rPr lang="en-US" sz="1200" dirty="0">
                <a:solidFill>
                  <a:srgbClr val="2E7D32"/>
                </a:solidFill>
                <a:latin typeface="Calibri" pitchFamily="34" charset="0"/>
                <a:ea typeface="Calibri" pitchFamily="34" charset="-122"/>
                <a:cs typeface="Calibri" pitchFamily="34" charset="-120"/>
              </a:rPr>
              <a:t>• Incorporate rainfall &amp; land-use policy into forecasts</a:t>
            </a:r>
            <a:endParaRPr lang="en-US" sz="1200" dirty="0"/>
          </a:p>
        </p:txBody>
      </p:sp>
      <p:sp>
        <p:nvSpPr>
          <p:cNvPr id="31" name="Text 29"/>
          <p:cNvSpPr/>
          <p:nvPr/>
        </p:nvSpPr>
        <p:spPr>
          <a:xfrm>
            <a:off x="4828032" y="3200400"/>
            <a:ext cx="3840480" cy="256032"/>
          </a:xfrm>
          <a:prstGeom prst="rect">
            <a:avLst/>
          </a:prstGeom>
          <a:noFill/>
          <a:ln/>
        </p:spPr>
        <p:txBody>
          <a:bodyPr wrap="square" lIns="0" tIns="0" rIns="0" bIns="0" rtlCol="0" anchor="ctr"/>
          <a:lstStyle/>
          <a:p>
            <a:pPr marL="0" indent="0">
              <a:buNone/>
            </a:pPr>
            <a:endParaRPr lang="en-US" sz="1200" dirty="0">
              <a:solidFill>
                <a:srgbClr val="2E7D32"/>
              </a:solidFill>
              <a:latin typeface="Calibri" pitchFamily="34" charset="0"/>
              <a:ea typeface="Calibri" pitchFamily="34" charset="-122"/>
              <a:cs typeface="Calibri" pitchFamily="34" charset="-120"/>
            </a:endParaRPr>
          </a:p>
          <a:p>
            <a:pPr marL="0" indent="0">
              <a:buNone/>
            </a:pPr>
            <a:endParaRPr lang="en-US" sz="1200" dirty="0">
              <a:solidFill>
                <a:srgbClr val="2E7D32"/>
              </a:solidFill>
              <a:latin typeface="Calibri" pitchFamily="34" charset="0"/>
              <a:ea typeface="Calibri" pitchFamily="34" charset="-122"/>
              <a:cs typeface="Calibri" pitchFamily="34" charset="-120"/>
            </a:endParaRPr>
          </a:p>
          <a:p>
            <a:pPr marL="0" indent="0">
              <a:buNone/>
            </a:pPr>
            <a:r>
              <a:rPr lang="en-US" sz="1200" dirty="0">
                <a:solidFill>
                  <a:srgbClr val="2E7D32"/>
                </a:solidFill>
                <a:latin typeface="Calibri" pitchFamily="34" charset="0"/>
                <a:ea typeface="Calibri" pitchFamily="34" charset="-122"/>
                <a:cs typeface="Calibri" pitchFamily="34" charset="-120"/>
              </a:rPr>
              <a:t>• Extend study to broader North Western Province</a:t>
            </a:r>
            <a:endParaRPr lang="en-US" sz="1200" dirty="0"/>
          </a:p>
        </p:txBody>
      </p:sp>
      <p:sp>
        <p:nvSpPr>
          <p:cNvPr id="8" name="Text 30">
            <a:extLst>
              <a:ext uri="{FF2B5EF4-FFF2-40B4-BE49-F238E27FC236}">
                <a16:creationId xmlns:a16="http://schemas.microsoft.com/office/drawing/2014/main" id="{31435621-232B-E952-A926-CC177BE463D9}"/>
              </a:ext>
            </a:extLst>
          </p:cNvPr>
          <p:cNvSpPr/>
          <p:nvPr/>
        </p:nvSpPr>
        <p:spPr>
          <a:xfrm>
            <a:off x="8686800" y="4800600"/>
            <a:ext cx="365760" cy="228600"/>
          </a:xfrm>
          <a:prstGeom prst="rect">
            <a:avLst/>
          </a:prstGeom>
          <a:noFill/>
          <a:ln/>
        </p:spPr>
        <p:txBody>
          <a:bodyPr wrap="square" rtlCol="0" anchor="ctr"/>
          <a:lstStyle/>
          <a:p>
            <a:pPr marL="0" indent="0" algn="ctr">
              <a:buNone/>
            </a:pPr>
            <a:r>
              <a:rPr lang="en-US" sz="900" dirty="0">
                <a:solidFill>
                  <a:srgbClr val="90A4AE"/>
                </a:solidFill>
              </a:rPr>
              <a:t>14</a:t>
            </a:r>
            <a:endParaRPr lang="en-US" sz="900" dirty="0"/>
          </a:p>
        </p:txBody>
      </p:sp>
      <p:sp>
        <p:nvSpPr>
          <p:cNvPr id="9" name="Text 3">
            <a:extLst>
              <a:ext uri="{FF2B5EF4-FFF2-40B4-BE49-F238E27FC236}">
                <a16:creationId xmlns:a16="http://schemas.microsoft.com/office/drawing/2014/main" id="{EF5FF1E6-A57E-743E-8DE4-BB59859E5B27}"/>
              </a:ext>
            </a:extLst>
          </p:cNvPr>
          <p:cNvSpPr/>
          <p:nvPr/>
        </p:nvSpPr>
        <p:spPr>
          <a:xfrm>
            <a:off x="411480" y="128016"/>
            <a:ext cx="8321040" cy="475488"/>
          </a:xfrm>
          <a:prstGeom prst="rect">
            <a:avLst/>
          </a:prstGeom>
          <a:noFill/>
          <a:ln/>
        </p:spPr>
        <p:txBody>
          <a:bodyPr wrap="square" lIns="0" tIns="0" rIns="0" bIns="0" rtlCol="0" anchor="ctr"/>
          <a:lstStyle/>
          <a:p>
            <a:pPr marL="0" indent="0" algn="l">
              <a:buNone/>
            </a:pPr>
            <a:r>
              <a:rPr lang="en-US" sz="2200" b="1" dirty="0">
                <a:solidFill>
                  <a:srgbClr val="1A4731"/>
                </a:solidFill>
                <a:latin typeface="Calibri" pitchFamily="34" charset="0"/>
                <a:ea typeface="Calibri" pitchFamily="34" charset="-122"/>
                <a:cs typeface="Calibri" pitchFamily="34" charset="-120"/>
              </a:rPr>
              <a:t>13 Limitations and Future Improvements</a:t>
            </a:r>
            <a:endParaRPr lang="en-US" sz="2200" dirty="0"/>
          </a:p>
        </p:txBody>
      </p:sp>
    </p:spTree>
    <p:extLst>
      <p:ext uri="{BB962C8B-B14F-4D97-AF65-F5344CB8AC3E}">
        <p14:creationId xmlns:p14="http://schemas.microsoft.com/office/powerpoint/2010/main" val="3554160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2B788"/>
          </a:solidFill>
          <a:ln w="12700">
            <a:solidFill>
              <a:srgbClr val="52B788"/>
            </a:solidFill>
            <a:prstDash val="solid"/>
          </a:ln>
        </p:spPr>
        <p:txBody>
          <a:bodyPr/>
          <a:lstStyle/>
          <a:p>
            <a:endParaRPr lang="en-US"/>
          </a:p>
        </p:txBody>
      </p:sp>
      <p:sp>
        <p:nvSpPr>
          <p:cNvPr id="3" name="Text 1"/>
          <p:cNvSpPr/>
          <p:nvPr/>
        </p:nvSpPr>
        <p:spPr>
          <a:xfrm>
            <a:off x="411480" y="128016"/>
            <a:ext cx="8321040" cy="475488"/>
          </a:xfrm>
          <a:prstGeom prst="rect">
            <a:avLst/>
          </a:prstGeom>
          <a:noFill/>
          <a:ln/>
        </p:spPr>
        <p:txBody>
          <a:bodyPr wrap="square" lIns="0" tIns="0" rIns="0" bIns="0" rtlCol="0" anchor="ctr"/>
          <a:lstStyle/>
          <a:p>
            <a:pPr marL="0" indent="0" algn="l">
              <a:buNone/>
            </a:pPr>
            <a:r>
              <a:rPr lang="en-US" sz="2200" b="1" dirty="0">
                <a:solidFill>
                  <a:srgbClr val="1A4731"/>
                </a:solidFill>
                <a:latin typeface="Calibri" pitchFamily="34" charset="0"/>
                <a:ea typeface="Calibri" pitchFamily="34" charset="-122"/>
                <a:cs typeface="Calibri" pitchFamily="34" charset="-120"/>
              </a:rPr>
              <a:t>14 Conclusion</a:t>
            </a:r>
            <a:endParaRPr lang="en-US" sz="2200" dirty="0"/>
          </a:p>
        </p:txBody>
      </p:sp>
      <p:sp>
        <p:nvSpPr>
          <p:cNvPr id="4" name="Shape 2"/>
          <p:cNvSpPr/>
          <p:nvPr/>
        </p:nvSpPr>
        <p:spPr>
          <a:xfrm>
            <a:off x="347472" y="868680"/>
            <a:ext cx="384048" cy="384048"/>
          </a:xfrm>
          <a:prstGeom prst="ellipse">
            <a:avLst/>
          </a:prstGeom>
          <a:solidFill>
            <a:srgbClr val="2D6A4F"/>
          </a:solidFill>
          <a:ln w="12700">
            <a:solidFill>
              <a:srgbClr val="2D6A4F"/>
            </a:solidFill>
            <a:prstDash val="solid"/>
          </a:ln>
        </p:spPr>
        <p:txBody>
          <a:bodyPr/>
          <a:lstStyle/>
          <a:p>
            <a:endParaRPr lang="en-US"/>
          </a:p>
        </p:txBody>
      </p:sp>
      <p:sp>
        <p:nvSpPr>
          <p:cNvPr id="5" name="Text 3"/>
          <p:cNvSpPr/>
          <p:nvPr/>
        </p:nvSpPr>
        <p:spPr>
          <a:xfrm>
            <a:off x="347472" y="86868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Shape 4"/>
          <p:cNvSpPr/>
          <p:nvPr/>
        </p:nvSpPr>
        <p:spPr>
          <a:xfrm>
            <a:off x="868680" y="777240"/>
            <a:ext cx="8046720" cy="566928"/>
          </a:xfrm>
          <a:prstGeom prst="rect">
            <a:avLst/>
          </a:prstGeom>
          <a:solidFill>
            <a:srgbClr val="FFFFFF"/>
          </a:solidFill>
          <a:ln w="12700">
            <a:solidFill>
              <a:srgbClr val="E8EFF0"/>
            </a:solidFill>
            <a:prstDash val="solid"/>
          </a:ln>
          <a:effectLst>
            <a:outerShdw blurRad="38100" dist="12700" dir="8100000" algn="bl" rotWithShape="0">
              <a:srgbClr val="000000">
                <a:alpha val="6000"/>
              </a:srgbClr>
            </a:outerShdw>
          </a:effectLst>
        </p:spPr>
        <p:txBody>
          <a:bodyPr/>
          <a:lstStyle/>
          <a:p>
            <a:endParaRPr lang="en-US"/>
          </a:p>
        </p:txBody>
      </p:sp>
      <p:sp>
        <p:nvSpPr>
          <p:cNvPr id="7" name="Text 5"/>
          <p:cNvSpPr/>
          <p:nvPr/>
        </p:nvSpPr>
        <p:spPr>
          <a:xfrm>
            <a:off x="1005840" y="777240"/>
            <a:ext cx="7772400" cy="566928"/>
          </a:xfrm>
          <a:prstGeom prst="rect">
            <a:avLst/>
          </a:prstGeom>
          <a:noFill/>
          <a:ln/>
        </p:spPr>
        <p:txBody>
          <a:bodyPr wrap="square" lIns="0" tIns="0" rIns="0" bIns="0" rtlCol="0" anchor="ctr"/>
          <a:lstStyle/>
          <a:p>
            <a:pPr marL="0" indent="0">
              <a:buNone/>
            </a:pPr>
            <a:r>
              <a:rPr lang="en-US" sz="1100" dirty="0">
                <a:solidFill>
                  <a:srgbClr val="1C2B22"/>
                </a:solidFill>
                <a:latin typeface="Calibri" pitchFamily="34" charset="0"/>
                <a:ea typeface="Calibri" pitchFamily="34" charset="-122"/>
                <a:cs typeface="Calibri" pitchFamily="34" charset="-120"/>
              </a:rPr>
              <a:t>Vegetation in </a:t>
            </a:r>
            <a:r>
              <a:rPr lang="en-US" sz="1100" dirty="0" err="1">
                <a:solidFill>
                  <a:srgbClr val="1C2B22"/>
                </a:solidFill>
                <a:latin typeface="Calibri" pitchFamily="34" charset="0"/>
                <a:ea typeface="Calibri" pitchFamily="34" charset="-122"/>
                <a:cs typeface="Calibri" pitchFamily="34" charset="-120"/>
              </a:rPr>
              <a:t>Kalpitiya</a:t>
            </a:r>
            <a:r>
              <a:rPr lang="en-US" sz="1100" dirty="0">
                <a:solidFill>
                  <a:srgbClr val="1C2B22"/>
                </a:solidFill>
                <a:latin typeface="Calibri" pitchFamily="34" charset="0"/>
                <a:ea typeface="Calibri" pitchFamily="34" charset="-122"/>
                <a:cs typeface="Calibri" pitchFamily="34" charset="-120"/>
              </a:rPr>
              <a:t> has shown an overall declining trend between 2016 and 2025, with the steepest losses in 2022–2023.</a:t>
            </a:r>
            <a:endParaRPr lang="en-US" sz="1100" dirty="0"/>
          </a:p>
        </p:txBody>
      </p:sp>
      <p:sp>
        <p:nvSpPr>
          <p:cNvPr id="8" name="Shape 6"/>
          <p:cNvSpPr/>
          <p:nvPr/>
        </p:nvSpPr>
        <p:spPr>
          <a:xfrm>
            <a:off x="347472" y="1545336"/>
            <a:ext cx="384048" cy="384048"/>
          </a:xfrm>
          <a:prstGeom prst="ellipse">
            <a:avLst/>
          </a:prstGeom>
          <a:solidFill>
            <a:srgbClr val="2D6A4F"/>
          </a:solidFill>
          <a:ln w="12700">
            <a:solidFill>
              <a:srgbClr val="2D6A4F"/>
            </a:solidFill>
            <a:prstDash val="solid"/>
          </a:ln>
        </p:spPr>
        <p:txBody>
          <a:bodyPr/>
          <a:lstStyle/>
          <a:p>
            <a:endParaRPr lang="en-US"/>
          </a:p>
        </p:txBody>
      </p:sp>
      <p:sp>
        <p:nvSpPr>
          <p:cNvPr id="9" name="Text 7"/>
          <p:cNvSpPr/>
          <p:nvPr/>
        </p:nvSpPr>
        <p:spPr>
          <a:xfrm>
            <a:off x="347472" y="154533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Shape 8"/>
          <p:cNvSpPr/>
          <p:nvPr/>
        </p:nvSpPr>
        <p:spPr>
          <a:xfrm>
            <a:off x="868680" y="1453896"/>
            <a:ext cx="8046720" cy="566928"/>
          </a:xfrm>
          <a:prstGeom prst="rect">
            <a:avLst/>
          </a:prstGeom>
          <a:solidFill>
            <a:srgbClr val="FFFFFF"/>
          </a:solidFill>
          <a:ln w="12700">
            <a:solidFill>
              <a:srgbClr val="E8EFF0"/>
            </a:solidFill>
            <a:prstDash val="solid"/>
          </a:ln>
          <a:effectLst>
            <a:outerShdw blurRad="38100" dist="12700" dir="8100000" algn="bl" rotWithShape="0">
              <a:srgbClr val="000000">
                <a:alpha val="6000"/>
              </a:srgbClr>
            </a:outerShdw>
          </a:effectLst>
        </p:spPr>
        <p:txBody>
          <a:bodyPr/>
          <a:lstStyle/>
          <a:p>
            <a:endParaRPr lang="en-US"/>
          </a:p>
        </p:txBody>
      </p:sp>
      <p:sp>
        <p:nvSpPr>
          <p:cNvPr id="11" name="Text 9"/>
          <p:cNvSpPr/>
          <p:nvPr/>
        </p:nvSpPr>
        <p:spPr>
          <a:xfrm>
            <a:off x="1005840" y="1453896"/>
            <a:ext cx="7772400" cy="566928"/>
          </a:xfrm>
          <a:prstGeom prst="rect">
            <a:avLst/>
          </a:prstGeom>
          <a:noFill/>
          <a:ln/>
        </p:spPr>
        <p:txBody>
          <a:bodyPr wrap="square" lIns="0" tIns="0" rIns="0" bIns="0" rtlCol="0" anchor="ctr"/>
          <a:lstStyle/>
          <a:p>
            <a:pPr marL="0" indent="0">
              <a:buNone/>
            </a:pPr>
            <a:r>
              <a:rPr lang="en-US" sz="1100" dirty="0">
                <a:solidFill>
                  <a:srgbClr val="1C2B22"/>
                </a:solidFill>
                <a:latin typeface="Calibri" pitchFamily="34" charset="0"/>
                <a:ea typeface="Calibri" pitchFamily="34" charset="-122"/>
                <a:cs typeface="Calibri" pitchFamily="34" charset="-120"/>
              </a:rPr>
              <a:t>The Random Forest classifier successfully mapped four land cover classes using automated pseudo-labels — no manual annotation was needed.</a:t>
            </a:r>
            <a:endParaRPr lang="en-US" sz="1100" dirty="0"/>
          </a:p>
        </p:txBody>
      </p:sp>
      <p:sp>
        <p:nvSpPr>
          <p:cNvPr id="12" name="Shape 10"/>
          <p:cNvSpPr/>
          <p:nvPr/>
        </p:nvSpPr>
        <p:spPr>
          <a:xfrm>
            <a:off x="347472" y="2221992"/>
            <a:ext cx="384048" cy="384048"/>
          </a:xfrm>
          <a:prstGeom prst="ellipse">
            <a:avLst/>
          </a:prstGeom>
          <a:solidFill>
            <a:srgbClr val="2D6A4F"/>
          </a:solidFill>
          <a:ln w="12700">
            <a:solidFill>
              <a:srgbClr val="2D6A4F"/>
            </a:solidFill>
            <a:prstDash val="solid"/>
          </a:ln>
        </p:spPr>
        <p:txBody>
          <a:bodyPr/>
          <a:lstStyle/>
          <a:p>
            <a:endParaRPr lang="en-US"/>
          </a:p>
        </p:txBody>
      </p:sp>
      <p:sp>
        <p:nvSpPr>
          <p:cNvPr id="13" name="Text 11"/>
          <p:cNvSpPr/>
          <p:nvPr/>
        </p:nvSpPr>
        <p:spPr>
          <a:xfrm>
            <a:off x="347472" y="222199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Shape 12"/>
          <p:cNvSpPr/>
          <p:nvPr/>
        </p:nvSpPr>
        <p:spPr>
          <a:xfrm>
            <a:off x="868680" y="2130552"/>
            <a:ext cx="8046720" cy="566928"/>
          </a:xfrm>
          <a:prstGeom prst="rect">
            <a:avLst/>
          </a:prstGeom>
          <a:solidFill>
            <a:srgbClr val="FFFFFF"/>
          </a:solidFill>
          <a:ln w="12700">
            <a:solidFill>
              <a:srgbClr val="E8EFF0"/>
            </a:solidFill>
            <a:prstDash val="solid"/>
          </a:ln>
          <a:effectLst>
            <a:outerShdw blurRad="38100" dist="12700" dir="8100000" algn="bl" rotWithShape="0">
              <a:srgbClr val="000000">
                <a:alpha val="6000"/>
              </a:srgbClr>
            </a:outerShdw>
          </a:effectLst>
        </p:spPr>
        <p:txBody>
          <a:bodyPr/>
          <a:lstStyle/>
          <a:p>
            <a:endParaRPr lang="en-US"/>
          </a:p>
        </p:txBody>
      </p:sp>
      <p:sp>
        <p:nvSpPr>
          <p:cNvPr id="15" name="Text 13"/>
          <p:cNvSpPr/>
          <p:nvPr/>
        </p:nvSpPr>
        <p:spPr>
          <a:xfrm>
            <a:off x="1005840" y="2130552"/>
            <a:ext cx="7772400" cy="566928"/>
          </a:xfrm>
          <a:prstGeom prst="rect">
            <a:avLst/>
          </a:prstGeom>
          <a:noFill/>
          <a:ln/>
        </p:spPr>
        <p:txBody>
          <a:bodyPr wrap="square" lIns="0" tIns="0" rIns="0" bIns="0" rtlCol="0" anchor="ctr"/>
          <a:lstStyle/>
          <a:p>
            <a:pPr marL="0" indent="0">
              <a:buNone/>
            </a:pPr>
            <a:r>
              <a:rPr lang="en-US" sz="1100" dirty="0">
                <a:solidFill>
                  <a:srgbClr val="1C2B22"/>
                </a:solidFill>
                <a:latin typeface="Calibri" pitchFamily="34" charset="0"/>
                <a:ea typeface="Calibri" pitchFamily="34" charset="-122"/>
                <a:cs typeface="Calibri" pitchFamily="34" charset="-120"/>
              </a:rPr>
              <a:t>Ensemble forecasting (Linear + Polynomial + Gradient Boosting) projects continued decline unless land use patterns change.</a:t>
            </a:r>
            <a:endParaRPr lang="en-US" sz="1100" dirty="0"/>
          </a:p>
        </p:txBody>
      </p:sp>
      <p:sp>
        <p:nvSpPr>
          <p:cNvPr id="16" name="Shape 14"/>
          <p:cNvSpPr/>
          <p:nvPr/>
        </p:nvSpPr>
        <p:spPr>
          <a:xfrm>
            <a:off x="347472" y="2898648"/>
            <a:ext cx="384048" cy="384048"/>
          </a:xfrm>
          <a:prstGeom prst="ellipse">
            <a:avLst/>
          </a:prstGeom>
          <a:solidFill>
            <a:srgbClr val="2D6A4F"/>
          </a:solidFill>
          <a:ln w="12700">
            <a:solidFill>
              <a:srgbClr val="2D6A4F"/>
            </a:solidFill>
            <a:prstDash val="solid"/>
          </a:ln>
        </p:spPr>
        <p:txBody>
          <a:bodyPr/>
          <a:lstStyle/>
          <a:p>
            <a:endParaRPr lang="en-US"/>
          </a:p>
        </p:txBody>
      </p:sp>
      <p:sp>
        <p:nvSpPr>
          <p:cNvPr id="17" name="Text 15"/>
          <p:cNvSpPr/>
          <p:nvPr/>
        </p:nvSpPr>
        <p:spPr>
          <a:xfrm>
            <a:off x="347472" y="2898648"/>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Shape 16"/>
          <p:cNvSpPr/>
          <p:nvPr/>
        </p:nvSpPr>
        <p:spPr>
          <a:xfrm>
            <a:off x="868680" y="2807208"/>
            <a:ext cx="8046720" cy="566928"/>
          </a:xfrm>
          <a:prstGeom prst="rect">
            <a:avLst/>
          </a:prstGeom>
          <a:solidFill>
            <a:srgbClr val="FFFFFF"/>
          </a:solidFill>
          <a:ln w="12700">
            <a:solidFill>
              <a:srgbClr val="E8EFF0"/>
            </a:solidFill>
            <a:prstDash val="solid"/>
          </a:ln>
          <a:effectLst>
            <a:outerShdw blurRad="38100" dist="12700" dir="8100000" algn="bl" rotWithShape="0">
              <a:srgbClr val="000000">
                <a:alpha val="6000"/>
              </a:srgbClr>
            </a:outerShdw>
          </a:effectLst>
        </p:spPr>
        <p:txBody>
          <a:bodyPr/>
          <a:lstStyle/>
          <a:p>
            <a:endParaRPr lang="en-US"/>
          </a:p>
        </p:txBody>
      </p:sp>
      <p:sp>
        <p:nvSpPr>
          <p:cNvPr id="19" name="Text 17"/>
          <p:cNvSpPr/>
          <p:nvPr/>
        </p:nvSpPr>
        <p:spPr>
          <a:xfrm>
            <a:off x="1005840" y="2807208"/>
            <a:ext cx="7772400" cy="566928"/>
          </a:xfrm>
          <a:prstGeom prst="rect">
            <a:avLst/>
          </a:prstGeom>
          <a:noFill/>
          <a:ln/>
        </p:spPr>
        <p:txBody>
          <a:bodyPr wrap="square" lIns="0" tIns="0" rIns="0" bIns="0" rtlCol="0" anchor="ctr"/>
          <a:lstStyle/>
          <a:p>
            <a:pPr marL="0" indent="0">
              <a:buNone/>
            </a:pPr>
            <a:r>
              <a:rPr lang="en-US" sz="1100" dirty="0">
                <a:solidFill>
                  <a:srgbClr val="1C2B22"/>
                </a:solidFill>
                <a:latin typeface="Calibri" pitchFamily="34" charset="0"/>
                <a:ea typeface="Calibri" pitchFamily="34" charset="-122"/>
                <a:cs typeface="Calibri" pitchFamily="34" charset="-120"/>
              </a:rPr>
              <a:t>Remote sensing provides a practical, low-cost method for environmental monitoring in coastal Sri Lanka.</a:t>
            </a:r>
            <a:endParaRPr lang="en-US" sz="1100" dirty="0"/>
          </a:p>
        </p:txBody>
      </p:sp>
      <p:sp>
        <p:nvSpPr>
          <p:cNvPr id="32" name="Text 30"/>
          <p:cNvSpPr/>
          <p:nvPr/>
        </p:nvSpPr>
        <p:spPr>
          <a:xfrm>
            <a:off x="8686800" y="4800600"/>
            <a:ext cx="365760" cy="228600"/>
          </a:xfrm>
          <a:prstGeom prst="rect">
            <a:avLst/>
          </a:prstGeom>
          <a:noFill/>
          <a:ln/>
        </p:spPr>
        <p:txBody>
          <a:bodyPr wrap="square" rtlCol="0" anchor="ctr"/>
          <a:lstStyle/>
          <a:p>
            <a:pPr marL="0" indent="0" algn="ctr">
              <a:buNone/>
            </a:pPr>
            <a:r>
              <a:rPr lang="en-US" sz="900" dirty="0">
                <a:solidFill>
                  <a:srgbClr val="90A4AE"/>
                </a:solidFill>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A4731"/>
        </a:solidFill>
        <a:effectLst/>
      </p:bgPr>
    </p:bg>
    <p:spTree>
      <p:nvGrpSpPr>
        <p:cNvPr id="1" name=""/>
        <p:cNvGrpSpPr/>
        <p:nvPr/>
      </p:nvGrpSpPr>
      <p:grpSpPr>
        <a:xfrm>
          <a:off x="0" y="0"/>
          <a:ext cx="0" cy="0"/>
          <a:chOff x="0" y="0"/>
          <a:chExt cx="0" cy="0"/>
        </a:xfrm>
      </p:grpSpPr>
      <p:sp>
        <p:nvSpPr>
          <p:cNvPr id="2" name="Shape 0"/>
          <p:cNvSpPr/>
          <p:nvPr/>
        </p:nvSpPr>
        <p:spPr>
          <a:xfrm>
            <a:off x="3200400" y="548640"/>
            <a:ext cx="2743200" cy="2743200"/>
          </a:xfrm>
          <a:prstGeom prst="ellipse">
            <a:avLst/>
          </a:prstGeom>
          <a:solidFill>
            <a:srgbClr val="1E5C3A"/>
          </a:solidFill>
          <a:ln w="19050">
            <a:solidFill>
              <a:srgbClr val="52B788"/>
            </a:solidFill>
            <a:prstDash val="solid"/>
          </a:ln>
        </p:spPr>
        <p:txBody>
          <a:bodyPr/>
          <a:lstStyle/>
          <a:p>
            <a:endParaRPr lang="en-US"/>
          </a:p>
        </p:txBody>
      </p:sp>
      <p:sp>
        <p:nvSpPr>
          <p:cNvPr id="3" name="Text 1"/>
          <p:cNvSpPr/>
          <p:nvPr/>
        </p:nvSpPr>
        <p:spPr>
          <a:xfrm>
            <a:off x="3200400" y="548640"/>
            <a:ext cx="2743200" cy="2743200"/>
          </a:xfrm>
          <a:prstGeom prst="rect">
            <a:avLst/>
          </a:prstGeom>
          <a:noFill/>
          <a:ln/>
        </p:spPr>
        <p:txBody>
          <a:bodyPr wrap="square" lIns="0" tIns="0" rIns="0" bIns="0" rtlCol="0" anchor="ctr"/>
          <a:lstStyle/>
          <a:p>
            <a:pPr marL="0" indent="0" algn="ctr">
              <a:buNone/>
            </a:pPr>
            <a:r>
              <a:rPr lang="en-US" sz="7200" b="1" dirty="0">
                <a:solidFill>
                  <a:srgbClr val="52B788"/>
                </a:solidFill>
                <a:latin typeface="Calibri" pitchFamily="34" charset="0"/>
                <a:ea typeface="Calibri" pitchFamily="34" charset="-122"/>
                <a:cs typeface="Calibri" pitchFamily="34" charset="-120"/>
              </a:rPr>
              <a:t>?</a:t>
            </a:r>
            <a:endParaRPr lang="en-US" sz="7200" dirty="0"/>
          </a:p>
        </p:txBody>
      </p:sp>
      <p:sp>
        <p:nvSpPr>
          <p:cNvPr id="4" name="Text 2"/>
          <p:cNvSpPr/>
          <p:nvPr/>
        </p:nvSpPr>
        <p:spPr>
          <a:xfrm>
            <a:off x="457200" y="3337560"/>
            <a:ext cx="8229600" cy="59436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Questions &amp; Answers</a:t>
            </a:r>
            <a:endParaRPr lang="en-US" sz="2800" dirty="0"/>
          </a:p>
        </p:txBody>
      </p:sp>
      <p:sp>
        <p:nvSpPr>
          <p:cNvPr id="5" name="Text 3"/>
          <p:cNvSpPr/>
          <p:nvPr/>
        </p:nvSpPr>
        <p:spPr>
          <a:xfrm>
            <a:off x="457200" y="3977640"/>
            <a:ext cx="8229600" cy="384048"/>
          </a:xfrm>
          <a:prstGeom prst="rect">
            <a:avLst/>
          </a:prstGeom>
          <a:noFill/>
          <a:ln/>
        </p:spPr>
        <p:txBody>
          <a:bodyPr wrap="square" lIns="0" tIns="0" rIns="0" bIns="0" rtlCol="0" anchor="ctr"/>
          <a:lstStyle/>
          <a:p>
            <a:pPr marL="0" indent="0" algn="ctr">
              <a:buNone/>
            </a:pPr>
            <a:r>
              <a:rPr lang="en-US" sz="1600" dirty="0">
                <a:solidFill>
                  <a:srgbClr val="52B788"/>
                </a:solidFill>
                <a:latin typeface="Calibri" pitchFamily="34" charset="0"/>
                <a:ea typeface="Calibri" pitchFamily="34" charset="-122"/>
                <a:cs typeface="Calibri" pitchFamily="34" charset="-120"/>
              </a:rPr>
              <a:t>Thank you for listening!</a:t>
            </a:r>
            <a:endParaRPr lang="en-US" sz="1600" dirty="0"/>
          </a:p>
        </p:txBody>
      </p:sp>
      <p:sp>
        <p:nvSpPr>
          <p:cNvPr id="6" name="Text 4"/>
          <p:cNvSpPr/>
          <p:nvPr/>
        </p:nvSpPr>
        <p:spPr>
          <a:xfrm>
            <a:off x="457200" y="4681728"/>
            <a:ext cx="8229600" cy="274320"/>
          </a:xfrm>
          <a:prstGeom prst="rect">
            <a:avLst/>
          </a:prstGeom>
          <a:noFill/>
          <a:ln/>
        </p:spPr>
        <p:txBody>
          <a:bodyPr wrap="square" rtlCol="0" anchor="ctr"/>
          <a:lstStyle/>
          <a:p>
            <a:pPr marL="0" indent="0" algn="ctr">
              <a:buNone/>
            </a:pP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209</TotalTime>
  <Words>3175</Words>
  <Application>Microsoft Office PowerPoint</Application>
  <PresentationFormat>On-screen Show (16:9)</PresentationFormat>
  <Paragraphs>414</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Consolas</vt:lpstr>
      <vt:lpstr>Mona Sans VF</vt:lpstr>
      <vt:lpstr>Monaspace Neon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Deforestation and Land Cover Change Analysis – Kalpitiya Peninsula</dc:title>
  <dc:subject>PptxGenJS Presentation</dc:subject>
  <dc:creator>PptxGenJS</dc:creator>
  <cp:lastModifiedBy>Isula Dissanayake</cp:lastModifiedBy>
  <cp:revision>11</cp:revision>
  <dcterms:created xsi:type="dcterms:W3CDTF">2026-05-18T11:22:41Z</dcterms:created>
  <dcterms:modified xsi:type="dcterms:W3CDTF">2026-05-18T19:11:43Z</dcterms:modified>
</cp:coreProperties>
</file>