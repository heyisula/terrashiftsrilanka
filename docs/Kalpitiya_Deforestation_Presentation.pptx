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1" r:id="rId15"/>
    <p:sldId id="269" r:id="rId16"/>
    <p:sldId id="270"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5045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introduce yourselves. State the project title – Deforestation and Land Cover Change Analysis of the Kalpitiya Peninsula. Briefly explain this was your group's image processing project using Landsat satellite data covering 2016 to 2025. Mention the programme – HNDCSAI 25.2. Keep it short, about 20 seconds, and hand over to the next speaker.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deforestation as a major environmental issue, especially for coastal countries like Sri Lanka. Explain that traditional field monitoring is very limited, so satellite remote sensing is a practical and cost-effective alternative. Describe Kalpitiya briefly – it's a coastal strip with a mix of scrubland, mangroves, and agricultural patches under growing pressure from development. Mention the key stats: 20 Landsat scenes, 9 years of data from 2016 to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through each background point briefly. Sri Lanka has real environmental challenges and Kalpitiya is a good case study because it has cloud-free imagery in the dry season and shows genuine land use pressure. Satellite imagery from Landsat has been running since 1972 so we have decades of data to work with. Spectral indices let us go beyond visible colour – NDVI for vegetation, NDWI for water, and so on. Random Forest is a well-established machine learning method, and combining everything into a forecasting pipeline is what makes this project more than just basic mapping.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six objectives. Emphasise that this is an end-to-end pipeline – we didn't just produce maps, we also forecasted future trends. Objective 4 and 5 are probably the most interesting from a results perspective, so hint that those will be covered in detail shortly. This slide should take about 30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dataset. We used Landsat Level-2 Surface Reflectance products from USGS. The scenes were deliberately chosen from February and March each year because cloud cover is lowest in the North Western Province during the dry season. Landsat 8 and 9 both use the same OLI sensor, so they're spectrally compatible – important for multi-year comparison. Point to the timeline image and mention the 20 scenes spanning 9 years.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preprocessing steps. Mention catogirizingData.py first – it reads the date from each filename using regex and moves files into YYYY_MM folders, which makes the whole pipeline chronologically ordered automatically. Then cover reflectance scaling – converting digital numbers to actual reflectance values. Cloud masking was really important; some scenes had over 60% cloud cover, so those pixels were excluded. The persistent land mask is a clever trick – if a pixel was classified as water in more than 60% of all scenes, we just permanently masked it as ocean or lagoon and ignored it for vegetation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overall pipeline flow. Everything ran inside one Jupyter Notebook – retrain.ipynb. We processed each of the 20 scenes through all seven stages in order. Step 3 computes the spectral indices, Step 4 runs the Random Forest classifier, Step 5 does the change detection, and Step 6 generates the forecasts. The histogram graph shows how NDVI distributions shifted over time – you can already see that the high-NDVI peak moved lower in more recent years, which hints at vegetation loss before we even get to the change detection results.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five spectral indices. NDVI is the most important one for this project – it's the primary metric we track over time. Point out the formula strip on each card. EVI is worth mentioning because it handles dense canopy better than NDVI – useful in areas like mangrove patches. The NDVI map strip at the bottom shows all 20 scenes; you can literally see the colour changing from greener scenes in 2016–2017 toward redder scenes in the 2022–2023 period. That visual alone supports the deforestation finding.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how the Random Forest was trained. The key point here is the pseudo-labelling approach – we automatically generated training labels from the spectral index thresholds, so we didn't need field surveys or manual annotation. Point to the confusion matrix and explain that the in-scene accuracy is very high – nearly perfect – but that's partly because the test labels came from the same thresholds we used to generate features. The cross-scene validation on three unseen scenes is the more honest result, and you can see that the 11-feature model outperforms the bands-only version. The before/after map at the bottom right clearly shows the green areas in 2016 being replaced by brown bare soil in 2025.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important slides. Point to the NDVI map. On the left is the 2016 baseline – lots of green. In the middle is the 2025 version of the same calendar month – you can immediately see much more red. On the right is the delta map – red means NDVI went down, which means vegetation was lost. The small blue patch in the north is the only area showing some vegetation gain. The key finding in the stats: between 2022 and 2023, we recorded the largest loss – over 11,000 hectares net, and an 82% loss relative to the initial vegetated area. There was some recovery in early 2025 which is encouraging, but the long-term trend is still negative.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matrix shows which land cover classes changed between 2016 and 2025. The Vegetation row is the most important – it shows how much of the 2016 vegetation ended up as something else. A lot moved to Water, which partly reflects the lagoon boundary shifting, and also some genuine inundation near the coast. Bare Soil transitions are more clearly land clearance. The deforestation rates graph on the right shows the episodic nature of loss – most years had moderate rates but 2020 and 2022–2025 had major spikes. The partial regrowth in 2024-2025 is a positive sign.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our forecasting results. The top panel of the summary figure is the most important – the dark green line is the smoothed historical NDVI, the red line is the ensemble forecast, and the shaded region is the 95% confidence interval. You can see the sharp dip around 2022–2023, and the forecast projects a continued gradual decline if current trends hold. The confidence interval widens a lot by 2030, which is honest – these are statistical extrapolations, not precise predictions. The three model cards on the right explain what each model contributes. Mention the limitation – we didn't include rainfall data or land-use policy, so this is a baseline trend forecast.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key findings. The vegetation cover declined overall – this is clear from both the NDVI trend and the classified maps. The 2022–2023 period had the steepest drop. However, the 2025 data suggests some recovery is happening, which is encouraging. On the classification side, including spectral indices in the model genuinely improved performance. The land cover trend graph on the top right shows vegetation area rising and falling over the years, with the lowest point around 2022–2023. The loss vs gain bars on the bottom right reinforce the episodic nature of the changes.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the project. Run through the four main findings quickly. The key takeaway is that vegetation has declined, the method worked, and the forecasting points to continued pressure if nothing changes. Be honest about the limitations – particularly the pseudo-labelling issue and the 60 m resolution. End on a positive note – remote sensing like this is genuinely useful for countries like Sri Lanka where field monitoring is limited and expensive. Mention future work briefly, especially the upgrade to Sentinel-2. Thank the lecturer and audience.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the floor for questions. Be confident. If you don't know an answer, it's fine to say 'we didn't test that in this project but it would be an interesting direction' or 'that would require ground truth data which was outside our scope.' Stay calm and refer back to the slides if needed.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jpeg"/></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731"/>
        </a:solidFill>
        <a:effectLst/>
      </p:bgPr>
    </p:bg>
    <p:spTree>
      <p:nvGrpSpPr>
        <p:cNvPr id="1" name=""/>
        <p:cNvGrpSpPr/>
        <p:nvPr/>
      </p:nvGrpSpPr>
      <p:grpSpPr>
        <a:xfrm>
          <a:off x="0" y="0"/>
          <a:ext cx="0" cy="0"/>
          <a:chOff x="0" y="0"/>
          <a:chExt cx="0" cy="0"/>
        </a:xfrm>
      </p:grpSpPr>
      <p:sp>
        <p:nvSpPr>
          <p:cNvPr id="2" name="Text 0"/>
          <p:cNvSpPr/>
          <p:nvPr/>
        </p:nvSpPr>
        <p:spPr>
          <a:xfrm>
            <a:off x="457200" y="548640"/>
            <a:ext cx="5303520" cy="1463040"/>
          </a:xfrm>
          <a:prstGeom prst="rect">
            <a:avLst/>
          </a:prstGeom>
          <a:noFill/>
          <a:ln/>
        </p:spPr>
        <p:txBody>
          <a:bodyPr wrap="square"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Deforestation and Land Cover</a:t>
            </a:r>
            <a:endParaRPr lang="en-US" sz="3000" dirty="0"/>
          </a:p>
          <a:p>
            <a:pPr marL="0" indent="0" algn="l">
              <a:buNone/>
            </a:pPr>
            <a:r>
              <a:rPr lang="en-US" sz="3000" b="1" dirty="0">
                <a:solidFill>
                  <a:srgbClr val="FFFFFF"/>
                </a:solidFill>
                <a:latin typeface="Calibri" pitchFamily="34" charset="0"/>
                <a:ea typeface="Calibri" pitchFamily="34" charset="-122"/>
                <a:cs typeface="Calibri" pitchFamily="34" charset="-120"/>
              </a:rPr>
              <a:t>Change Analysis</a:t>
            </a:r>
            <a:endParaRPr lang="en-US" sz="3000" dirty="0"/>
          </a:p>
        </p:txBody>
      </p:sp>
      <p:sp>
        <p:nvSpPr>
          <p:cNvPr id="3" name="Text 1"/>
          <p:cNvSpPr/>
          <p:nvPr/>
        </p:nvSpPr>
        <p:spPr>
          <a:xfrm>
            <a:off x="457200" y="2057400"/>
            <a:ext cx="5303520" cy="365760"/>
          </a:xfrm>
          <a:prstGeom prst="rect">
            <a:avLst/>
          </a:prstGeom>
          <a:noFill/>
          <a:ln/>
        </p:spPr>
        <p:txBody>
          <a:bodyPr wrap="square" rtlCol="0" anchor="ctr"/>
          <a:lstStyle/>
          <a:p>
            <a:pPr marL="0" indent="0" algn="l">
              <a:buNone/>
            </a:pPr>
            <a:r>
              <a:rPr lang="en-US" sz="1600" dirty="0" err="1">
                <a:solidFill>
                  <a:srgbClr val="52B788"/>
                </a:solidFill>
                <a:latin typeface="Calibri" pitchFamily="34" charset="0"/>
                <a:ea typeface="Calibri" pitchFamily="34" charset="-122"/>
                <a:cs typeface="Calibri" pitchFamily="34" charset="-120"/>
              </a:rPr>
              <a:t>Kalpitiya</a:t>
            </a:r>
            <a:r>
              <a:rPr lang="en-US" sz="1600" dirty="0">
                <a:solidFill>
                  <a:srgbClr val="52B788"/>
                </a:solidFill>
                <a:latin typeface="Calibri" pitchFamily="34" charset="0"/>
                <a:ea typeface="Calibri" pitchFamily="34" charset="-122"/>
                <a:cs typeface="Calibri" pitchFamily="34" charset="-120"/>
              </a:rPr>
              <a:t>, Sri Lanka</a:t>
            </a:r>
            <a:endParaRPr lang="en-US" sz="1600" dirty="0"/>
          </a:p>
        </p:txBody>
      </p:sp>
      <p:sp>
        <p:nvSpPr>
          <p:cNvPr id="4" name="Text 2"/>
          <p:cNvSpPr/>
          <p:nvPr/>
        </p:nvSpPr>
        <p:spPr>
          <a:xfrm>
            <a:off x="457200" y="2423160"/>
            <a:ext cx="5303520" cy="548640"/>
          </a:xfrm>
          <a:prstGeom prst="rect">
            <a:avLst/>
          </a:prstGeom>
          <a:noFill/>
          <a:ln/>
        </p:spPr>
        <p:txBody>
          <a:bodyPr wrap="square" rtlCol="0" anchor="ctr"/>
          <a:lstStyle/>
          <a:p>
            <a:pPr marL="0" indent="0" algn="l">
              <a:buNone/>
            </a:pPr>
            <a:r>
              <a:rPr lang="en-US" sz="1100" dirty="0">
                <a:solidFill>
                  <a:srgbClr val="A8C5B5"/>
                </a:solidFill>
                <a:latin typeface="Calibri" pitchFamily="34" charset="0"/>
                <a:ea typeface="Calibri" pitchFamily="34" charset="-122"/>
                <a:cs typeface="Calibri" pitchFamily="34" charset="-120"/>
              </a:rPr>
              <a:t>Using Landsat Satellite Imagery, Machine Learning Classification</a:t>
            </a:r>
            <a:endParaRPr lang="en-US" sz="1100" dirty="0"/>
          </a:p>
          <a:p>
            <a:pPr marL="0" indent="0" algn="l">
              <a:buNone/>
            </a:pPr>
            <a:r>
              <a:rPr lang="en-US" sz="1100" dirty="0">
                <a:solidFill>
                  <a:srgbClr val="A8C5B5"/>
                </a:solidFill>
                <a:latin typeface="Calibri" pitchFamily="34" charset="0"/>
                <a:ea typeface="Calibri" pitchFamily="34" charset="-122"/>
                <a:cs typeface="Calibri" pitchFamily="34" charset="-120"/>
              </a:rPr>
              <a:t>and Vegetation Trend Forecasting</a:t>
            </a:r>
            <a:endParaRPr lang="en-US" sz="1100" dirty="0"/>
          </a:p>
        </p:txBody>
      </p:sp>
      <p:sp>
        <p:nvSpPr>
          <p:cNvPr id="5" name="Shape 3"/>
          <p:cNvSpPr/>
          <p:nvPr/>
        </p:nvSpPr>
        <p:spPr>
          <a:xfrm>
            <a:off x="6245352" y="306324"/>
            <a:ext cx="2834640" cy="4434840"/>
          </a:xfrm>
          <a:prstGeom prst="rect">
            <a:avLst/>
          </a:prstGeom>
          <a:solidFill>
            <a:srgbClr val="1E5C3A"/>
          </a:solidFill>
          <a:ln w="12700">
            <a:solidFill>
              <a:srgbClr val="1E5C3A"/>
            </a:solidFill>
            <a:prstDash val="solid"/>
          </a:ln>
        </p:spPr>
        <p:txBody>
          <a:bodyPr/>
          <a:lstStyle/>
          <a:p>
            <a:endParaRPr lang="en-US" dirty="0"/>
          </a:p>
        </p:txBody>
      </p:sp>
      <p:sp>
        <p:nvSpPr>
          <p:cNvPr id="6" name="Shape 4"/>
          <p:cNvSpPr/>
          <p:nvPr/>
        </p:nvSpPr>
        <p:spPr>
          <a:xfrm>
            <a:off x="6126480" y="411480"/>
            <a:ext cx="54864" cy="4434840"/>
          </a:xfrm>
          <a:prstGeom prst="rect">
            <a:avLst/>
          </a:prstGeom>
          <a:solidFill>
            <a:srgbClr val="52B788"/>
          </a:solidFill>
          <a:ln w="12700">
            <a:solidFill>
              <a:srgbClr val="52B788"/>
            </a:solidFill>
            <a:prstDash val="solid"/>
          </a:ln>
        </p:spPr>
        <p:txBody>
          <a:bodyPr/>
          <a:lstStyle/>
          <a:p>
            <a:endParaRPr lang="en-US"/>
          </a:p>
        </p:txBody>
      </p:sp>
      <p:sp>
        <p:nvSpPr>
          <p:cNvPr id="7" name="Text 5"/>
          <p:cNvSpPr/>
          <p:nvPr/>
        </p:nvSpPr>
        <p:spPr>
          <a:xfrm>
            <a:off x="6355080" y="658368"/>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COURSE</a:t>
            </a:r>
            <a:endParaRPr lang="en-US" sz="800" dirty="0"/>
          </a:p>
        </p:txBody>
      </p:sp>
      <p:sp>
        <p:nvSpPr>
          <p:cNvPr id="8" name="Text 6"/>
          <p:cNvSpPr/>
          <p:nvPr/>
        </p:nvSpPr>
        <p:spPr>
          <a:xfrm>
            <a:off x="6355080" y="822960"/>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Image Processing – Group Project</a:t>
            </a:r>
            <a:endParaRPr lang="en-US" sz="1000" dirty="0"/>
          </a:p>
        </p:txBody>
      </p:sp>
      <p:sp>
        <p:nvSpPr>
          <p:cNvPr id="9" name="Text 7"/>
          <p:cNvSpPr/>
          <p:nvPr/>
        </p:nvSpPr>
        <p:spPr>
          <a:xfrm>
            <a:off x="6355080" y="1225296"/>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PROGRAMME</a:t>
            </a:r>
            <a:endParaRPr lang="en-US" sz="800" dirty="0"/>
          </a:p>
        </p:txBody>
      </p:sp>
      <p:sp>
        <p:nvSpPr>
          <p:cNvPr id="10" name="Text 8"/>
          <p:cNvSpPr/>
          <p:nvPr/>
        </p:nvSpPr>
        <p:spPr>
          <a:xfrm>
            <a:off x="6355080" y="1389888"/>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HND IN COMPUTER SCIENCE WITH AI</a:t>
            </a:r>
            <a:endParaRPr lang="en-US" sz="1000" dirty="0"/>
          </a:p>
        </p:txBody>
      </p:sp>
      <p:sp>
        <p:nvSpPr>
          <p:cNvPr id="11" name="Text 9"/>
          <p:cNvSpPr/>
          <p:nvPr/>
        </p:nvSpPr>
        <p:spPr>
          <a:xfrm>
            <a:off x="6355080" y="1792224"/>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MEMBERS</a:t>
            </a:r>
            <a:endParaRPr lang="en-US" sz="800" dirty="0"/>
          </a:p>
        </p:txBody>
      </p:sp>
      <p:sp>
        <p:nvSpPr>
          <p:cNvPr id="12" name="Text 10"/>
          <p:cNvSpPr/>
          <p:nvPr/>
        </p:nvSpPr>
        <p:spPr>
          <a:xfrm>
            <a:off x="6355080" y="1956816"/>
            <a:ext cx="2468880" cy="347472"/>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 M I N DISSANAYAKE      M </a:t>
            </a:r>
            <a:r>
              <a:rPr lang="en-US" sz="1000" dirty="0" err="1">
                <a:solidFill>
                  <a:srgbClr val="FFFFFF"/>
                </a:solidFill>
                <a:latin typeface="Calibri" pitchFamily="34" charset="0"/>
                <a:ea typeface="Calibri" pitchFamily="34" charset="-122"/>
                <a:cs typeface="Calibri" pitchFamily="34" charset="-120"/>
              </a:rPr>
              <a:t>M</a:t>
            </a:r>
            <a:r>
              <a:rPr lang="en-US" sz="1000" dirty="0">
                <a:solidFill>
                  <a:srgbClr val="FFFFFF"/>
                </a:solidFill>
                <a:latin typeface="Calibri" pitchFamily="34" charset="0"/>
                <a:ea typeface="Calibri" pitchFamily="34" charset="-122"/>
                <a:cs typeface="Calibri" pitchFamily="34" charset="-120"/>
              </a:rPr>
              <a:t> ABDULLAH</a:t>
            </a:r>
            <a:endParaRPr lang="en-US" sz="1000" dirty="0"/>
          </a:p>
          <a:p>
            <a:pPr marL="0" indent="0">
              <a:buNone/>
            </a:pPr>
            <a:r>
              <a:rPr lang="en-US" sz="1000" dirty="0">
                <a:solidFill>
                  <a:srgbClr val="FFFFFF"/>
                </a:solidFill>
                <a:latin typeface="Calibri" pitchFamily="34" charset="0"/>
                <a:ea typeface="Calibri" pitchFamily="34" charset="-122"/>
                <a:cs typeface="Calibri" pitchFamily="34" charset="-120"/>
              </a:rPr>
              <a:t>M F M AFRAR                     R M AFLAL</a:t>
            </a:r>
            <a:endParaRPr lang="en-US" sz="1000" dirty="0"/>
          </a:p>
        </p:txBody>
      </p:sp>
      <p:sp>
        <p:nvSpPr>
          <p:cNvPr id="13" name="Text 11"/>
          <p:cNvSpPr/>
          <p:nvPr/>
        </p:nvSpPr>
        <p:spPr>
          <a:xfrm>
            <a:off x="6355080" y="2505456"/>
            <a:ext cx="2468880" cy="182880"/>
          </a:xfrm>
          <a:prstGeom prst="rect">
            <a:avLst/>
          </a:prstGeom>
          <a:noFill/>
          <a:ln/>
        </p:spPr>
        <p:txBody>
          <a:bodyPr wrap="square" lIns="0" tIns="0" rIns="0" bIns="0" rtlCol="0" anchor="ctr"/>
          <a:lstStyle/>
          <a:p>
            <a:pPr marL="0" indent="0">
              <a:buNone/>
            </a:pPr>
            <a:endParaRPr lang="en-US" sz="800" dirty="0"/>
          </a:p>
        </p:txBody>
      </p:sp>
      <p:sp>
        <p:nvSpPr>
          <p:cNvPr id="14" name="Text 12"/>
          <p:cNvSpPr/>
          <p:nvPr/>
        </p:nvSpPr>
        <p:spPr>
          <a:xfrm>
            <a:off x="6355080" y="2670048"/>
            <a:ext cx="2468880" cy="237744"/>
          </a:xfrm>
          <a:prstGeom prst="rect">
            <a:avLst/>
          </a:prstGeom>
          <a:noFill/>
          <a:ln/>
        </p:spPr>
        <p:txBody>
          <a:bodyPr wrap="square" lIns="0" tIns="0" rIns="0" bIns="0" rtlCol="0" anchor="ctr"/>
          <a:lstStyle/>
          <a:p>
            <a:pPr marL="0" indent="0">
              <a:buNone/>
            </a:pPr>
            <a:endParaRPr lang="en-US" sz="1000" dirty="0"/>
          </a:p>
        </p:txBody>
      </p:sp>
      <p:sp>
        <p:nvSpPr>
          <p:cNvPr id="15" name="Text 13"/>
          <p:cNvSpPr/>
          <p:nvPr/>
        </p:nvSpPr>
        <p:spPr>
          <a:xfrm>
            <a:off x="6336792" y="2340864"/>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INSTITUTION</a:t>
            </a:r>
            <a:endParaRPr lang="en-US" sz="800" dirty="0"/>
          </a:p>
        </p:txBody>
      </p:sp>
      <p:sp>
        <p:nvSpPr>
          <p:cNvPr id="16" name="Text 14"/>
          <p:cNvSpPr/>
          <p:nvPr/>
        </p:nvSpPr>
        <p:spPr>
          <a:xfrm>
            <a:off x="6405372" y="2505456"/>
            <a:ext cx="2468880" cy="237744"/>
          </a:xfrm>
          <a:prstGeom prst="rect">
            <a:avLst/>
          </a:prstGeom>
          <a:noFill/>
          <a:ln/>
        </p:spPr>
        <p:txBody>
          <a:bodyPr wrap="square" lIns="0" tIns="0" rIns="0" bIns="0" rtlCol="0" anchor="ctr"/>
          <a:lstStyle/>
          <a:p>
            <a:pPr marL="0" indent="0">
              <a:buNone/>
            </a:pPr>
            <a:r>
              <a:rPr lang="en-US" sz="1000" dirty="0">
                <a:solidFill>
                  <a:schemeClr val="bg1"/>
                </a:solidFill>
              </a:rPr>
              <a:t>NIBM (Kandy Innovation Centre)</a:t>
            </a:r>
          </a:p>
        </p:txBody>
      </p:sp>
      <p:sp>
        <p:nvSpPr>
          <p:cNvPr id="17" name="Text 15"/>
          <p:cNvSpPr/>
          <p:nvPr/>
        </p:nvSpPr>
        <p:spPr>
          <a:xfrm>
            <a:off x="6329172" y="2775204"/>
            <a:ext cx="2468880" cy="182880"/>
          </a:xfrm>
          <a:prstGeom prst="rect">
            <a:avLst/>
          </a:prstGeom>
          <a:noFill/>
          <a:ln/>
        </p:spPr>
        <p:txBody>
          <a:bodyPr wrap="square" lIns="0" tIns="0" rIns="0" bIns="0" rtlCol="0" anchor="ctr"/>
          <a:lstStyle/>
          <a:p>
            <a:pPr marL="0" indent="0">
              <a:buNone/>
            </a:pPr>
            <a:r>
              <a:rPr lang="en-US" sz="800" b="1" dirty="0">
                <a:solidFill>
                  <a:srgbClr val="52B788"/>
                </a:solidFill>
                <a:latin typeface="Calibri" pitchFamily="34" charset="0"/>
                <a:ea typeface="Calibri" pitchFamily="34" charset="-122"/>
                <a:cs typeface="Calibri" pitchFamily="34" charset="-120"/>
              </a:rPr>
              <a:t>DATE</a:t>
            </a:r>
            <a:endParaRPr lang="en-US" sz="800" dirty="0"/>
          </a:p>
        </p:txBody>
      </p:sp>
      <p:sp>
        <p:nvSpPr>
          <p:cNvPr id="18" name="Text 16"/>
          <p:cNvSpPr/>
          <p:nvPr/>
        </p:nvSpPr>
        <p:spPr>
          <a:xfrm>
            <a:off x="6416040" y="2907792"/>
            <a:ext cx="2468880" cy="237744"/>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19th May, 2026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MEMBER1</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Introduction</a:t>
            </a:r>
            <a:endParaRPr lang="en-US" sz="2200" dirty="0"/>
          </a:p>
        </p:txBody>
      </p:sp>
      <p:sp>
        <p:nvSpPr>
          <p:cNvPr id="6" name="Shape 4"/>
          <p:cNvSpPr/>
          <p:nvPr/>
        </p:nvSpPr>
        <p:spPr>
          <a:xfrm>
            <a:off x="411480" y="777240"/>
            <a:ext cx="4206240" cy="4069080"/>
          </a:xfrm>
          <a:prstGeom prst="rect">
            <a:avLst/>
          </a:prstGeom>
          <a:solidFill>
            <a:srgbClr val="FFFFFF"/>
          </a:solidFill>
          <a:ln w="12700">
            <a:solidFill>
              <a:srgbClr val="E8EFF0"/>
            </a:solidFill>
            <a:prstDash val="solid"/>
          </a:ln>
          <a:effectLst>
            <a:outerShdw blurRad="50800" dist="12700" dir="8100000" algn="bl" rotWithShape="0">
              <a:srgbClr val="000000">
                <a:alpha val="7000"/>
              </a:srgbClr>
            </a:outerShdw>
          </a:effectLst>
        </p:spPr>
        <p:txBody>
          <a:bodyPr/>
          <a:lstStyle/>
          <a:p>
            <a:endParaRPr lang="en-US"/>
          </a:p>
        </p:txBody>
      </p:sp>
      <p:sp>
        <p:nvSpPr>
          <p:cNvPr id="7" name="Text 5"/>
          <p:cNvSpPr/>
          <p:nvPr/>
        </p:nvSpPr>
        <p:spPr>
          <a:xfrm>
            <a:off x="594360" y="914400"/>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What is Deforestation?</a:t>
            </a:r>
            <a:endParaRPr lang="en-US" sz="1100" dirty="0"/>
          </a:p>
        </p:txBody>
      </p:sp>
      <p:sp>
        <p:nvSpPr>
          <p:cNvPr id="8" name="Text 6"/>
          <p:cNvSpPr/>
          <p:nvPr/>
        </p:nvSpPr>
        <p:spPr>
          <a:xfrm>
            <a:off x="594360" y="1115568"/>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Permanent removal of forest or dense vegetation, often for agriculture, aquaculture, or urban development.</a:t>
            </a:r>
            <a:endParaRPr lang="en-US" sz="1000" dirty="0"/>
          </a:p>
        </p:txBody>
      </p:sp>
      <p:sp>
        <p:nvSpPr>
          <p:cNvPr id="9" name="Text 7"/>
          <p:cNvSpPr/>
          <p:nvPr/>
        </p:nvSpPr>
        <p:spPr>
          <a:xfrm>
            <a:off x="594360" y="1810512"/>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Why Does It Matter?</a:t>
            </a:r>
            <a:endParaRPr lang="en-US" sz="1100" dirty="0"/>
          </a:p>
        </p:txBody>
      </p:sp>
      <p:sp>
        <p:nvSpPr>
          <p:cNvPr id="10" name="Text 8"/>
          <p:cNvSpPr/>
          <p:nvPr/>
        </p:nvSpPr>
        <p:spPr>
          <a:xfrm>
            <a:off x="594360" y="2011680"/>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Loss of vegetation disrupts ecosystems, increases carbon emissions, affects water cycles, and threatens coastal stability.</a:t>
            </a:r>
            <a:endParaRPr lang="en-US" sz="1000" dirty="0"/>
          </a:p>
        </p:txBody>
      </p:sp>
      <p:sp>
        <p:nvSpPr>
          <p:cNvPr id="11" name="Text 9"/>
          <p:cNvSpPr/>
          <p:nvPr/>
        </p:nvSpPr>
        <p:spPr>
          <a:xfrm>
            <a:off x="594360" y="2706624"/>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Why Monitor It Remotely?</a:t>
            </a:r>
            <a:endParaRPr lang="en-US" sz="1100" dirty="0"/>
          </a:p>
        </p:txBody>
      </p:sp>
      <p:sp>
        <p:nvSpPr>
          <p:cNvPr id="12" name="Text 10"/>
          <p:cNvSpPr/>
          <p:nvPr/>
        </p:nvSpPr>
        <p:spPr>
          <a:xfrm>
            <a:off x="594360" y="2907792"/>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Ground surveys are expensive and slow. Satellite imagery provides consistent, repeatable, wide-area observations over decades.</a:t>
            </a:r>
            <a:endParaRPr lang="en-US" sz="1000" dirty="0"/>
          </a:p>
        </p:txBody>
      </p:sp>
      <p:sp>
        <p:nvSpPr>
          <p:cNvPr id="13" name="Text 11"/>
          <p:cNvSpPr/>
          <p:nvPr/>
        </p:nvSpPr>
        <p:spPr>
          <a:xfrm>
            <a:off x="594360" y="3602736"/>
            <a:ext cx="3840480" cy="201168"/>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Our Study Area – Kalpitiya</a:t>
            </a:r>
            <a:endParaRPr lang="en-US" sz="1100" dirty="0"/>
          </a:p>
        </p:txBody>
      </p:sp>
      <p:sp>
        <p:nvSpPr>
          <p:cNvPr id="14" name="Text 12"/>
          <p:cNvSpPr/>
          <p:nvPr/>
        </p:nvSpPr>
        <p:spPr>
          <a:xfrm>
            <a:off x="594360" y="3803904"/>
            <a:ext cx="3840480" cy="54864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A coastal peninsula in Sri Lanka's North Western Province, bordered by the Indian Ocean and Puttalam Lagoon. Home to scrubland, mangroves, salt pans, and small settlements.</a:t>
            </a:r>
            <a:endParaRPr lang="en-US" sz="1000" dirty="0"/>
          </a:p>
        </p:txBody>
      </p:sp>
      <p:sp>
        <p:nvSpPr>
          <p:cNvPr id="15" name="Shape 13"/>
          <p:cNvSpPr/>
          <p:nvPr/>
        </p:nvSpPr>
        <p:spPr>
          <a:xfrm>
            <a:off x="4892040" y="777240"/>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6" name="Shape 14"/>
          <p:cNvSpPr/>
          <p:nvPr/>
        </p:nvSpPr>
        <p:spPr>
          <a:xfrm>
            <a:off x="4892040" y="777240"/>
            <a:ext cx="73152" cy="868680"/>
          </a:xfrm>
          <a:prstGeom prst="rect">
            <a:avLst/>
          </a:prstGeom>
          <a:solidFill>
            <a:srgbClr val="52B788"/>
          </a:solidFill>
          <a:ln w="12700">
            <a:solidFill>
              <a:srgbClr val="52B788"/>
            </a:solidFill>
            <a:prstDash val="solid"/>
          </a:ln>
        </p:spPr>
        <p:txBody>
          <a:bodyPr/>
          <a:lstStyle/>
          <a:p>
            <a:endParaRPr lang="en-US"/>
          </a:p>
        </p:txBody>
      </p:sp>
      <p:sp>
        <p:nvSpPr>
          <p:cNvPr id="17" name="Text 15"/>
          <p:cNvSpPr/>
          <p:nvPr/>
        </p:nvSpPr>
        <p:spPr>
          <a:xfrm>
            <a:off x="5074920" y="868680"/>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20</a:t>
            </a:r>
            <a:endParaRPr lang="en-US" sz="2600" dirty="0"/>
          </a:p>
        </p:txBody>
      </p:sp>
      <p:sp>
        <p:nvSpPr>
          <p:cNvPr id="18" name="Text 16"/>
          <p:cNvSpPr/>
          <p:nvPr/>
        </p:nvSpPr>
        <p:spPr>
          <a:xfrm>
            <a:off x="5074920" y="868680"/>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Landsat Scenes</a:t>
            </a:r>
            <a:endParaRPr lang="en-US" sz="1000" dirty="0"/>
          </a:p>
        </p:txBody>
      </p:sp>
      <p:sp>
        <p:nvSpPr>
          <p:cNvPr id="19" name="Text 17"/>
          <p:cNvSpPr/>
          <p:nvPr/>
        </p:nvSpPr>
        <p:spPr>
          <a:xfrm>
            <a:off x="5074920" y="1097280"/>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scenes analysed</a:t>
            </a:r>
            <a:endParaRPr lang="en-US" sz="900" dirty="0"/>
          </a:p>
        </p:txBody>
      </p:sp>
      <p:sp>
        <p:nvSpPr>
          <p:cNvPr id="20" name="Shape 18"/>
          <p:cNvSpPr/>
          <p:nvPr/>
        </p:nvSpPr>
        <p:spPr>
          <a:xfrm>
            <a:off x="4892040" y="1764792"/>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9"/>
          <p:cNvSpPr/>
          <p:nvPr/>
        </p:nvSpPr>
        <p:spPr>
          <a:xfrm>
            <a:off x="4892040" y="1764792"/>
            <a:ext cx="73152" cy="868680"/>
          </a:xfrm>
          <a:prstGeom prst="rect">
            <a:avLst/>
          </a:prstGeom>
          <a:solidFill>
            <a:srgbClr val="52B788"/>
          </a:solidFill>
          <a:ln w="12700">
            <a:solidFill>
              <a:srgbClr val="52B788"/>
            </a:solidFill>
            <a:prstDash val="solid"/>
          </a:ln>
        </p:spPr>
        <p:txBody>
          <a:bodyPr/>
          <a:lstStyle/>
          <a:p>
            <a:endParaRPr lang="en-US"/>
          </a:p>
        </p:txBody>
      </p:sp>
      <p:sp>
        <p:nvSpPr>
          <p:cNvPr id="22" name="Text 20"/>
          <p:cNvSpPr/>
          <p:nvPr/>
        </p:nvSpPr>
        <p:spPr>
          <a:xfrm>
            <a:off x="5074920" y="1856232"/>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9</a:t>
            </a:r>
            <a:endParaRPr lang="en-US" sz="2600" dirty="0"/>
          </a:p>
        </p:txBody>
      </p:sp>
      <p:sp>
        <p:nvSpPr>
          <p:cNvPr id="23" name="Text 21"/>
          <p:cNvSpPr/>
          <p:nvPr/>
        </p:nvSpPr>
        <p:spPr>
          <a:xfrm>
            <a:off x="5074920" y="1856232"/>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Study Period</a:t>
            </a:r>
            <a:endParaRPr lang="en-US" sz="1000" dirty="0"/>
          </a:p>
        </p:txBody>
      </p:sp>
      <p:sp>
        <p:nvSpPr>
          <p:cNvPr id="24" name="Text 22"/>
          <p:cNvSpPr/>
          <p:nvPr/>
        </p:nvSpPr>
        <p:spPr>
          <a:xfrm>
            <a:off x="5074920" y="2084832"/>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years  (2016 – 2025)</a:t>
            </a:r>
            <a:endParaRPr lang="en-US" sz="900" dirty="0"/>
          </a:p>
        </p:txBody>
      </p:sp>
      <p:sp>
        <p:nvSpPr>
          <p:cNvPr id="25" name="Shape 23"/>
          <p:cNvSpPr/>
          <p:nvPr/>
        </p:nvSpPr>
        <p:spPr>
          <a:xfrm>
            <a:off x="4892040" y="2752344"/>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6" name="Shape 24"/>
          <p:cNvSpPr/>
          <p:nvPr/>
        </p:nvSpPr>
        <p:spPr>
          <a:xfrm>
            <a:off x="4892040" y="2752344"/>
            <a:ext cx="73152" cy="868680"/>
          </a:xfrm>
          <a:prstGeom prst="rect">
            <a:avLst/>
          </a:prstGeom>
          <a:solidFill>
            <a:srgbClr val="52B788"/>
          </a:solidFill>
          <a:ln w="12700">
            <a:solidFill>
              <a:srgbClr val="52B788"/>
            </a:solidFill>
            <a:prstDash val="solid"/>
          </a:ln>
        </p:spPr>
        <p:txBody>
          <a:bodyPr/>
          <a:lstStyle/>
          <a:p>
            <a:endParaRPr lang="en-US"/>
          </a:p>
        </p:txBody>
      </p:sp>
      <p:sp>
        <p:nvSpPr>
          <p:cNvPr id="27" name="Text 25"/>
          <p:cNvSpPr/>
          <p:nvPr/>
        </p:nvSpPr>
        <p:spPr>
          <a:xfrm>
            <a:off x="5074920" y="2843784"/>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30m</a:t>
            </a:r>
            <a:endParaRPr lang="en-US" sz="2600" dirty="0"/>
          </a:p>
        </p:txBody>
      </p:sp>
      <p:sp>
        <p:nvSpPr>
          <p:cNvPr id="28" name="Text 26"/>
          <p:cNvSpPr/>
          <p:nvPr/>
        </p:nvSpPr>
        <p:spPr>
          <a:xfrm>
            <a:off x="5074920" y="2843784"/>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Resolution</a:t>
            </a:r>
            <a:endParaRPr lang="en-US" sz="1000" dirty="0"/>
          </a:p>
        </p:txBody>
      </p:sp>
      <p:sp>
        <p:nvSpPr>
          <p:cNvPr id="29" name="Text 27"/>
          <p:cNvSpPr/>
          <p:nvPr/>
        </p:nvSpPr>
        <p:spPr>
          <a:xfrm>
            <a:off x="5074920" y="3072384"/>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Landsat pixel size</a:t>
            </a:r>
            <a:endParaRPr lang="en-US" sz="900" dirty="0"/>
          </a:p>
        </p:txBody>
      </p:sp>
      <p:sp>
        <p:nvSpPr>
          <p:cNvPr id="30" name="Shape 28"/>
          <p:cNvSpPr/>
          <p:nvPr/>
        </p:nvSpPr>
        <p:spPr>
          <a:xfrm>
            <a:off x="4892040" y="3739896"/>
            <a:ext cx="3931920" cy="86868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31" name="Shape 29"/>
          <p:cNvSpPr/>
          <p:nvPr/>
        </p:nvSpPr>
        <p:spPr>
          <a:xfrm>
            <a:off x="4892040" y="3739896"/>
            <a:ext cx="73152" cy="868680"/>
          </a:xfrm>
          <a:prstGeom prst="rect">
            <a:avLst/>
          </a:prstGeom>
          <a:solidFill>
            <a:srgbClr val="52B788"/>
          </a:solidFill>
          <a:ln w="12700">
            <a:solidFill>
              <a:srgbClr val="52B788"/>
            </a:solidFill>
            <a:prstDash val="solid"/>
          </a:ln>
        </p:spPr>
        <p:txBody>
          <a:bodyPr/>
          <a:lstStyle/>
          <a:p>
            <a:endParaRPr lang="en-US"/>
          </a:p>
        </p:txBody>
      </p:sp>
      <p:sp>
        <p:nvSpPr>
          <p:cNvPr id="32" name="Text 30"/>
          <p:cNvSpPr/>
          <p:nvPr/>
        </p:nvSpPr>
        <p:spPr>
          <a:xfrm>
            <a:off x="5074920" y="3831336"/>
            <a:ext cx="1097280" cy="438912"/>
          </a:xfrm>
          <a:prstGeom prst="rect">
            <a:avLst/>
          </a:prstGeom>
          <a:noFill/>
          <a:ln/>
        </p:spPr>
        <p:txBody>
          <a:bodyPr wrap="square" lIns="0" tIns="0" rIns="0" bIns="0" rtlCol="0" anchor="ctr"/>
          <a:lstStyle/>
          <a:p>
            <a:pPr marL="0" indent="0">
              <a:buNone/>
            </a:pPr>
            <a:r>
              <a:rPr lang="en-US" sz="2600" b="1" dirty="0">
                <a:solidFill>
                  <a:srgbClr val="1A4731"/>
                </a:solidFill>
                <a:latin typeface="Calibri" pitchFamily="34" charset="0"/>
                <a:ea typeface="Calibri" pitchFamily="34" charset="-122"/>
                <a:cs typeface="Calibri" pitchFamily="34" charset="-120"/>
              </a:rPr>
              <a:t>4</a:t>
            </a:r>
            <a:endParaRPr lang="en-US" sz="2600" dirty="0"/>
          </a:p>
        </p:txBody>
      </p:sp>
      <p:sp>
        <p:nvSpPr>
          <p:cNvPr id="33" name="Text 31"/>
          <p:cNvSpPr/>
          <p:nvPr/>
        </p:nvSpPr>
        <p:spPr>
          <a:xfrm>
            <a:off x="5074920" y="3831336"/>
            <a:ext cx="3566160" cy="237744"/>
          </a:xfrm>
          <a:prstGeom prst="rect">
            <a:avLst/>
          </a:prstGeom>
          <a:noFill/>
          <a:ln/>
        </p:spPr>
        <p:txBody>
          <a:bodyPr wrap="square" lIns="0" tIns="0" rIns="0" bIns="0" rtlCol="0" anchor="ctr"/>
          <a:lstStyle/>
          <a:p>
            <a:pPr marL="0" indent="0" algn="r">
              <a:buNone/>
            </a:pPr>
            <a:r>
              <a:rPr lang="en-US" sz="1000" b="1" dirty="0">
                <a:solidFill>
                  <a:srgbClr val="1C2B22"/>
                </a:solidFill>
                <a:latin typeface="Calibri" pitchFamily="34" charset="0"/>
                <a:ea typeface="Calibri" pitchFamily="34" charset="-122"/>
                <a:cs typeface="Calibri" pitchFamily="34" charset="-120"/>
              </a:rPr>
              <a:t>Land Classes</a:t>
            </a:r>
            <a:endParaRPr lang="en-US" sz="1000" dirty="0"/>
          </a:p>
        </p:txBody>
      </p:sp>
      <p:sp>
        <p:nvSpPr>
          <p:cNvPr id="34" name="Text 32"/>
          <p:cNvSpPr/>
          <p:nvPr/>
        </p:nvSpPr>
        <p:spPr>
          <a:xfrm>
            <a:off x="5074920" y="4059936"/>
            <a:ext cx="3566160" cy="201168"/>
          </a:xfrm>
          <a:prstGeom prst="rect">
            <a:avLst/>
          </a:prstGeom>
          <a:noFill/>
          <a:ln/>
        </p:spPr>
        <p:txBody>
          <a:bodyPr wrap="square" lIns="0" tIns="0" rIns="0" bIns="0" rtlCol="0" anchor="ctr"/>
          <a:lstStyle/>
          <a:p>
            <a:pPr marL="0" indent="0" algn="r">
              <a:buNone/>
            </a:pPr>
            <a:r>
              <a:rPr lang="en-US" sz="900" dirty="0">
                <a:solidFill>
                  <a:srgbClr val="90A4AE"/>
                </a:solidFill>
                <a:latin typeface="Calibri" pitchFamily="34" charset="0"/>
                <a:ea typeface="Calibri" pitchFamily="34" charset="-122"/>
                <a:cs typeface="Calibri" pitchFamily="34" charset="-120"/>
              </a:rPr>
              <a:t>Water · Veg · Soil · Built</a:t>
            </a:r>
            <a:endParaRPr lang="en-US" sz="900" dirty="0"/>
          </a:p>
        </p:txBody>
      </p:sp>
      <p:sp>
        <p:nvSpPr>
          <p:cNvPr id="35" name="Text 3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1</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Background</a:t>
            </a:r>
            <a:endParaRPr lang="en-US" sz="2200" dirty="0"/>
          </a:p>
        </p:txBody>
      </p:sp>
      <p:sp>
        <p:nvSpPr>
          <p:cNvPr id="6" name="Shape 4"/>
          <p:cNvSpPr/>
          <p:nvPr/>
        </p:nvSpPr>
        <p:spPr>
          <a:xfrm>
            <a:off x="347472" y="77724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Shape 5"/>
          <p:cNvSpPr/>
          <p:nvPr/>
        </p:nvSpPr>
        <p:spPr>
          <a:xfrm>
            <a:off x="347472" y="777240"/>
            <a:ext cx="4206240" cy="73152"/>
          </a:xfrm>
          <a:prstGeom prst="rect">
            <a:avLst/>
          </a:prstGeom>
          <a:solidFill>
            <a:srgbClr val="52B788"/>
          </a:solidFill>
          <a:ln w="12700">
            <a:solidFill>
              <a:srgbClr val="52B788"/>
            </a:solidFill>
            <a:prstDash val="solid"/>
          </a:ln>
        </p:spPr>
        <p:txBody>
          <a:bodyPr/>
          <a:lstStyle/>
          <a:p>
            <a:endParaRPr lang="en-US"/>
          </a:p>
        </p:txBody>
      </p:sp>
      <p:sp>
        <p:nvSpPr>
          <p:cNvPr id="8" name="Text 6"/>
          <p:cNvSpPr/>
          <p:nvPr/>
        </p:nvSpPr>
        <p:spPr>
          <a:xfrm>
            <a:off x="512064" y="88696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Environmental Context</a:t>
            </a:r>
            <a:endParaRPr lang="en-US" sz="1100" dirty="0"/>
          </a:p>
        </p:txBody>
      </p:sp>
      <p:sp>
        <p:nvSpPr>
          <p:cNvPr id="9" name="Text 7"/>
          <p:cNvSpPr/>
          <p:nvPr/>
        </p:nvSpPr>
        <p:spPr>
          <a:xfrm>
            <a:off x="512064" y="114300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Sri Lanka has faced ongoing vegetation loss in coastal and semi-arid regions due to aquaculture, agriculture, and settlement expansion. Kalpitiya is one of the most pressured coastal zones.</a:t>
            </a:r>
            <a:endParaRPr lang="en-US" sz="950" dirty="0"/>
          </a:p>
        </p:txBody>
      </p:sp>
      <p:sp>
        <p:nvSpPr>
          <p:cNvPr id="10" name="Shape 8"/>
          <p:cNvSpPr/>
          <p:nvPr/>
        </p:nvSpPr>
        <p:spPr>
          <a:xfrm>
            <a:off x="4773168" y="77724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1" name="Shape 9"/>
          <p:cNvSpPr/>
          <p:nvPr/>
        </p:nvSpPr>
        <p:spPr>
          <a:xfrm>
            <a:off x="4773168" y="777240"/>
            <a:ext cx="4206240" cy="73152"/>
          </a:xfrm>
          <a:prstGeom prst="rect">
            <a:avLst/>
          </a:prstGeom>
          <a:solidFill>
            <a:srgbClr val="52B788"/>
          </a:solidFill>
          <a:ln w="12700">
            <a:solidFill>
              <a:srgbClr val="52B788"/>
            </a:solidFill>
            <a:prstDash val="solid"/>
          </a:ln>
        </p:spPr>
        <p:txBody>
          <a:bodyPr/>
          <a:lstStyle/>
          <a:p>
            <a:endParaRPr lang="en-US"/>
          </a:p>
        </p:txBody>
      </p:sp>
      <p:sp>
        <p:nvSpPr>
          <p:cNvPr id="12" name="Text 10"/>
          <p:cNvSpPr/>
          <p:nvPr/>
        </p:nvSpPr>
        <p:spPr>
          <a:xfrm>
            <a:off x="4937760" y="88696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Remote Sensing</a:t>
            </a:r>
            <a:endParaRPr lang="en-US" sz="1100" dirty="0"/>
          </a:p>
        </p:txBody>
      </p:sp>
      <p:sp>
        <p:nvSpPr>
          <p:cNvPr id="13" name="Text 11"/>
          <p:cNvSpPr/>
          <p:nvPr/>
        </p:nvSpPr>
        <p:spPr>
          <a:xfrm>
            <a:off x="4937760" y="114300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Satellites like Landsat provide consistent global observations since 1972. They detect spectral information beyond human vision – critical for vegetation and water mapping.</a:t>
            </a:r>
            <a:endParaRPr lang="en-US" sz="950" dirty="0"/>
          </a:p>
        </p:txBody>
      </p:sp>
      <p:sp>
        <p:nvSpPr>
          <p:cNvPr id="14" name="Shape 12"/>
          <p:cNvSpPr/>
          <p:nvPr/>
        </p:nvSpPr>
        <p:spPr>
          <a:xfrm>
            <a:off x="347472" y="201168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5" name="Shape 13"/>
          <p:cNvSpPr/>
          <p:nvPr/>
        </p:nvSpPr>
        <p:spPr>
          <a:xfrm>
            <a:off x="347472" y="2011680"/>
            <a:ext cx="4206240" cy="73152"/>
          </a:xfrm>
          <a:prstGeom prst="rect">
            <a:avLst/>
          </a:prstGeom>
          <a:solidFill>
            <a:srgbClr val="52B788"/>
          </a:solidFill>
          <a:ln w="12700">
            <a:solidFill>
              <a:srgbClr val="52B788"/>
            </a:solidFill>
            <a:prstDash val="solid"/>
          </a:ln>
        </p:spPr>
        <p:txBody>
          <a:bodyPr/>
          <a:lstStyle/>
          <a:p>
            <a:endParaRPr lang="en-US"/>
          </a:p>
        </p:txBody>
      </p:sp>
      <p:sp>
        <p:nvSpPr>
          <p:cNvPr id="16" name="Text 14"/>
          <p:cNvSpPr/>
          <p:nvPr/>
        </p:nvSpPr>
        <p:spPr>
          <a:xfrm>
            <a:off x="512064" y="212140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Spectral Indices</a:t>
            </a:r>
            <a:endParaRPr lang="en-US" sz="1100" dirty="0"/>
          </a:p>
        </p:txBody>
      </p:sp>
      <p:sp>
        <p:nvSpPr>
          <p:cNvPr id="17" name="Text 15"/>
          <p:cNvSpPr/>
          <p:nvPr/>
        </p:nvSpPr>
        <p:spPr>
          <a:xfrm>
            <a:off x="512064" y="237744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Mathematical band combinations (NDVI, NDWI, NDBI, NBR, EVI) transform raw reflectance data into meaningful measurements of vegetation health, water, and built-up areas.</a:t>
            </a:r>
            <a:endParaRPr lang="en-US" sz="950" dirty="0"/>
          </a:p>
        </p:txBody>
      </p:sp>
      <p:sp>
        <p:nvSpPr>
          <p:cNvPr id="18" name="Shape 16"/>
          <p:cNvSpPr/>
          <p:nvPr/>
        </p:nvSpPr>
        <p:spPr>
          <a:xfrm>
            <a:off x="4773168" y="2011680"/>
            <a:ext cx="4206240"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9" name="Shape 17"/>
          <p:cNvSpPr/>
          <p:nvPr/>
        </p:nvSpPr>
        <p:spPr>
          <a:xfrm>
            <a:off x="4773168" y="2011680"/>
            <a:ext cx="4206240" cy="73152"/>
          </a:xfrm>
          <a:prstGeom prst="rect">
            <a:avLst/>
          </a:prstGeom>
          <a:solidFill>
            <a:srgbClr val="52B788"/>
          </a:solidFill>
          <a:ln w="12700">
            <a:solidFill>
              <a:srgbClr val="52B788"/>
            </a:solidFill>
            <a:prstDash val="solid"/>
          </a:ln>
        </p:spPr>
        <p:txBody>
          <a:bodyPr/>
          <a:lstStyle/>
          <a:p>
            <a:endParaRPr lang="en-US"/>
          </a:p>
        </p:txBody>
      </p:sp>
      <p:sp>
        <p:nvSpPr>
          <p:cNvPr id="20" name="Text 18"/>
          <p:cNvSpPr/>
          <p:nvPr/>
        </p:nvSpPr>
        <p:spPr>
          <a:xfrm>
            <a:off x="4937760" y="2121408"/>
            <a:ext cx="397764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Machine Learning Classification</a:t>
            </a:r>
            <a:endParaRPr lang="en-US" sz="1100" dirty="0"/>
          </a:p>
        </p:txBody>
      </p:sp>
      <p:sp>
        <p:nvSpPr>
          <p:cNvPr id="21" name="Text 19"/>
          <p:cNvSpPr/>
          <p:nvPr/>
        </p:nvSpPr>
        <p:spPr>
          <a:xfrm>
            <a:off x="4937760" y="2377440"/>
            <a:ext cx="3977640" cy="56692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Random Forest classifiers can map land cover from satellite features at scale, removing the need for expensive manual pixel labelling.</a:t>
            </a:r>
            <a:endParaRPr lang="en-US" sz="950" dirty="0"/>
          </a:p>
        </p:txBody>
      </p:sp>
      <p:sp>
        <p:nvSpPr>
          <p:cNvPr id="22" name="Shape 20"/>
          <p:cNvSpPr/>
          <p:nvPr/>
        </p:nvSpPr>
        <p:spPr>
          <a:xfrm>
            <a:off x="347472" y="3246120"/>
            <a:ext cx="8449056" cy="100584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3" name="Text 21"/>
          <p:cNvSpPr/>
          <p:nvPr/>
        </p:nvSpPr>
        <p:spPr>
          <a:xfrm>
            <a:off x="530352" y="3319272"/>
            <a:ext cx="8046720"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Change Detection &amp; Forecasting</a:t>
            </a:r>
            <a:endParaRPr lang="en-US" sz="1100" dirty="0"/>
          </a:p>
        </p:txBody>
      </p:sp>
      <p:sp>
        <p:nvSpPr>
          <p:cNvPr id="24" name="Text 22"/>
          <p:cNvSpPr/>
          <p:nvPr/>
        </p:nvSpPr>
        <p:spPr>
          <a:xfrm>
            <a:off x="530352" y="3575304"/>
            <a:ext cx="8046720" cy="566928"/>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Comparing multi-temporal classified maps reveals how land has changed. Regression models allow us to project future vegetation trends – useful for environmental planning.</a:t>
            </a:r>
            <a:endParaRPr lang="en-US" sz="1000" dirty="0"/>
          </a:p>
        </p:txBody>
      </p:sp>
      <p:sp>
        <p:nvSpPr>
          <p:cNvPr id="25" name="Text 2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3" name="Text 1"/>
          <p:cNvSpPr/>
          <p:nvPr/>
        </p:nvSpPr>
        <p:spPr>
          <a:xfrm>
            <a:off x="457200" y="201168"/>
            <a:ext cx="8229600" cy="475488"/>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Project Objectives</a:t>
            </a:r>
            <a:endParaRPr lang="en-US" sz="2400" dirty="0"/>
          </a:p>
        </p:txBody>
      </p:sp>
      <p:sp>
        <p:nvSpPr>
          <p:cNvPr id="4" name="Text 2"/>
          <p:cNvSpPr/>
          <p:nvPr/>
        </p:nvSpPr>
        <p:spPr>
          <a:xfrm>
            <a:off x="457200" y="658368"/>
            <a:ext cx="8229600" cy="274320"/>
          </a:xfrm>
          <a:prstGeom prst="rect">
            <a:avLst/>
          </a:prstGeom>
          <a:noFill/>
          <a:ln/>
        </p:spPr>
        <p:txBody>
          <a:bodyPr wrap="square" lIns="0" tIns="0" rIns="0" bIns="0" rtlCol="0" anchor="ctr"/>
          <a:lstStyle/>
          <a:p>
            <a:pPr marL="0" indent="0" algn="l">
              <a:buNone/>
            </a:pPr>
            <a:r>
              <a:rPr lang="en-US" sz="1200" dirty="0">
                <a:solidFill>
                  <a:srgbClr val="52B788"/>
                </a:solidFill>
                <a:latin typeface="Calibri" pitchFamily="34" charset="0"/>
                <a:ea typeface="Calibri" pitchFamily="34" charset="-122"/>
                <a:cs typeface="Calibri" pitchFamily="34" charset="-120"/>
              </a:rPr>
              <a:t>What we set out to achieve</a:t>
            </a:r>
            <a:endParaRPr lang="en-US" sz="1200" dirty="0"/>
          </a:p>
        </p:txBody>
      </p:sp>
      <p:sp>
        <p:nvSpPr>
          <p:cNvPr id="5" name="Shape 3"/>
          <p:cNvSpPr/>
          <p:nvPr/>
        </p:nvSpPr>
        <p:spPr>
          <a:xfrm>
            <a:off x="411480" y="1097280"/>
            <a:ext cx="4160520" cy="1005840"/>
          </a:xfrm>
          <a:prstGeom prst="rect">
            <a:avLst/>
          </a:prstGeom>
          <a:solidFill>
            <a:srgbClr val="1E5C3A"/>
          </a:solidFill>
          <a:ln w="12700">
            <a:solidFill>
              <a:srgbClr val="2D7050"/>
            </a:solidFill>
            <a:prstDash val="solid"/>
          </a:ln>
        </p:spPr>
        <p:txBody>
          <a:bodyPr/>
          <a:lstStyle/>
          <a:p>
            <a:endParaRPr lang="en-US"/>
          </a:p>
        </p:txBody>
      </p:sp>
      <p:sp>
        <p:nvSpPr>
          <p:cNvPr id="6" name="Shape 4"/>
          <p:cNvSpPr/>
          <p:nvPr/>
        </p:nvSpPr>
        <p:spPr>
          <a:xfrm>
            <a:off x="548640" y="1353312"/>
            <a:ext cx="457200" cy="457200"/>
          </a:xfrm>
          <a:prstGeom prst="ellipse">
            <a:avLst/>
          </a:prstGeom>
          <a:solidFill>
            <a:srgbClr val="52B788"/>
          </a:solidFill>
          <a:ln w="12700">
            <a:solidFill>
              <a:srgbClr val="52B788"/>
            </a:solidFill>
            <a:prstDash val="solid"/>
          </a:ln>
        </p:spPr>
        <p:txBody>
          <a:bodyPr/>
          <a:lstStyle/>
          <a:p>
            <a:endParaRPr lang="en-US"/>
          </a:p>
        </p:txBody>
      </p:sp>
      <p:sp>
        <p:nvSpPr>
          <p:cNvPr id="7" name="Text 5"/>
          <p:cNvSpPr/>
          <p:nvPr/>
        </p:nvSpPr>
        <p:spPr>
          <a:xfrm>
            <a:off x="548640" y="135331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8" name="Text 6"/>
          <p:cNvSpPr/>
          <p:nvPr/>
        </p:nvSpPr>
        <p:spPr>
          <a:xfrm>
            <a:off x="1143000" y="123444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Organise and preprocess multi-temporal Landsat imagery from 2016 to 2025</a:t>
            </a:r>
            <a:endParaRPr lang="en-US" sz="1050" dirty="0"/>
          </a:p>
        </p:txBody>
      </p:sp>
      <p:sp>
        <p:nvSpPr>
          <p:cNvPr id="9" name="Shape 7"/>
          <p:cNvSpPr/>
          <p:nvPr/>
        </p:nvSpPr>
        <p:spPr>
          <a:xfrm>
            <a:off x="411480" y="2331720"/>
            <a:ext cx="4160520" cy="1005840"/>
          </a:xfrm>
          <a:prstGeom prst="rect">
            <a:avLst/>
          </a:prstGeom>
          <a:solidFill>
            <a:srgbClr val="1E5C3A"/>
          </a:solidFill>
          <a:ln w="12700">
            <a:solidFill>
              <a:srgbClr val="2D7050"/>
            </a:solidFill>
            <a:prstDash val="solid"/>
          </a:ln>
        </p:spPr>
        <p:txBody>
          <a:bodyPr/>
          <a:lstStyle/>
          <a:p>
            <a:endParaRPr lang="en-US"/>
          </a:p>
        </p:txBody>
      </p:sp>
      <p:sp>
        <p:nvSpPr>
          <p:cNvPr id="10" name="Shape 8"/>
          <p:cNvSpPr/>
          <p:nvPr/>
        </p:nvSpPr>
        <p:spPr>
          <a:xfrm>
            <a:off x="548640" y="2587752"/>
            <a:ext cx="457200" cy="457200"/>
          </a:xfrm>
          <a:prstGeom prst="ellipse">
            <a:avLst/>
          </a:prstGeom>
          <a:solidFill>
            <a:srgbClr val="52B788"/>
          </a:solidFill>
          <a:ln w="12700">
            <a:solidFill>
              <a:srgbClr val="52B788"/>
            </a:solidFill>
            <a:prstDash val="solid"/>
          </a:ln>
        </p:spPr>
        <p:txBody>
          <a:bodyPr/>
          <a:lstStyle/>
          <a:p>
            <a:endParaRPr lang="en-US"/>
          </a:p>
        </p:txBody>
      </p:sp>
      <p:sp>
        <p:nvSpPr>
          <p:cNvPr id="11" name="Text 9"/>
          <p:cNvSpPr/>
          <p:nvPr/>
        </p:nvSpPr>
        <p:spPr>
          <a:xfrm>
            <a:off x="548640" y="258775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2" name="Text 10"/>
          <p:cNvSpPr/>
          <p:nvPr/>
        </p:nvSpPr>
        <p:spPr>
          <a:xfrm>
            <a:off x="1143000" y="246888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Compute spectral indices (NDVI, NDWI, NDBI, NBR, EVI) per scene</a:t>
            </a:r>
            <a:endParaRPr lang="en-US" sz="1050" dirty="0"/>
          </a:p>
        </p:txBody>
      </p:sp>
      <p:sp>
        <p:nvSpPr>
          <p:cNvPr id="13" name="Shape 11"/>
          <p:cNvSpPr/>
          <p:nvPr/>
        </p:nvSpPr>
        <p:spPr>
          <a:xfrm>
            <a:off x="411480" y="3566160"/>
            <a:ext cx="4160520" cy="1005840"/>
          </a:xfrm>
          <a:prstGeom prst="rect">
            <a:avLst/>
          </a:prstGeom>
          <a:solidFill>
            <a:srgbClr val="1E5C3A"/>
          </a:solidFill>
          <a:ln w="12700">
            <a:solidFill>
              <a:srgbClr val="2D7050"/>
            </a:solidFill>
            <a:prstDash val="solid"/>
          </a:ln>
        </p:spPr>
        <p:txBody>
          <a:bodyPr/>
          <a:lstStyle/>
          <a:p>
            <a:endParaRPr lang="en-US"/>
          </a:p>
        </p:txBody>
      </p:sp>
      <p:sp>
        <p:nvSpPr>
          <p:cNvPr id="14" name="Shape 12"/>
          <p:cNvSpPr/>
          <p:nvPr/>
        </p:nvSpPr>
        <p:spPr>
          <a:xfrm>
            <a:off x="548640" y="3822192"/>
            <a:ext cx="457200" cy="457200"/>
          </a:xfrm>
          <a:prstGeom prst="ellipse">
            <a:avLst/>
          </a:prstGeom>
          <a:solidFill>
            <a:srgbClr val="52B788"/>
          </a:solidFill>
          <a:ln w="12700">
            <a:solidFill>
              <a:srgbClr val="52B788"/>
            </a:solidFill>
            <a:prstDash val="solid"/>
          </a:ln>
        </p:spPr>
        <p:txBody>
          <a:bodyPr/>
          <a:lstStyle/>
          <a:p>
            <a:endParaRPr lang="en-US"/>
          </a:p>
        </p:txBody>
      </p:sp>
      <p:sp>
        <p:nvSpPr>
          <p:cNvPr id="15" name="Text 13"/>
          <p:cNvSpPr/>
          <p:nvPr/>
        </p:nvSpPr>
        <p:spPr>
          <a:xfrm>
            <a:off x="548640" y="382219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16" name="Text 14"/>
          <p:cNvSpPr/>
          <p:nvPr/>
        </p:nvSpPr>
        <p:spPr>
          <a:xfrm>
            <a:off x="1143000" y="370332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Classify land cover using Random Forest (Water, Vegetation, Bare Soil, Built-Up)</a:t>
            </a:r>
            <a:endParaRPr lang="en-US" sz="1050" dirty="0"/>
          </a:p>
        </p:txBody>
      </p:sp>
      <p:sp>
        <p:nvSpPr>
          <p:cNvPr id="17" name="Shape 15"/>
          <p:cNvSpPr/>
          <p:nvPr/>
        </p:nvSpPr>
        <p:spPr>
          <a:xfrm>
            <a:off x="4800600" y="1097280"/>
            <a:ext cx="4160520" cy="1005840"/>
          </a:xfrm>
          <a:prstGeom prst="rect">
            <a:avLst/>
          </a:prstGeom>
          <a:solidFill>
            <a:srgbClr val="1E5C3A"/>
          </a:solidFill>
          <a:ln w="12700">
            <a:solidFill>
              <a:srgbClr val="2D7050"/>
            </a:solidFill>
            <a:prstDash val="solid"/>
          </a:ln>
        </p:spPr>
        <p:txBody>
          <a:bodyPr/>
          <a:lstStyle/>
          <a:p>
            <a:endParaRPr lang="en-US"/>
          </a:p>
        </p:txBody>
      </p:sp>
      <p:sp>
        <p:nvSpPr>
          <p:cNvPr id="18" name="Shape 16"/>
          <p:cNvSpPr/>
          <p:nvPr/>
        </p:nvSpPr>
        <p:spPr>
          <a:xfrm>
            <a:off x="4937760" y="1353312"/>
            <a:ext cx="457200" cy="457200"/>
          </a:xfrm>
          <a:prstGeom prst="ellipse">
            <a:avLst/>
          </a:prstGeom>
          <a:solidFill>
            <a:srgbClr val="52B788"/>
          </a:solidFill>
          <a:ln w="12700">
            <a:solidFill>
              <a:srgbClr val="52B788"/>
            </a:solidFill>
            <a:prstDash val="solid"/>
          </a:ln>
        </p:spPr>
        <p:txBody>
          <a:bodyPr/>
          <a:lstStyle/>
          <a:p>
            <a:endParaRPr lang="en-US"/>
          </a:p>
        </p:txBody>
      </p:sp>
      <p:sp>
        <p:nvSpPr>
          <p:cNvPr id="19" name="Text 17"/>
          <p:cNvSpPr/>
          <p:nvPr/>
        </p:nvSpPr>
        <p:spPr>
          <a:xfrm>
            <a:off x="4937760" y="135331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0" name="Text 18"/>
          <p:cNvSpPr/>
          <p:nvPr/>
        </p:nvSpPr>
        <p:spPr>
          <a:xfrm>
            <a:off x="5532120" y="123444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Detect land cover and vegetation changes across the study period</a:t>
            </a:r>
            <a:endParaRPr lang="en-US" sz="1050" dirty="0"/>
          </a:p>
        </p:txBody>
      </p:sp>
      <p:sp>
        <p:nvSpPr>
          <p:cNvPr id="21" name="Shape 19"/>
          <p:cNvSpPr/>
          <p:nvPr/>
        </p:nvSpPr>
        <p:spPr>
          <a:xfrm>
            <a:off x="4800600" y="2331720"/>
            <a:ext cx="4160520" cy="1005840"/>
          </a:xfrm>
          <a:prstGeom prst="rect">
            <a:avLst/>
          </a:prstGeom>
          <a:solidFill>
            <a:srgbClr val="1E5C3A"/>
          </a:solidFill>
          <a:ln w="12700">
            <a:solidFill>
              <a:srgbClr val="2D7050"/>
            </a:solidFill>
            <a:prstDash val="solid"/>
          </a:ln>
        </p:spPr>
        <p:txBody>
          <a:bodyPr/>
          <a:lstStyle/>
          <a:p>
            <a:endParaRPr lang="en-US"/>
          </a:p>
        </p:txBody>
      </p:sp>
      <p:sp>
        <p:nvSpPr>
          <p:cNvPr id="22" name="Shape 20"/>
          <p:cNvSpPr/>
          <p:nvPr/>
        </p:nvSpPr>
        <p:spPr>
          <a:xfrm>
            <a:off x="4937760" y="2587752"/>
            <a:ext cx="457200" cy="457200"/>
          </a:xfrm>
          <a:prstGeom prst="ellipse">
            <a:avLst/>
          </a:prstGeom>
          <a:solidFill>
            <a:srgbClr val="52B788"/>
          </a:solidFill>
          <a:ln w="12700">
            <a:solidFill>
              <a:srgbClr val="52B788"/>
            </a:solidFill>
            <a:prstDash val="solid"/>
          </a:ln>
        </p:spPr>
        <p:txBody>
          <a:bodyPr/>
          <a:lstStyle/>
          <a:p>
            <a:endParaRPr lang="en-US"/>
          </a:p>
        </p:txBody>
      </p:sp>
      <p:sp>
        <p:nvSpPr>
          <p:cNvPr id="23" name="Text 21"/>
          <p:cNvSpPr/>
          <p:nvPr/>
        </p:nvSpPr>
        <p:spPr>
          <a:xfrm>
            <a:off x="4937760" y="258775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05</a:t>
            </a:r>
            <a:endParaRPr lang="en-US" sz="1100" dirty="0"/>
          </a:p>
        </p:txBody>
      </p:sp>
      <p:sp>
        <p:nvSpPr>
          <p:cNvPr id="24" name="Text 22"/>
          <p:cNvSpPr/>
          <p:nvPr/>
        </p:nvSpPr>
        <p:spPr>
          <a:xfrm>
            <a:off x="5532120" y="246888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Forecast future NDVI trends using Linear, Polynomial, and Gradient Boosting regression</a:t>
            </a:r>
            <a:endParaRPr lang="en-US" sz="1050" dirty="0"/>
          </a:p>
        </p:txBody>
      </p:sp>
      <p:sp>
        <p:nvSpPr>
          <p:cNvPr id="25" name="Shape 23"/>
          <p:cNvSpPr/>
          <p:nvPr/>
        </p:nvSpPr>
        <p:spPr>
          <a:xfrm>
            <a:off x="4800600" y="3566160"/>
            <a:ext cx="4160520" cy="1005840"/>
          </a:xfrm>
          <a:prstGeom prst="rect">
            <a:avLst/>
          </a:prstGeom>
          <a:solidFill>
            <a:srgbClr val="1E5C3A"/>
          </a:solidFill>
          <a:ln w="12700">
            <a:solidFill>
              <a:srgbClr val="2D7050"/>
            </a:solidFill>
            <a:prstDash val="solid"/>
          </a:ln>
        </p:spPr>
        <p:txBody>
          <a:bodyPr/>
          <a:lstStyle/>
          <a:p>
            <a:endParaRPr lang="en-US"/>
          </a:p>
        </p:txBody>
      </p:sp>
      <p:sp>
        <p:nvSpPr>
          <p:cNvPr id="26" name="Shape 24"/>
          <p:cNvSpPr/>
          <p:nvPr/>
        </p:nvSpPr>
        <p:spPr>
          <a:xfrm>
            <a:off x="4937760" y="3822192"/>
            <a:ext cx="457200" cy="457200"/>
          </a:xfrm>
          <a:prstGeom prst="ellipse">
            <a:avLst/>
          </a:prstGeom>
          <a:solidFill>
            <a:srgbClr val="52B788"/>
          </a:solidFill>
          <a:ln w="12700">
            <a:solidFill>
              <a:srgbClr val="52B788"/>
            </a:solidFill>
            <a:prstDash val="solid"/>
          </a:ln>
        </p:spPr>
        <p:txBody>
          <a:bodyPr/>
          <a:lstStyle/>
          <a:p>
            <a:endParaRPr lang="en-US"/>
          </a:p>
        </p:txBody>
      </p:sp>
      <p:sp>
        <p:nvSpPr>
          <p:cNvPr id="27" name="Text 25"/>
          <p:cNvSpPr/>
          <p:nvPr/>
        </p:nvSpPr>
        <p:spPr>
          <a:xfrm>
            <a:off x="4937760" y="3822192"/>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06</a:t>
            </a:r>
            <a:endParaRPr lang="en-US" sz="1100" dirty="0"/>
          </a:p>
        </p:txBody>
      </p:sp>
      <p:sp>
        <p:nvSpPr>
          <p:cNvPr id="28" name="Text 26"/>
          <p:cNvSpPr/>
          <p:nvPr/>
        </p:nvSpPr>
        <p:spPr>
          <a:xfrm>
            <a:off x="5532120" y="3703320"/>
            <a:ext cx="3291840" cy="731520"/>
          </a:xfrm>
          <a:prstGeom prst="rect">
            <a:avLst/>
          </a:prstGeom>
          <a:noFill/>
          <a:ln/>
        </p:spPr>
        <p:txBody>
          <a:bodyPr wrap="square" lIns="0" tIns="0" rIns="0" bIns="0" rtlCol="0" anchor="ctr"/>
          <a:lstStyle/>
          <a:p>
            <a:pPr marL="0" indent="0">
              <a:buNone/>
            </a:pPr>
            <a:r>
              <a:rPr lang="en-US" sz="1050" dirty="0">
                <a:solidFill>
                  <a:srgbClr val="C8E6C9"/>
                </a:solidFill>
                <a:latin typeface="Calibri" pitchFamily="34" charset="0"/>
                <a:ea typeface="Calibri" pitchFamily="34" charset="-122"/>
                <a:cs typeface="Calibri" pitchFamily="34" charset="-120"/>
              </a:rPr>
              <a:t>Provide meaningful environmental insights for the Kalpitiya Peninsula</a:t>
            </a:r>
            <a:endParaRPr lang="en-US" sz="1050" dirty="0"/>
          </a:p>
        </p:txBody>
      </p:sp>
      <p:sp>
        <p:nvSpPr>
          <p:cNvPr id="29" name="Text 27"/>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2</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Dataset Description</a:t>
            </a:r>
            <a:endParaRPr lang="en-US" sz="2200" dirty="0"/>
          </a:p>
        </p:txBody>
      </p:sp>
      <p:pic>
        <p:nvPicPr>
          <p:cNvPr id="6" name="Image 0" descr="preencoded.png"/>
          <p:cNvPicPr>
            <a:picLocks noChangeAspect="1"/>
          </p:cNvPicPr>
          <p:nvPr/>
        </p:nvPicPr>
        <p:blipFill>
          <a:blip r:embed="rId3"/>
          <a:srcRect/>
          <a:stretch/>
        </p:blipFill>
        <p:spPr>
          <a:xfrm>
            <a:off x="411480" y="777240"/>
            <a:ext cx="8321040" cy="1316736"/>
          </a:xfrm>
          <a:prstGeom prst="rect">
            <a:avLst/>
          </a:prstGeom>
        </p:spPr>
      </p:pic>
      <p:sp>
        <p:nvSpPr>
          <p:cNvPr id="7" name="Text 4"/>
          <p:cNvSpPr/>
          <p:nvPr/>
        </p:nvSpPr>
        <p:spPr>
          <a:xfrm>
            <a:off x="411480" y="2121408"/>
            <a:ext cx="8321040" cy="182880"/>
          </a:xfrm>
          <a:prstGeom prst="rect">
            <a:avLst/>
          </a:prstGeom>
          <a:noFill/>
          <a:ln/>
        </p:spPr>
        <p:txBody>
          <a:bodyPr wrap="square" rtlCol="0" anchor="ctr"/>
          <a:lstStyle/>
          <a:p>
            <a:pPr marL="0" indent="0" algn="ctr">
              <a:buNone/>
            </a:pPr>
            <a:r>
              <a:rPr lang="en-US" sz="850" i="1" dirty="0">
                <a:solidFill>
                  <a:srgbClr val="90A4AE"/>
                </a:solidFill>
                <a:latin typeface="Calibri" pitchFamily="34" charset="0"/>
                <a:ea typeface="Calibri" pitchFamily="34" charset="-122"/>
                <a:cs typeface="Calibri" pitchFamily="34" charset="-120"/>
              </a:rPr>
              <a:t>Figure 1 – Acquisition timeline: 20 Landsat scenes (teal = Landsat 8, crimson = Landsat 9)</a:t>
            </a:r>
            <a:endParaRPr lang="en-US" sz="850" dirty="0"/>
          </a:p>
        </p:txBody>
      </p:sp>
      <p:sp>
        <p:nvSpPr>
          <p:cNvPr id="8" name="Shape 5"/>
          <p:cNvSpPr/>
          <p:nvPr/>
        </p:nvSpPr>
        <p:spPr>
          <a:xfrm>
            <a:off x="347472"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347472"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0" name="Text 7"/>
          <p:cNvSpPr/>
          <p:nvPr/>
        </p:nvSpPr>
        <p:spPr>
          <a:xfrm>
            <a:off x="457200"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Sensor</a:t>
            </a:r>
            <a:endParaRPr lang="en-US" sz="1000" dirty="0"/>
          </a:p>
        </p:txBody>
      </p:sp>
      <p:sp>
        <p:nvSpPr>
          <p:cNvPr id="11" name="Text 8"/>
          <p:cNvSpPr/>
          <p:nvPr/>
        </p:nvSpPr>
        <p:spPr>
          <a:xfrm>
            <a:off x="457200"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Landsat 8 &amp; 9</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(OLI-TIRS)</a:t>
            </a:r>
            <a:endParaRPr lang="en-US" sz="1000" dirty="0"/>
          </a:p>
        </p:txBody>
      </p:sp>
      <p:sp>
        <p:nvSpPr>
          <p:cNvPr id="12" name="Shape 9"/>
          <p:cNvSpPr/>
          <p:nvPr/>
        </p:nvSpPr>
        <p:spPr>
          <a:xfrm>
            <a:off x="2103120"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Shape 10"/>
          <p:cNvSpPr/>
          <p:nvPr/>
        </p:nvSpPr>
        <p:spPr>
          <a:xfrm>
            <a:off x="2103120"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4" name="Text 11"/>
          <p:cNvSpPr/>
          <p:nvPr/>
        </p:nvSpPr>
        <p:spPr>
          <a:xfrm>
            <a:off x="2212848"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Period</a:t>
            </a:r>
            <a:endParaRPr lang="en-US" sz="1000" dirty="0"/>
          </a:p>
        </p:txBody>
      </p:sp>
      <p:sp>
        <p:nvSpPr>
          <p:cNvPr id="15" name="Text 12"/>
          <p:cNvSpPr/>
          <p:nvPr/>
        </p:nvSpPr>
        <p:spPr>
          <a:xfrm>
            <a:off x="2212848"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Feb 2016 –</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Mar 2025</a:t>
            </a:r>
            <a:endParaRPr lang="en-US" sz="1000" dirty="0"/>
          </a:p>
        </p:txBody>
      </p:sp>
      <p:sp>
        <p:nvSpPr>
          <p:cNvPr id="16" name="Shape 13"/>
          <p:cNvSpPr/>
          <p:nvPr/>
        </p:nvSpPr>
        <p:spPr>
          <a:xfrm>
            <a:off x="3858768"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7" name="Shape 14"/>
          <p:cNvSpPr/>
          <p:nvPr/>
        </p:nvSpPr>
        <p:spPr>
          <a:xfrm>
            <a:off x="3858768"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18" name="Text 15"/>
          <p:cNvSpPr/>
          <p:nvPr/>
        </p:nvSpPr>
        <p:spPr>
          <a:xfrm>
            <a:off x="3968496"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Scenes</a:t>
            </a:r>
            <a:endParaRPr lang="en-US" sz="1000" dirty="0"/>
          </a:p>
        </p:txBody>
      </p:sp>
      <p:sp>
        <p:nvSpPr>
          <p:cNvPr id="19" name="Text 16"/>
          <p:cNvSpPr/>
          <p:nvPr/>
        </p:nvSpPr>
        <p:spPr>
          <a:xfrm>
            <a:off x="3968496"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20 scenes</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(Feb &amp; Mar dry season)</a:t>
            </a:r>
            <a:endParaRPr lang="en-US" sz="1000" dirty="0"/>
          </a:p>
        </p:txBody>
      </p:sp>
      <p:sp>
        <p:nvSpPr>
          <p:cNvPr id="20" name="Shape 17"/>
          <p:cNvSpPr/>
          <p:nvPr/>
        </p:nvSpPr>
        <p:spPr>
          <a:xfrm>
            <a:off x="5614416" y="2395728"/>
            <a:ext cx="1645920" cy="112471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8"/>
          <p:cNvSpPr/>
          <p:nvPr/>
        </p:nvSpPr>
        <p:spPr>
          <a:xfrm>
            <a:off x="5614416"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22" name="Text 19"/>
          <p:cNvSpPr/>
          <p:nvPr/>
        </p:nvSpPr>
        <p:spPr>
          <a:xfrm>
            <a:off x="5724144"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Resolution</a:t>
            </a:r>
            <a:endParaRPr lang="en-US" sz="1000" dirty="0"/>
          </a:p>
        </p:txBody>
      </p:sp>
      <p:sp>
        <p:nvSpPr>
          <p:cNvPr id="23" name="Text 20"/>
          <p:cNvSpPr/>
          <p:nvPr/>
        </p:nvSpPr>
        <p:spPr>
          <a:xfrm>
            <a:off x="5724144"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30 m native</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(60 m after downsampling)</a:t>
            </a:r>
            <a:endParaRPr lang="en-US" sz="1000" dirty="0"/>
          </a:p>
        </p:txBody>
      </p:sp>
      <p:sp>
        <p:nvSpPr>
          <p:cNvPr id="24" name="Shape 21"/>
          <p:cNvSpPr/>
          <p:nvPr/>
        </p:nvSpPr>
        <p:spPr>
          <a:xfrm>
            <a:off x="7370064" y="2395728"/>
            <a:ext cx="1645920" cy="1152144"/>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5" name="Shape 22"/>
          <p:cNvSpPr/>
          <p:nvPr/>
        </p:nvSpPr>
        <p:spPr>
          <a:xfrm>
            <a:off x="7370064" y="2395728"/>
            <a:ext cx="1645920" cy="73152"/>
          </a:xfrm>
          <a:prstGeom prst="rect">
            <a:avLst/>
          </a:prstGeom>
          <a:solidFill>
            <a:srgbClr val="D4A017"/>
          </a:solidFill>
          <a:ln w="12700">
            <a:solidFill>
              <a:srgbClr val="D4A017"/>
            </a:solidFill>
            <a:prstDash val="solid"/>
          </a:ln>
        </p:spPr>
        <p:txBody>
          <a:bodyPr/>
          <a:lstStyle/>
          <a:p>
            <a:endParaRPr lang="en-US"/>
          </a:p>
        </p:txBody>
      </p:sp>
      <p:sp>
        <p:nvSpPr>
          <p:cNvPr id="26" name="Text 23"/>
          <p:cNvSpPr/>
          <p:nvPr/>
        </p:nvSpPr>
        <p:spPr>
          <a:xfrm>
            <a:off x="7479792" y="2514600"/>
            <a:ext cx="1426464" cy="256032"/>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Data Type</a:t>
            </a:r>
            <a:endParaRPr lang="en-US" sz="1000" dirty="0"/>
          </a:p>
        </p:txBody>
      </p:sp>
      <p:sp>
        <p:nvSpPr>
          <p:cNvPr id="27" name="Text 24"/>
          <p:cNvSpPr/>
          <p:nvPr/>
        </p:nvSpPr>
        <p:spPr>
          <a:xfrm>
            <a:off x="7479792" y="2798064"/>
            <a:ext cx="1426464" cy="82296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Level-2 SR</a:t>
            </a:r>
            <a:endParaRPr lang="en-US" sz="1000" dirty="0"/>
          </a:p>
          <a:p>
            <a:pPr marL="0" indent="0">
              <a:buNone/>
            </a:pPr>
            <a:r>
              <a:rPr lang="en-US" sz="1000" dirty="0">
                <a:solidFill>
                  <a:srgbClr val="4A5568"/>
                </a:solidFill>
                <a:latin typeface="Calibri" pitchFamily="34" charset="0"/>
                <a:ea typeface="Calibri" pitchFamily="34" charset="-122"/>
                <a:cs typeface="Calibri" pitchFamily="34" charset="-120"/>
              </a:rPr>
              <a:t>GeoTIFF bands</a:t>
            </a:r>
            <a:endParaRPr lang="en-US" sz="1000" dirty="0"/>
          </a:p>
        </p:txBody>
      </p:sp>
      <p:sp>
        <p:nvSpPr>
          <p:cNvPr id="28" name="Text 25"/>
          <p:cNvSpPr/>
          <p:nvPr/>
        </p:nvSpPr>
        <p:spPr>
          <a:xfrm>
            <a:off x="979061" y="3771900"/>
            <a:ext cx="7405333" cy="402336"/>
          </a:xfrm>
          <a:prstGeom prst="rect">
            <a:avLst/>
          </a:prstGeom>
          <a:noFill/>
          <a:ln/>
        </p:spPr>
        <p:txBody>
          <a:bodyPr wrap="square" lIns="0" tIns="0" rIns="0" bIns="0" rtlCol="0" anchor="ctr"/>
          <a:lstStyle/>
          <a:p>
            <a:pPr marL="0" indent="0" algn="ctr">
              <a:buNone/>
            </a:pPr>
            <a:r>
              <a:rPr lang="en-US" sz="1000" dirty="0">
                <a:solidFill>
                  <a:srgbClr val="4A5568"/>
                </a:solidFill>
                <a:latin typeface="Calibri" pitchFamily="34" charset="0"/>
                <a:ea typeface="Calibri" pitchFamily="34" charset="-122"/>
                <a:cs typeface="Calibri" pitchFamily="34" charset="-120"/>
              </a:rPr>
              <a:t>Imagery was acquired during the North Western Province dry season (February–March) to minimise cloud contamination. Both Landsat 8 and 9 use the same OLI sensor, ensuring spectral consistency across the dataset.</a:t>
            </a:r>
            <a:endParaRPr lang="en-US" sz="1000" dirty="0"/>
          </a:p>
        </p:txBody>
      </p:sp>
      <p:sp>
        <p:nvSpPr>
          <p:cNvPr id="29" name="Text 26"/>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2</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Data Preprocessing</a:t>
            </a:r>
            <a:endParaRPr lang="en-US" sz="2200" dirty="0"/>
          </a:p>
        </p:txBody>
      </p:sp>
      <p:pic>
        <p:nvPicPr>
          <p:cNvPr id="6" name="Image 0" descr="preencoded.png"/>
          <p:cNvPicPr>
            <a:picLocks noChangeAspect="1"/>
          </p:cNvPicPr>
          <p:nvPr/>
        </p:nvPicPr>
        <p:blipFill>
          <a:blip r:embed="rId3"/>
          <a:srcRect/>
          <a:stretch/>
        </p:blipFill>
        <p:spPr>
          <a:xfrm>
            <a:off x="4389125" y="256032"/>
            <a:ext cx="4663436" cy="2207584"/>
          </a:xfrm>
          <a:prstGeom prst="rect">
            <a:avLst/>
          </a:prstGeom>
        </p:spPr>
      </p:pic>
      <p:sp>
        <p:nvSpPr>
          <p:cNvPr id="7" name="Text 4"/>
          <p:cNvSpPr/>
          <p:nvPr/>
        </p:nvSpPr>
        <p:spPr>
          <a:xfrm>
            <a:off x="4754880" y="2509336"/>
            <a:ext cx="4114800" cy="237744"/>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2 – Cloud cover per scene. Green = &lt;30% (clean), Orange = 30–60%, Red = &gt;60%</a:t>
            </a:r>
            <a:endParaRPr lang="en-US" sz="800" dirty="0"/>
          </a:p>
        </p:txBody>
      </p:sp>
      <p:pic>
        <p:nvPicPr>
          <p:cNvPr id="8" name="Image 1" descr="preencoded.png"/>
          <p:cNvPicPr>
            <a:picLocks noChangeAspect="1"/>
          </p:cNvPicPr>
          <p:nvPr/>
        </p:nvPicPr>
        <p:blipFill>
          <a:blip r:embed="rId4"/>
          <a:srcRect/>
          <a:stretch/>
        </p:blipFill>
        <p:spPr>
          <a:xfrm>
            <a:off x="5819504" y="2798064"/>
            <a:ext cx="2194560" cy="2048256"/>
          </a:xfrm>
          <a:prstGeom prst="rect">
            <a:avLst/>
          </a:prstGeom>
        </p:spPr>
      </p:pic>
      <p:sp>
        <p:nvSpPr>
          <p:cNvPr id="9" name="Text 5"/>
          <p:cNvSpPr/>
          <p:nvPr/>
        </p:nvSpPr>
        <p:spPr>
          <a:xfrm>
            <a:off x="6675120" y="5074920"/>
            <a:ext cx="2194560" cy="182880"/>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 3 – Persistent land mask</a:t>
            </a:r>
            <a:endParaRPr lang="en-US" sz="750" dirty="0"/>
          </a:p>
        </p:txBody>
      </p:sp>
      <p:sp>
        <p:nvSpPr>
          <p:cNvPr id="10" name="Shape 6"/>
          <p:cNvSpPr/>
          <p:nvPr/>
        </p:nvSpPr>
        <p:spPr>
          <a:xfrm>
            <a:off x="384048" y="786384"/>
            <a:ext cx="310896" cy="310896"/>
          </a:xfrm>
          <a:prstGeom prst="ellipse">
            <a:avLst/>
          </a:prstGeom>
          <a:solidFill>
            <a:srgbClr val="2D6A4F"/>
          </a:solidFill>
          <a:ln w="12700">
            <a:solidFill>
              <a:srgbClr val="2D6A4F"/>
            </a:solidFill>
            <a:prstDash val="solid"/>
          </a:ln>
        </p:spPr>
        <p:txBody>
          <a:bodyPr/>
          <a:lstStyle/>
          <a:p>
            <a:endParaRPr lang="en-US"/>
          </a:p>
        </p:txBody>
      </p:sp>
      <p:sp>
        <p:nvSpPr>
          <p:cNvPr id="11" name="Text 7"/>
          <p:cNvSpPr/>
          <p:nvPr/>
        </p:nvSpPr>
        <p:spPr>
          <a:xfrm>
            <a:off x="384048" y="786384"/>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2" name="Text 8"/>
          <p:cNvSpPr/>
          <p:nvPr/>
        </p:nvSpPr>
        <p:spPr>
          <a:xfrm>
            <a:off x="822960" y="749808"/>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Data Organisation</a:t>
            </a:r>
            <a:endParaRPr lang="en-US" sz="1050" dirty="0"/>
          </a:p>
        </p:txBody>
      </p:sp>
      <p:sp>
        <p:nvSpPr>
          <p:cNvPr id="13" name="Text 9"/>
          <p:cNvSpPr/>
          <p:nvPr/>
        </p:nvSpPr>
        <p:spPr>
          <a:xfrm>
            <a:off x="822960" y="969264"/>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catogirizingData.py groups raw TIF files by YYYY_MM date from filename</a:t>
            </a:r>
            <a:endParaRPr lang="en-US" sz="950" dirty="0"/>
          </a:p>
        </p:txBody>
      </p:sp>
      <p:sp>
        <p:nvSpPr>
          <p:cNvPr id="14" name="Shape 10"/>
          <p:cNvSpPr/>
          <p:nvPr/>
        </p:nvSpPr>
        <p:spPr>
          <a:xfrm>
            <a:off x="539496" y="1097280"/>
            <a:ext cx="0" cy="512064"/>
          </a:xfrm>
          <a:prstGeom prst="line">
            <a:avLst/>
          </a:prstGeom>
          <a:noFill/>
          <a:ln w="19050">
            <a:solidFill>
              <a:srgbClr val="C8E6C9"/>
            </a:solidFill>
            <a:prstDash val="solid"/>
          </a:ln>
        </p:spPr>
        <p:txBody>
          <a:bodyPr/>
          <a:lstStyle/>
          <a:p>
            <a:endParaRPr lang="en-US"/>
          </a:p>
        </p:txBody>
      </p:sp>
      <p:sp>
        <p:nvSpPr>
          <p:cNvPr id="15" name="Shape 11"/>
          <p:cNvSpPr/>
          <p:nvPr/>
        </p:nvSpPr>
        <p:spPr>
          <a:xfrm>
            <a:off x="384048" y="1636776"/>
            <a:ext cx="310896" cy="310896"/>
          </a:xfrm>
          <a:prstGeom prst="ellipse">
            <a:avLst/>
          </a:prstGeom>
          <a:solidFill>
            <a:srgbClr val="2D6A4F"/>
          </a:solidFill>
          <a:ln w="12700">
            <a:solidFill>
              <a:srgbClr val="2D6A4F"/>
            </a:solidFill>
            <a:prstDash val="solid"/>
          </a:ln>
        </p:spPr>
        <p:txBody>
          <a:bodyPr/>
          <a:lstStyle/>
          <a:p>
            <a:endParaRPr lang="en-US"/>
          </a:p>
        </p:txBody>
      </p:sp>
      <p:sp>
        <p:nvSpPr>
          <p:cNvPr id="16" name="Text 12"/>
          <p:cNvSpPr/>
          <p:nvPr/>
        </p:nvSpPr>
        <p:spPr>
          <a:xfrm>
            <a:off x="384048" y="163677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7" name="Text 13"/>
          <p:cNvSpPr/>
          <p:nvPr/>
        </p:nvSpPr>
        <p:spPr>
          <a:xfrm>
            <a:off x="822960" y="1600200"/>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Reflectance Scaling</a:t>
            </a:r>
            <a:endParaRPr lang="en-US" sz="1050" dirty="0"/>
          </a:p>
        </p:txBody>
      </p:sp>
      <p:sp>
        <p:nvSpPr>
          <p:cNvPr id="18" name="Text 14"/>
          <p:cNvSpPr/>
          <p:nvPr/>
        </p:nvSpPr>
        <p:spPr>
          <a:xfrm>
            <a:off x="822960" y="1819656"/>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DN × 0.0000275 − 0.2, clipped to [0, 1]</a:t>
            </a:r>
            <a:endParaRPr lang="en-US" sz="950" dirty="0"/>
          </a:p>
        </p:txBody>
      </p:sp>
      <p:sp>
        <p:nvSpPr>
          <p:cNvPr id="19" name="Shape 15"/>
          <p:cNvSpPr/>
          <p:nvPr/>
        </p:nvSpPr>
        <p:spPr>
          <a:xfrm>
            <a:off x="539496" y="1947672"/>
            <a:ext cx="0" cy="512064"/>
          </a:xfrm>
          <a:prstGeom prst="line">
            <a:avLst/>
          </a:prstGeom>
          <a:noFill/>
          <a:ln w="19050">
            <a:solidFill>
              <a:srgbClr val="C8E6C9"/>
            </a:solidFill>
            <a:prstDash val="solid"/>
          </a:ln>
        </p:spPr>
        <p:txBody>
          <a:bodyPr/>
          <a:lstStyle/>
          <a:p>
            <a:endParaRPr lang="en-US"/>
          </a:p>
        </p:txBody>
      </p:sp>
      <p:sp>
        <p:nvSpPr>
          <p:cNvPr id="20" name="Shape 16"/>
          <p:cNvSpPr/>
          <p:nvPr/>
        </p:nvSpPr>
        <p:spPr>
          <a:xfrm>
            <a:off x="384048" y="2487168"/>
            <a:ext cx="310896" cy="310896"/>
          </a:xfrm>
          <a:prstGeom prst="ellipse">
            <a:avLst/>
          </a:prstGeom>
          <a:solidFill>
            <a:srgbClr val="2D6A4F"/>
          </a:solidFill>
          <a:ln w="12700">
            <a:solidFill>
              <a:srgbClr val="2D6A4F"/>
            </a:solidFill>
            <a:prstDash val="solid"/>
          </a:ln>
        </p:spPr>
        <p:txBody>
          <a:bodyPr/>
          <a:lstStyle/>
          <a:p>
            <a:endParaRPr lang="en-US"/>
          </a:p>
        </p:txBody>
      </p:sp>
      <p:sp>
        <p:nvSpPr>
          <p:cNvPr id="21" name="Text 17"/>
          <p:cNvSpPr/>
          <p:nvPr/>
        </p:nvSpPr>
        <p:spPr>
          <a:xfrm>
            <a:off x="384048" y="2487168"/>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Text 18"/>
          <p:cNvSpPr/>
          <p:nvPr/>
        </p:nvSpPr>
        <p:spPr>
          <a:xfrm>
            <a:off x="822960" y="2450592"/>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Downsampling</a:t>
            </a:r>
            <a:endParaRPr lang="en-US" sz="1050" dirty="0"/>
          </a:p>
        </p:txBody>
      </p:sp>
      <p:sp>
        <p:nvSpPr>
          <p:cNvPr id="23" name="Text 19"/>
          <p:cNvSpPr/>
          <p:nvPr/>
        </p:nvSpPr>
        <p:spPr>
          <a:xfrm>
            <a:off x="822960" y="2670048"/>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Bilinear 2× resize: 30 m → 60 m (reduces compute load)</a:t>
            </a:r>
            <a:endParaRPr lang="en-US" sz="950" dirty="0"/>
          </a:p>
        </p:txBody>
      </p:sp>
      <p:sp>
        <p:nvSpPr>
          <p:cNvPr id="24" name="Shape 20"/>
          <p:cNvSpPr/>
          <p:nvPr/>
        </p:nvSpPr>
        <p:spPr>
          <a:xfrm>
            <a:off x="539496" y="2798064"/>
            <a:ext cx="0" cy="512064"/>
          </a:xfrm>
          <a:prstGeom prst="line">
            <a:avLst/>
          </a:prstGeom>
          <a:noFill/>
          <a:ln w="19050">
            <a:solidFill>
              <a:srgbClr val="C8E6C9"/>
            </a:solidFill>
            <a:prstDash val="solid"/>
          </a:ln>
        </p:spPr>
        <p:txBody>
          <a:bodyPr/>
          <a:lstStyle/>
          <a:p>
            <a:endParaRPr lang="en-US"/>
          </a:p>
        </p:txBody>
      </p:sp>
      <p:sp>
        <p:nvSpPr>
          <p:cNvPr id="25" name="Shape 21"/>
          <p:cNvSpPr/>
          <p:nvPr/>
        </p:nvSpPr>
        <p:spPr>
          <a:xfrm>
            <a:off x="384048" y="3337560"/>
            <a:ext cx="310896" cy="310896"/>
          </a:xfrm>
          <a:prstGeom prst="ellipse">
            <a:avLst/>
          </a:prstGeom>
          <a:solidFill>
            <a:srgbClr val="2D6A4F"/>
          </a:solidFill>
          <a:ln w="12700">
            <a:solidFill>
              <a:srgbClr val="2D6A4F"/>
            </a:solidFill>
            <a:prstDash val="solid"/>
          </a:ln>
        </p:spPr>
        <p:txBody>
          <a:bodyPr/>
          <a:lstStyle/>
          <a:p>
            <a:endParaRPr lang="en-US"/>
          </a:p>
        </p:txBody>
      </p:sp>
      <p:sp>
        <p:nvSpPr>
          <p:cNvPr id="26" name="Text 22"/>
          <p:cNvSpPr/>
          <p:nvPr/>
        </p:nvSpPr>
        <p:spPr>
          <a:xfrm>
            <a:off x="384048" y="3337560"/>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3"/>
          <p:cNvSpPr/>
          <p:nvPr/>
        </p:nvSpPr>
        <p:spPr>
          <a:xfrm>
            <a:off x="822960" y="3300984"/>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Cloud Masking</a:t>
            </a:r>
            <a:endParaRPr lang="en-US" sz="1050" dirty="0"/>
          </a:p>
        </p:txBody>
      </p:sp>
      <p:sp>
        <p:nvSpPr>
          <p:cNvPr id="28" name="Text 24"/>
          <p:cNvSpPr/>
          <p:nvPr/>
        </p:nvSpPr>
        <p:spPr>
          <a:xfrm>
            <a:off x="822960" y="3520440"/>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QA_PIXEL bit flags remove cloud, cirrus, shadow pixels → set to NaN</a:t>
            </a:r>
            <a:endParaRPr lang="en-US" sz="950" dirty="0"/>
          </a:p>
        </p:txBody>
      </p:sp>
      <p:sp>
        <p:nvSpPr>
          <p:cNvPr id="29" name="Shape 25"/>
          <p:cNvSpPr/>
          <p:nvPr/>
        </p:nvSpPr>
        <p:spPr>
          <a:xfrm>
            <a:off x="539496" y="3648456"/>
            <a:ext cx="0" cy="512064"/>
          </a:xfrm>
          <a:prstGeom prst="line">
            <a:avLst/>
          </a:prstGeom>
          <a:noFill/>
          <a:ln w="19050">
            <a:solidFill>
              <a:srgbClr val="C8E6C9"/>
            </a:solidFill>
            <a:prstDash val="solid"/>
          </a:ln>
        </p:spPr>
        <p:txBody>
          <a:bodyPr/>
          <a:lstStyle/>
          <a:p>
            <a:endParaRPr lang="en-US"/>
          </a:p>
        </p:txBody>
      </p:sp>
      <p:sp>
        <p:nvSpPr>
          <p:cNvPr id="30" name="Shape 26"/>
          <p:cNvSpPr/>
          <p:nvPr/>
        </p:nvSpPr>
        <p:spPr>
          <a:xfrm>
            <a:off x="384048" y="4187952"/>
            <a:ext cx="310896" cy="310896"/>
          </a:xfrm>
          <a:prstGeom prst="ellipse">
            <a:avLst/>
          </a:prstGeom>
          <a:solidFill>
            <a:srgbClr val="2D6A4F"/>
          </a:solidFill>
          <a:ln w="12700">
            <a:solidFill>
              <a:srgbClr val="2D6A4F"/>
            </a:solidFill>
            <a:prstDash val="solid"/>
          </a:ln>
        </p:spPr>
        <p:txBody>
          <a:bodyPr/>
          <a:lstStyle/>
          <a:p>
            <a:endParaRPr lang="en-US"/>
          </a:p>
        </p:txBody>
      </p:sp>
      <p:sp>
        <p:nvSpPr>
          <p:cNvPr id="31" name="Text 27"/>
          <p:cNvSpPr/>
          <p:nvPr/>
        </p:nvSpPr>
        <p:spPr>
          <a:xfrm>
            <a:off x="384048" y="4187952"/>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2" name="Text 28"/>
          <p:cNvSpPr/>
          <p:nvPr/>
        </p:nvSpPr>
        <p:spPr>
          <a:xfrm>
            <a:off x="822960" y="4151376"/>
            <a:ext cx="3840480" cy="219456"/>
          </a:xfrm>
          <a:prstGeom prst="rect">
            <a:avLst/>
          </a:prstGeom>
          <a:noFill/>
          <a:ln/>
        </p:spPr>
        <p:txBody>
          <a:bodyPr wrap="square" lIns="0" tIns="0" rIns="0" bIns="0" rtlCol="0" anchor="ctr"/>
          <a:lstStyle/>
          <a:p>
            <a:pPr marL="0" indent="0">
              <a:buNone/>
            </a:pPr>
            <a:r>
              <a:rPr lang="en-US" sz="1050" b="1" dirty="0">
                <a:solidFill>
                  <a:srgbClr val="1A4731"/>
                </a:solidFill>
                <a:latin typeface="Calibri" pitchFamily="34" charset="0"/>
                <a:ea typeface="Calibri" pitchFamily="34" charset="-122"/>
                <a:cs typeface="Calibri" pitchFamily="34" charset="-120"/>
              </a:rPr>
              <a:t>Persistent Land Mask</a:t>
            </a:r>
            <a:endParaRPr lang="en-US" sz="1050" dirty="0"/>
          </a:p>
        </p:txBody>
      </p:sp>
      <p:sp>
        <p:nvSpPr>
          <p:cNvPr id="33" name="Text 29"/>
          <p:cNvSpPr/>
          <p:nvPr/>
        </p:nvSpPr>
        <p:spPr>
          <a:xfrm>
            <a:off x="822960" y="4370832"/>
            <a:ext cx="3840480" cy="475488"/>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NDWI across all scenes identifies permanent water (lagoon, ocean) – excluded from classification</a:t>
            </a:r>
            <a:endParaRPr lang="en-US" sz="950" dirty="0"/>
          </a:p>
        </p:txBody>
      </p:sp>
      <p:sp>
        <p:nvSpPr>
          <p:cNvPr id="34" name="Text 3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Methodology Overview</a:t>
            </a:r>
            <a:endParaRPr lang="en-US" sz="2200" dirty="0"/>
          </a:p>
        </p:txBody>
      </p:sp>
      <p:sp>
        <p:nvSpPr>
          <p:cNvPr id="6" name="Shape 4"/>
          <p:cNvSpPr/>
          <p:nvPr/>
        </p:nvSpPr>
        <p:spPr>
          <a:xfrm>
            <a:off x="384048" y="1389888"/>
            <a:ext cx="1115568" cy="1481328"/>
          </a:xfrm>
          <a:prstGeom prst="rect">
            <a:avLst/>
          </a:prstGeom>
          <a:solidFill>
            <a:srgbClr val="2D6A4F"/>
          </a:solidFill>
          <a:ln w="12700">
            <a:solidFill>
              <a:srgbClr val="2D6A4F"/>
            </a:solidFill>
            <a:prstDash val="solid"/>
          </a:ln>
          <a:effectLst>
            <a:outerShdw blurRad="63500" dist="25400" dir="8100000" algn="bl" rotWithShape="0">
              <a:srgbClr val="000000">
                <a:alpha val="15000"/>
              </a:srgbClr>
            </a:outerShdw>
          </a:effectLst>
        </p:spPr>
        <p:txBody>
          <a:bodyPr/>
          <a:lstStyle/>
          <a:p>
            <a:endParaRPr lang="en-US"/>
          </a:p>
        </p:txBody>
      </p:sp>
      <p:sp>
        <p:nvSpPr>
          <p:cNvPr id="7" name="Text 5"/>
          <p:cNvSpPr/>
          <p:nvPr/>
        </p:nvSpPr>
        <p:spPr>
          <a:xfrm>
            <a:off x="384048"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 Data</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Collection</a:t>
            </a:r>
            <a:endParaRPr lang="en-US" sz="1000" dirty="0"/>
          </a:p>
        </p:txBody>
      </p:sp>
      <p:sp>
        <p:nvSpPr>
          <p:cNvPr id="8" name="Shape 6"/>
          <p:cNvSpPr/>
          <p:nvPr/>
        </p:nvSpPr>
        <p:spPr>
          <a:xfrm>
            <a:off x="384048"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9" name="Text 7"/>
          <p:cNvSpPr/>
          <p:nvPr/>
        </p:nvSpPr>
        <p:spPr>
          <a:xfrm>
            <a:off x="384048"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20 Landsat scenes</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2016–2025</a:t>
            </a:r>
            <a:endParaRPr lang="en-US" sz="800" dirty="0"/>
          </a:p>
        </p:txBody>
      </p:sp>
      <p:sp>
        <p:nvSpPr>
          <p:cNvPr id="10" name="Shape 8"/>
          <p:cNvSpPr/>
          <p:nvPr/>
        </p:nvSpPr>
        <p:spPr>
          <a:xfrm>
            <a:off x="1499616" y="2130552"/>
            <a:ext cx="54864" cy="0"/>
          </a:xfrm>
          <a:prstGeom prst="line">
            <a:avLst/>
          </a:prstGeom>
          <a:noFill/>
          <a:ln w="19050">
            <a:solidFill>
              <a:srgbClr val="90A4AE"/>
            </a:solidFill>
            <a:prstDash val="solid"/>
          </a:ln>
        </p:spPr>
        <p:txBody>
          <a:bodyPr/>
          <a:lstStyle/>
          <a:p>
            <a:endParaRPr lang="en-US"/>
          </a:p>
        </p:txBody>
      </p:sp>
      <p:sp>
        <p:nvSpPr>
          <p:cNvPr id="11" name="Shape 9"/>
          <p:cNvSpPr/>
          <p:nvPr/>
        </p:nvSpPr>
        <p:spPr>
          <a:xfrm>
            <a:off x="1554480" y="1389888"/>
            <a:ext cx="1115568" cy="1481328"/>
          </a:xfrm>
          <a:prstGeom prst="rect">
            <a:avLst/>
          </a:prstGeom>
          <a:solidFill>
            <a:srgbClr val="388E3C"/>
          </a:solidFill>
          <a:ln w="12700">
            <a:solidFill>
              <a:srgbClr val="388E3C"/>
            </a:solidFill>
            <a:prstDash val="solid"/>
          </a:ln>
          <a:effectLst>
            <a:outerShdw blurRad="63500" dist="25400" dir="8100000" algn="bl" rotWithShape="0">
              <a:srgbClr val="000000">
                <a:alpha val="15000"/>
              </a:srgbClr>
            </a:outerShdw>
          </a:effectLst>
        </p:spPr>
        <p:txBody>
          <a:bodyPr/>
          <a:lstStyle/>
          <a:p>
            <a:endParaRPr lang="en-US"/>
          </a:p>
        </p:txBody>
      </p:sp>
      <p:sp>
        <p:nvSpPr>
          <p:cNvPr id="12" name="Text 10"/>
          <p:cNvSpPr/>
          <p:nvPr/>
        </p:nvSpPr>
        <p:spPr>
          <a:xfrm>
            <a:off x="1554480"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 Pre-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processing</a:t>
            </a:r>
            <a:endParaRPr lang="en-US" sz="1000" dirty="0"/>
          </a:p>
        </p:txBody>
      </p:sp>
      <p:sp>
        <p:nvSpPr>
          <p:cNvPr id="13" name="Shape 11"/>
          <p:cNvSpPr/>
          <p:nvPr/>
        </p:nvSpPr>
        <p:spPr>
          <a:xfrm>
            <a:off x="1554480"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14" name="Text 12"/>
          <p:cNvSpPr/>
          <p:nvPr/>
        </p:nvSpPr>
        <p:spPr>
          <a:xfrm>
            <a:off x="1554480"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Scaling · Masking</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Downsampling</a:t>
            </a:r>
            <a:endParaRPr lang="en-US" sz="800" dirty="0"/>
          </a:p>
        </p:txBody>
      </p:sp>
      <p:sp>
        <p:nvSpPr>
          <p:cNvPr id="15" name="Shape 13"/>
          <p:cNvSpPr/>
          <p:nvPr/>
        </p:nvSpPr>
        <p:spPr>
          <a:xfrm>
            <a:off x="2670048" y="2130552"/>
            <a:ext cx="54864" cy="0"/>
          </a:xfrm>
          <a:prstGeom prst="line">
            <a:avLst/>
          </a:prstGeom>
          <a:noFill/>
          <a:ln w="19050">
            <a:solidFill>
              <a:srgbClr val="90A4AE"/>
            </a:solidFill>
            <a:prstDash val="solid"/>
          </a:ln>
        </p:spPr>
        <p:txBody>
          <a:bodyPr/>
          <a:lstStyle/>
          <a:p>
            <a:endParaRPr lang="en-US"/>
          </a:p>
        </p:txBody>
      </p:sp>
      <p:sp>
        <p:nvSpPr>
          <p:cNvPr id="16" name="Shape 14"/>
          <p:cNvSpPr/>
          <p:nvPr/>
        </p:nvSpPr>
        <p:spPr>
          <a:xfrm>
            <a:off x="2724912" y="1389888"/>
            <a:ext cx="1115568" cy="1481328"/>
          </a:xfrm>
          <a:prstGeom prst="rect">
            <a:avLst/>
          </a:prstGeom>
          <a:solidFill>
            <a:srgbClr val="0277BD"/>
          </a:solidFill>
          <a:ln w="12700">
            <a:solidFill>
              <a:srgbClr val="0277BD"/>
            </a:solidFill>
            <a:prstDash val="solid"/>
          </a:ln>
          <a:effectLst>
            <a:outerShdw blurRad="63500" dist="25400" dir="8100000" algn="bl" rotWithShape="0">
              <a:srgbClr val="000000">
                <a:alpha val="15000"/>
              </a:srgbClr>
            </a:outerShdw>
          </a:effectLst>
        </p:spPr>
        <p:txBody>
          <a:bodyPr/>
          <a:lstStyle/>
          <a:p>
            <a:endParaRPr lang="en-US"/>
          </a:p>
        </p:txBody>
      </p:sp>
      <p:sp>
        <p:nvSpPr>
          <p:cNvPr id="17" name="Text 15"/>
          <p:cNvSpPr/>
          <p:nvPr/>
        </p:nvSpPr>
        <p:spPr>
          <a:xfrm>
            <a:off x="2724912"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 Spectral</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Indices</a:t>
            </a:r>
            <a:endParaRPr lang="en-US" sz="1000" dirty="0"/>
          </a:p>
        </p:txBody>
      </p:sp>
      <p:sp>
        <p:nvSpPr>
          <p:cNvPr id="18" name="Shape 16"/>
          <p:cNvSpPr/>
          <p:nvPr/>
        </p:nvSpPr>
        <p:spPr>
          <a:xfrm>
            <a:off x="2724912"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19" name="Text 17"/>
          <p:cNvSpPr/>
          <p:nvPr/>
        </p:nvSpPr>
        <p:spPr>
          <a:xfrm>
            <a:off x="2724912"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NDVI NDWI</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NDBI NBR EVI</a:t>
            </a:r>
            <a:endParaRPr lang="en-US" sz="800" dirty="0"/>
          </a:p>
        </p:txBody>
      </p:sp>
      <p:sp>
        <p:nvSpPr>
          <p:cNvPr id="20" name="Shape 18"/>
          <p:cNvSpPr/>
          <p:nvPr/>
        </p:nvSpPr>
        <p:spPr>
          <a:xfrm>
            <a:off x="3840480" y="2130552"/>
            <a:ext cx="54864" cy="0"/>
          </a:xfrm>
          <a:prstGeom prst="line">
            <a:avLst/>
          </a:prstGeom>
          <a:noFill/>
          <a:ln w="19050">
            <a:solidFill>
              <a:srgbClr val="90A4AE"/>
            </a:solidFill>
            <a:prstDash val="solid"/>
          </a:ln>
        </p:spPr>
        <p:txBody>
          <a:bodyPr/>
          <a:lstStyle/>
          <a:p>
            <a:endParaRPr lang="en-US"/>
          </a:p>
        </p:txBody>
      </p:sp>
      <p:sp>
        <p:nvSpPr>
          <p:cNvPr id="21" name="Shape 19"/>
          <p:cNvSpPr/>
          <p:nvPr/>
        </p:nvSpPr>
        <p:spPr>
          <a:xfrm>
            <a:off x="3895344" y="1389888"/>
            <a:ext cx="1115568" cy="1481328"/>
          </a:xfrm>
          <a:prstGeom prst="rect">
            <a:avLst/>
          </a:prstGeom>
          <a:solidFill>
            <a:srgbClr val="6A1599"/>
          </a:solidFill>
          <a:ln w="12700">
            <a:solidFill>
              <a:srgbClr val="6A1599"/>
            </a:solidFill>
            <a:prstDash val="solid"/>
          </a:ln>
          <a:effectLst>
            <a:outerShdw blurRad="63500" dist="25400" dir="8100000" algn="bl" rotWithShape="0">
              <a:srgbClr val="000000">
                <a:alpha val="15000"/>
              </a:srgbClr>
            </a:outerShdw>
          </a:effectLst>
        </p:spPr>
        <p:txBody>
          <a:bodyPr/>
          <a:lstStyle/>
          <a:p>
            <a:endParaRPr lang="en-US"/>
          </a:p>
        </p:txBody>
      </p:sp>
      <p:sp>
        <p:nvSpPr>
          <p:cNvPr id="22" name="Text 20"/>
          <p:cNvSpPr/>
          <p:nvPr/>
        </p:nvSpPr>
        <p:spPr>
          <a:xfrm>
            <a:off x="3895344"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 Classifi-</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cation</a:t>
            </a:r>
            <a:endParaRPr lang="en-US" sz="1000" dirty="0"/>
          </a:p>
        </p:txBody>
      </p:sp>
      <p:sp>
        <p:nvSpPr>
          <p:cNvPr id="23" name="Shape 21"/>
          <p:cNvSpPr/>
          <p:nvPr/>
        </p:nvSpPr>
        <p:spPr>
          <a:xfrm>
            <a:off x="3895344"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24" name="Text 22"/>
          <p:cNvSpPr/>
          <p:nvPr/>
        </p:nvSpPr>
        <p:spPr>
          <a:xfrm>
            <a:off x="3895344"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Random Forest</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4 classes</a:t>
            </a:r>
            <a:endParaRPr lang="en-US" sz="800" dirty="0"/>
          </a:p>
        </p:txBody>
      </p:sp>
      <p:sp>
        <p:nvSpPr>
          <p:cNvPr id="25" name="Shape 23"/>
          <p:cNvSpPr/>
          <p:nvPr/>
        </p:nvSpPr>
        <p:spPr>
          <a:xfrm>
            <a:off x="5010912" y="2130552"/>
            <a:ext cx="54864" cy="0"/>
          </a:xfrm>
          <a:prstGeom prst="line">
            <a:avLst/>
          </a:prstGeom>
          <a:noFill/>
          <a:ln w="19050">
            <a:solidFill>
              <a:srgbClr val="90A4AE"/>
            </a:solidFill>
            <a:prstDash val="solid"/>
          </a:ln>
        </p:spPr>
        <p:txBody>
          <a:bodyPr/>
          <a:lstStyle/>
          <a:p>
            <a:endParaRPr lang="en-US"/>
          </a:p>
        </p:txBody>
      </p:sp>
      <p:sp>
        <p:nvSpPr>
          <p:cNvPr id="26" name="Shape 24"/>
          <p:cNvSpPr/>
          <p:nvPr/>
        </p:nvSpPr>
        <p:spPr>
          <a:xfrm>
            <a:off x="5065776" y="1389888"/>
            <a:ext cx="1115568" cy="1481328"/>
          </a:xfrm>
          <a:prstGeom prst="rect">
            <a:avLst/>
          </a:prstGeom>
          <a:solidFill>
            <a:srgbClr val="C62828"/>
          </a:solidFill>
          <a:ln w="12700">
            <a:solidFill>
              <a:srgbClr val="C62828"/>
            </a:solidFill>
            <a:prstDash val="solid"/>
          </a:ln>
          <a:effectLst>
            <a:outerShdw blurRad="63500" dist="25400" dir="8100000" algn="bl" rotWithShape="0">
              <a:srgbClr val="000000">
                <a:alpha val="15000"/>
              </a:srgbClr>
            </a:outerShdw>
          </a:effectLst>
        </p:spPr>
        <p:txBody>
          <a:bodyPr/>
          <a:lstStyle/>
          <a:p>
            <a:endParaRPr lang="en-US"/>
          </a:p>
        </p:txBody>
      </p:sp>
      <p:sp>
        <p:nvSpPr>
          <p:cNvPr id="27" name="Text 25"/>
          <p:cNvSpPr/>
          <p:nvPr/>
        </p:nvSpPr>
        <p:spPr>
          <a:xfrm>
            <a:off x="5065776"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 Change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Detection</a:t>
            </a:r>
            <a:endParaRPr lang="en-US" sz="1000" dirty="0"/>
          </a:p>
        </p:txBody>
      </p:sp>
      <p:sp>
        <p:nvSpPr>
          <p:cNvPr id="28" name="Shape 26"/>
          <p:cNvSpPr/>
          <p:nvPr/>
        </p:nvSpPr>
        <p:spPr>
          <a:xfrm>
            <a:off x="5065776"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29" name="Text 27"/>
          <p:cNvSpPr/>
          <p:nvPr/>
        </p:nvSpPr>
        <p:spPr>
          <a:xfrm>
            <a:off x="5065776"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NDVI delta</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Transition matrix</a:t>
            </a:r>
            <a:endParaRPr lang="en-US" sz="800" dirty="0"/>
          </a:p>
        </p:txBody>
      </p:sp>
      <p:sp>
        <p:nvSpPr>
          <p:cNvPr id="30" name="Shape 28"/>
          <p:cNvSpPr/>
          <p:nvPr/>
        </p:nvSpPr>
        <p:spPr>
          <a:xfrm>
            <a:off x="6181344" y="2130552"/>
            <a:ext cx="54864" cy="0"/>
          </a:xfrm>
          <a:prstGeom prst="line">
            <a:avLst/>
          </a:prstGeom>
          <a:noFill/>
          <a:ln w="19050">
            <a:solidFill>
              <a:srgbClr val="90A4AE"/>
            </a:solidFill>
            <a:prstDash val="solid"/>
          </a:ln>
        </p:spPr>
        <p:txBody>
          <a:bodyPr/>
          <a:lstStyle/>
          <a:p>
            <a:endParaRPr lang="en-US"/>
          </a:p>
        </p:txBody>
      </p:sp>
      <p:sp>
        <p:nvSpPr>
          <p:cNvPr id="31" name="Shape 29"/>
          <p:cNvSpPr/>
          <p:nvPr/>
        </p:nvSpPr>
        <p:spPr>
          <a:xfrm>
            <a:off x="6236208" y="1389888"/>
            <a:ext cx="1115568" cy="1481328"/>
          </a:xfrm>
          <a:prstGeom prst="rect">
            <a:avLst/>
          </a:prstGeom>
          <a:solidFill>
            <a:srgbClr val="D4A017"/>
          </a:solidFill>
          <a:ln w="12700">
            <a:solidFill>
              <a:srgbClr val="D4A017"/>
            </a:solidFill>
            <a:prstDash val="solid"/>
          </a:ln>
          <a:effectLst>
            <a:outerShdw blurRad="63500" dist="25400" dir="8100000" algn="bl" rotWithShape="0">
              <a:srgbClr val="000000">
                <a:alpha val="15000"/>
              </a:srgbClr>
            </a:outerShdw>
          </a:effectLst>
        </p:spPr>
        <p:txBody>
          <a:bodyPr/>
          <a:lstStyle/>
          <a:p>
            <a:endParaRPr lang="en-US"/>
          </a:p>
        </p:txBody>
      </p:sp>
      <p:sp>
        <p:nvSpPr>
          <p:cNvPr id="32" name="Text 30"/>
          <p:cNvSpPr/>
          <p:nvPr/>
        </p:nvSpPr>
        <p:spPr>
          <a:xfrm>
            <a:off x="6236208"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6. Fore-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casting</a:t>
            </a:r>
            <a:endParaRPr lang="en-US" sz="1000" dirty="0"/>
          </a:p>
        </p:txBody>
      </p:sp>
      <p:sp>
        <p:nvSpPr>
          <p:cNvPr id="33" name="Shape 31"/>
          <p:cNvSpPr/>
          <p:nvPr/>
        </p:nvSpPr>
        <p:spPr>
          <a:xfrm>
            <a:off x="6236208"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34" name="Text 32"/>
          <p:cNvSpPr/>
          <p:nvPr/>
        </p:nvSpPr>
        <p:spPr>
          <a:xfrm>
            <a:off x="6236208"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Lin · Poly</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Grad Boost</a:t>
            </a:r>
            <a:endParaRPr lang="en-US" sz="800" dirty="0"/>
          </a:p>
        </p:txBody>
      </p:sp>
      <p:sp>
        <p:nvSpPr>
          <p:cNvPr id="35" name="Shape 33"/>
          <p:cNvSpPr/>
          <p:nvPr/>
        </p:nvSpPr>
        <p:spPr>
          <a:xfrm>
            <a:off x="7351776" y="2130552"/>
            <a:ext cx="54864" cy="0"/>
          </a:xfrm>
          <a:prstGeom prst="line">
            <a:avLst/>
          </a:prstGeom>
          <a:noFill/>
          <a:ln w="19050">
            <a:solidFill>
              <a:srgbClr val="90A4AE"/>
            </a:solidFill>
            <a:prstDash val="solid"/>
          </a:ln>
        </p:spPr>
        <p:txBody>
          <a:bodyPr/>
          <a:lstStyle/>
          <a:p>
            <a:endParaRPr lang="en-US"/>
          </a:p>
        </p:txBody>
      </p:sp>
      <p:sp>
        <p:nvSpPr>
          <p:cNvPr id="36" name="Shape 34"/>
          <p:cNvSpPr/>
          <p:nvPr/>
        </p:nvSpPr>
        <p:spPr>
          <a:xfrm>
            <a:off x="7406640" y="1389888"/>
            <a:ext cx="1115568" cy="1481328"/>
          </a:xfrm>
          <a:prstGeom prst="rect">
            <a:avLst/>
          </a:prstGeom>
          <a:solidFill>
            <a:srgbClr val="2E7D32"/>
          </a:solidFill>
          <a:ln w="12700">
            <a:solidFill>
              <a:srgbClr val="2E7D32"/>
            </a:solidFill>
            <a:prstDash val="solid"/>
          </a:ln>
          <a:effectLst>
            <a:outerShdw blurRad="63500" dist="25400" dir="8100000" algn="bl" rotWithShape="0">
              <a:srgbClr val="000000">
                <a:alpha val="15000"/>
              </a:srgbClr>
            </a:outerShdw>
          </a:effectLst>
        </p:spPr>
        <p:txBody>
          <a:bodyPr/>
          <a:lstStyle/>
          <a:p>
            <a:endParaRPr lang="en-US"/>
          </a:p>
        </p:txBody>
      </p:sp>
      <p:sp>
        <p:nvSpPr>
          <p:cNvPr id="37" name="Text 35"/>
          <p:cNvSpPr/>
          <p:nvPr/>
        </p:nvSpPr>
        <p:spPr>
          <a:xfrm>
            <a:off x="7406640" y="1572768"/>
            <a:ext cx="111556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7. Analysis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&amp; Insights</a:t>
            </a:r>
            <a:endParaRPr lang="en-US" sz="1000" dirty="0"/>
          </a:p>
        </p:txBody>
      </p:sp>
      <p:sp>
        <p:nvSpPr>
          <p:cNvPr id="38" name="Shape 36"/>
          <p:cNvSpPr/>
          <p:nvPr/>
        </p:nvSpPr>
        <p:spPr>
          <a:xfrm>
            <a:off x="7406640" y="2304288"/>
            <a:ext cx="1115568" cy="566928"/>
          </a:xfrm>
          <a:prstGeom prst="rect">
            <a:avLst/>
          </a:prstGeom>
          <a:solidFill>
            <a:srgbClr val="000000">
              <a:alpha val="30000"/>
            </a:srgbClr>
          </a:solidFill>
          <a:ln w="12700">
            <a:solidFill>
              <a:srgbClr val="000000">
                <a:alpha val="30000"/>
              </a:srgbClr>
            </a:solidFill>
            <a:prstDash val="solid"/>
          </a:ln>
        </p:spPr>
        <p:txBody>
          <a:bodyPr/>
          <a:lstStyle/>
          <a:p>
            <a:endParaRPr lang="en-US"/>
          </a:p>
        </p:txBody>
      </p:sp>
      <p:sp>
        <p:nvSpPr>
          <p:cNvPr id="39" name="Text 37"/>
          <p:cNvSpPr/>
          <p:nvPr/>
        </p:nvSpPr>
        <p:spPr>
          <a:xfrm>
            <a:off x="7406640" y="2322576"/>
            <a:ext cx="1115568" cy="512064"/>
          </a:xfrm>
          <a:prstGeom prst="rect">
            <a:avLst/>
          </a:prstGeom>
          <a:noFill/>
          <a:ln/>
        </p:spPr>
        <p:txBody>
          <a:bodyPr wrap="square" rtlCol="0" anchor="ctr"/>
          <a:lstStyle/>
          <a:p>
            <a:pPr marL="0" indent="0" algn="ctr">
              <a:buNone/>
            </a:pPr>
            <a:r>
              <a:rPr lang="en-US" sz="800" dirty="0">
                <a:solidFill>
                  <a:srgbClr val="E0F2E9"/>
                </a:solidFill>
                <a:latin typeface="Calibri" pitchFamily="34" charset="0"/>
                <a:ea typeface="Calibri" pitchFamily="34" charset="-122"/>
                <a:cs typeface="Calibri" pitchFamily="34" charset="-120"/>
              </a:rPr>
              <a:t>Environmental</a:t>
            </a:r>
            <a:endParaRPr lang="en-US" sz="800" dirty="0"/>
          </a:p>
          <a:p>
            <a:pPr marL="0" indent="0" algn="ctr">
              <a:buNone/>
            </a:pPr>
            <a:r>
              <a:rPr lang="en-US" sz="800" dirty="0">
                <a:solidFill>
                  <a:srgbClr val="E0F2E9"/>
                </a:solidFill>
                <a:latin typeface="Calibri" pitchFamily="34" charset="0"/>
                <a:ea typeface="Calibri" pitchFamily="34" charset="-122"/>
                <a:cs typeface="Calibri" pitchFamily="34" charset="-120"/>
              </a:rPr>
              <a:t>findings</a:t>
            </a:r>
            <a:endParaRPr lang="en-US" sz="800" dirty="0"/>
          </a:p>
        </p:txBody>
      </p:sp>
      <p:sp>
        <p:nvSpPr>
          <p:cNvPr id="40" name="Text 38"/>
          <p:cNvSpPr/>
          <p:nvPr/>
        </p:nvSpPr>
        <p:spPr>
          <a:xfrm>
            <a:off x="548640" y="2944368"/>
            <a:ext cx="8321040" cy="347472"/>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All steps were implemented in Python using a single Jupyter Notebook (retrain.ipynb). Each scene was processed sequentially through the full pipeline.</a:t>
            </a:r>
            <a:endParaRPr lang="en-US" sz="1000" dirty="0"/>
          </a:p>
        </p:txBody>
      </p:sp>
      <p:pic>
        <p:nvPicPr>
          <p:cNvPr id="41" name="Image 0" descr="preencoded.png"/>
          <p:cNvPicPr>
            <a:picLocks noChangeAspect="1"/>
          </p:cNvPicPr>
          <p:nvPr/>
        </p:nvPicPr>
        <p:blipFill>
          <a:blip r:embed="rId3"/>
          <a:srcRect/>
          <a:stretch/>
        </p:blipFill>
        <p:spPr>
          <a:xfrm>
            <a:off x="411480" y="3219994"/>
            <a:ext cx="8321040" cy="1736054"/>
          </a:xfrm>
          <a:prstGeom prst="rect">
            <a:avLst/>
          </a:prstGeom>
        </p:spPr>
      </p:pic>
      <p:sp>
        <p:nvSpPr>
          <p:cNvPr id="42" name="Text 39"/>
          <p:cNvSpPr/>
          <p:nvPr/>
        </p:nvSpPr>
        <p:spPr>
          <a:xfrm>
            <a:off x="411480" y="4974336"/>
            <a:ext cx="8321040"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Figure 6 – NDVI histogram distributions across all 20 scenes. Dashed line = vegetation threshold (NDVI = 0.25)</a:t>
            </a:r>
            <a:endParaRPr lang="en-US" sz="750" dirty="0"/>
          </a:p>
        </p:txBody>
      </p:sp>
      <p:sp>
        <p:nvSpPr>
          <p:cNvPr id="43" name="Text 4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0277BD"/>
          </a:solidFill>
          <a:ln w="12700">
            <a:solidFill>
              <a:srgbClr val="0277BD"/>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Spectral Indices</a:t>
            </a:r>
            <a:endParaRPr lang="en-US" sz="2200" dirty="0"/>
          </a:p>
        </p:txBody>
      </p:sp>
      <p:sp>
        <p:nvSpPr>
          <p:cNvPr id="6" name="Shape 4"/>
          <p:cNvSpPr/>
          <p:nvPr/>
        </p:nvSpPr>
        <p:spPr>
          <a:xfrm>
            <a:off x="347472"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Shape 5"/>
          <p:cNvSpPr/>
          <p:nvPr/>
        </p:nvSpPr>
        <p:spPr>
          <a:xfrm>
            <a:off x="347472" y="749808"/>
            <a:ext cx="1682496" cy="493776"/>
          </a:xfrm>
          <a:prstGeom prst="rect">
            <a:avLst/>
          </a:prstGeom>
          <a:solidFill>
            <a:srgbClr val="2E7D32"/>
          </a:solidFill>
          <a:ln w="12700">
            <a:solidFill>
              <a:srgbClr val="2E7D32"/>
            </a:solidFill>
            <a:prstDash val="solid"/>
          </a:ln>
        </p:spPr>
        <p:txBody>
          <a:bodyPr/>
          <a:lstStyle/>
          <a:p>
            <a:endParaRPr lang="en-US"/>
          </a:p>
        </p:txBody>
      </p:sp>
      <p:sp>
        <p:nvSpPr>
          <p:cNvPr id="8" name="Text 6"/>
          <p:cNvSpPr/>
          <p:nvPr/>
        </p:nvSpPr>
        <p:spPr>
          <a:xfrm>
            <a:off x="347472"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NDVI</a:t>
            </a:r>
            <a:endParaRPr lang="en-US" sz="1800" dirty="0"/>
          </a:p>
        </p:txBody>
      </p:sp>
      <p:sp>
        <p:nvSpPr>
          <p:cNvPr id="9" name="Text 7"/>
          <p:cNvSpPr/>
          <p:nvPr/>
        </p:nvSpPr>
        <p:spPr>
          <a:xfrm>
            <a:off x="438912"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Vegetation Index</a:t>
            </a:r>
            <a:endParaRPr lang="en-US" sz="900" dirty="0"/>
          </a:p>
        </p:txBody>
      </p:sp>
      <p:sp>
        <p:nvSpPr>
          <p:cNvPr id="10" name="Shape 8"/>
          <p:cNvSpPr/>
          <p:nvPr/>
        </p:nvSpPr>
        <p:spPr>
          <a:xfrm>
            <a:off x="438912"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11" name="Text 9"/>
          <p:cNvSpPr/>
          <p:nvPr/>
        </p:nvSpPr>
        <p:spPr>
          <a:xfrm>
            <a:off x="457200"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(NIR − Red) / (NIR + Red)</a:t>
            </a:r>
            <a:endParaRPr lang="en-US" sz="850" dirty="0"/>
          </a:p>
        </p:txBody>
      </p:sp>
      <p:sp>
        <p:nvSpPr>
          <p:cNvPr id="12" name="Text 10"/>
          <p:cNvSpPr/>
          <p:nvPr/>
        </p:nvSpPr>
        <p:spPr>
          <a:xfrm>
            <a:off x="438912"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Vegetation health &amp; density. Threshold &gt; 0.25 = vegetation.</a:t>
            </a:r>
            <a:endParaRPr lang="en-US" sz="900" dirty="0"/>
          </a:p>
        </p:txBody>
      </p:sp>
      <p:sp>
        <p:nvSpPr>
          <p:cNvPr id="13" name="Shape 11"/>
          <p:cNvSpPr/>
          <p:nvPr/>
        </p:nvSpPr>
        <p:spPr>
          <a:xfrm>
            <a:off x="2103120"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4" name="Shape 12"/>
          <p:cNvSpPr/>
          <p:nvPr/>
        </p:nvSpPr>
        <p:spPr>
          <a:xfrm>
            <a:off x="2103120" y="749808"/>
            <a:ext cx="1682496" cy="493776"/>
          </a:xfrm>
          <a:prstGeom prst="rect">
            <a:avLst/>
          </a:prstGeom>
          <a:solidFill>
            <a:srgbClr val="0277BD"/>
          </a:solidFill>
          <a:ln w="12700">
            <a:solidFill>
              <a:srgbClr val="0277BD"/>
            </a:solidFill>
            <a:prstDash val="solid"/>
          </a:ln>
        </p:spPr>
        <p:txBody>
          <a:bodyPr/>
          <a:lstStyle/>
          <a:p>
            <a:endParaRPr lang="en-US"/>
          </a:p>
        </p:txBody>
      </p:sp>
      <p:sp>
        <p:nvSpPr>
          <p:cNvPr id="15" name="Text 13"/>
          <p:cNvSpPr/>
          <p:nvPr/>
        </p:nvSpPr>
        <p:spPr>
          <a:xfrm>
            <a:off x="2103120"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NDWI</a:t>
            </a:r>
            <a:endParaRPr lang="en-US" sz="1800" dirty="0"/>
          </a:p>
        </p:txBody>
      </p:sp>
      <p:sp>
        <p:nvSpPr>
          <p:cNvPr id="16" name="Text 14"/>
          <p:cNvSpPr/>
          <p:nvPr/>
        </p:nvSpPr>
        <p:spPr>
          <a:xfrm>
            <a:off x="2194560"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Water Index</a:t>
            </a:r>
            <a:endParaRPr lang="en-US" sz="900" dirty="0"/>
          </a:p>
        </p:txBody>
      </p:sp>
      <p:sp>
        <p:nvSpPr>
          <p:cNvPr id="17" name="Shape 15"/>
          <p:cNvSpPr/>
          <p:nvPr/>
        </p:nvSpPr>
        <p:spPr>
          <a:xfrm>
            <a:off x="2194560"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18" name="Text 16"/>
          <p:cNvSpPr/>
          <p:nvPr/>
        </p:nvSpPr>
        <p:spPr>
          <a:xfrm>
            <a:off x="2212848"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(Green − NIR) / (Green + NIR)</a:t>
            </a:r>
            <a:endParaRPr lang="en-US" sz="850" dirty="0"/>
          </a:p>
        </p:txBody>
      </p:sp>
      <p:sp>
        <p:nvSpPr>
          <p:cNvPr id="19" name="Text 17"/>
          <p:cNvSpPr/>
          <p:nvPr/>
        </p:nvSpPr>
        <p:spPr>
          <a:xfrm>
            <a:off x="2194560"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Identifies open water bodies. Used to build persistent land mask.</a:t>
            </a:r>
            <a:endParaRPr lang="en-US" sz="900" dirty="0"/>
          </a:p>
        </p:txBody>
      </p:sp>
      <p:sp>
        <p:nvSpPr>
          <p:cNvPr id="20" name="Shape 18"/>
          <p:cNvSpPr/>
          <p:nvPr/>
        </p:nvSpPr>
        <p:spPr>
          <a:xfrm>
            <a:off x="3858768"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9"/>
          <p:cNvSpPr/>
          <p:nvPr/>
        </p:nvSpPr>
        <p:spPr>
          <a:xfrm>
            <a:off x="3858768" y="749808"/>
            <a:ext cx="1682496" cy="493776"/>
          </a:xfrm>
          <a:prstGeom prst="rect">
            <a:avLst/>
          </a:prstGeom>
          <a:solidFill>
            <a:srgbClr val="6D4C41"/>
          </a:solidFill>
          <a:ln w="12700">
            <a:solidFill>
              <a:srgbClr val="6D4C41"/>
            </a:solidFill>
            <a:prstDash val="solid"/>
          </a:ln>
        </p:spPr>
        <p:txBody>
          <a:bodyPr/>
          <a:lstStyle/>
          <a:p>
            <a:endParaRPr lang="en-US"/>
          </a:p>
        </p:txBody>
      </p:sp>
      <p:sp>
        <p:nvSpPr>
          <p:cNvPr id="22" name="Text 20"/>
          <p:cNvSpPr/>
          <p:nvPr/>
        </p:nvSpPr>
        <p:spPr>
          <a:xfrm>
            <a:off x="3858768"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NDBI</a:t>
            </a:r>
            <a:endParaRPr lang="en-US" sz="1800" dirty="0"/>
          </a:p>
        </p:txBody>
      </p:sp>
      <p:sp>
        <p:nvSpPr>
          <p:cNvPr id="23" name="Text 21"/>
          <p:cNvSpPr/>
          <p:nvPr/>
        </p:nvSpPr>
        <p:spPr>
          <a:xfrm>
            <a:off x="3950208"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Difference Built-Up Index</a:t>
            </a:r>
            <a:endParaRPr lang="en-US" sz="900" dirty="0"/>
          </a:p>
        </p:txBody>
      </p:sp>
      <p:sp>
        <p:nvSpPr>
          <p:cNvPr id="24" name="Shape 22"/>
          <p:cNvSpPr/>
          <p:nvPr/>
        </p:nvSpPr>
        <p:spPr>
          <a:xfrm>
            <a:off x="3950208"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25" name="Text 23"/>
          <p:cNvSpPr/>
          <p:nvPr/>
        </p:nvSpPr>
        <p:spPr>
          <a:xfrm>
            <a:off x="3968496"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(SWIR1 − NIR) / (SWIR1 + NIR)</a:t>
            </a:r>
            <a:endParaRPr lang="en-US" sz="850" dirty="0"/>
          </a:p>
        </p:txBody>
      </p:sp>
      <p:sp>
        <p:nvSpPr>
          <p:cNvPr id="26" name="Text 24"/>
          <p:cNvSpPr/>
          <p:nvPr/>
        </p:nvSpPr>
        <p:spPr>
          <a:xfrm>
            <a:off x="3950208"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Highlights impervious and built-up surfaces.</a:t>
            </a:r>
            <a:endParaRPr lang="en-US" sz="900" dirty="0"/>
          </a:p>
        </p:txBody>
      </p:sp>
      <p:sp>
        <p:nvSpPr>
          <p:cNvPr id="27" name="Shape 25"/>
          <p:cNvSpPr/>
          <p:nvPr/>
        </p:nvSpPr>
        <p:spPr>
          <a:xfrm>
            <a:off x="5614416"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8" name="Shape 26"/>
          <p:cNvSpPr/>
          <p:nvPr/>
        </p:nvSpPr>
        <p:spPr>
          <a:xfrm>
            <a:off x="5614416" y="749808"/>
            <a:ext cx="1682496" cy="493776"/>
          </a:xfrm>
          <a:prstGeom prst="rect">
            <a:avLst/>
          </a:prstGeom>
          <a:solidFill>
            <a:srgbClr val="BF360C"/>
          </a:solidFill>
          <a:ln w="12700">
            <a:solidFill>
              <a:srgbClr val="BF360C"/>
            </a:solidFill>
            <a:prstDash val="solid"/>
          </a:ln>
        </p:spPr>
        <p:txBody>
          <a:bodyPr/>
          <a:lstStyle/>
          <a:p>
            <a:endParaRPr lang="en-US"/>
          </a:p>
        </p:txBody>
      </p:sp>
      <p:sp>
        <p:nvSpPr>
          <p:cNvPr id="29" name="Text 27"/>
          <p:cNvSpPr/>
          <p:nvPr/>
        </p:nvSpPr>
        <p:spPr>
          <a:xfrm>
            <a:off x="5614416"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NBR</a:t>
            </a:r>
            <a:endParaRPr lang="en-US" sz="1800" dirty="0"/>
          </a:p>
        </p:txBody>
      </p:sp>
      <p:sp>
        <p:nvSpPr>
          <p:cNvPr id="30" name="Text 28"/>
          <p:cNvSpPr/>
          <p:nvPr/>
        </p:nvSpPr>
        <p:spPr>
          <a:xfrm>
            <a:off x="5705856"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Normalized Burn Ratio</a:t>
            </a:r>
            <a:endParaRPr lang="en-US" sz="900" dirty="0"/>
          </a:p>
        </p:txBody>
      </p:sp>
      <p:sp>
        <p:nvSpPr>
          <p:cNvPr id="31" name="Shape 29"/>
          <p:cNvSpPr/>
          <p:nvPr/>
        </p:nvSpPr>
        <p:spPr>
          <a:xfrm>
            <a:off x="5705856"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32" name="Text 30"/>
          <p:cNvSpPr/>
          <p:nvPr/>
        </p:nvSpPr>
        <p:spPr>
          <a:xfrm>
            <a:off x="5724144"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(NIR − SWIR2) / (NIR + SWIR2)</a:t>
            </a:r>
            <a:endParaRPr lang="en-US" sz="850" dirty="0"/>
          </a:p>
        </p:txBody>
      </p:sp>
      <p:sp>
        <p:nvSpPr>
          <p:cNvPr id="33" name="Text 31"/>
          <p:cNvSpPr/>
          <p:nvPr/>
        </p:nvSpPr>
        <p:spPr>
          <a:xfrm>
            <a:off x="5705856"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Sensitive to dry soil and previously burnt land.</a:t>
            </a:r>
            <a:endParaRPr lang="en-US" sz="900" dirty="0"/>
          </a:p>
        </p:txBody>
      </p:sp>
      <p:sp>
        <p:nvSpPr>
          <p:cNvPr id="34" name="Shape 32"/>
          <p:cNvSpPr/>
          <p:nvPr/>
        </p:nvSpPr>
        <p:spPr>
          <a:xfrm>
            <a:off x="7370064" y="749808"/>
            <a:ext cx="1682496" cy="3547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35" name="Shape 33"/>
          <p:cNvSpPr/>
          <p:nvPr/>
        </p:nvSpPr>
        <p:spPr>
          <a:xfrm>
            <a:off x="7370064" y="749808"/>
            <a:ext cx="1682496" cy="493776"/>
          </a:xfrm>
          <a:prstGeom prst="rect">
            <a:avLst/>
          </a:prstGeom>
          <a:solidFill>
            <a:srgbClr val="1B5E20"/>
          </a:solidFill>
          <a:ln w="12700">
            <a:solidFill>
              <a:srgbClr val="1B5E20"/>
            </a:solidFill>
            <a:prstDash val="solid"/>
          </a:ln>
        </p:spPr>
        <p:txBody>
          <a:bodyPr/>
          <a:lstStyle/>
          <a:p>
            <a:endParaRPr lang="en-US"/>
          </a:p>
        </p:txBody>
      </p:sp>
      <p:sp>
        <p:nvSpPr>
          <p:cNvPr id="36" name="Text 34"/>
          <p:cNvSpPr/>
          <p:nvPr/>
        </p:nvSpPr>
        <p:spPr>
          <a:xfrm>
            <a:off x="7370064" y="749808"/>
            <a:ext cx="168249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EVI</a:t>
            </a:r>
            <a:endParaRPr lang="en-US" sz="1800" dirty="0"/>
          </a:p>
        </p:txBody>
      </p:sp>
      <p:sp>
        <p:nvSpPr>
          <p:cNvPr id="37" name="Text 35"/>
          <p:cNvSpPr/>
          <p:nvPr/>
        </p:nvSpPr>
        <p:spPr>
          <a:xfrm>
            <a:off x="7461504" y="1316736"/>
            <a:ext cx="1499616" cy="502920"/>
          </a:xfrm>
          <a:prstGeom prst="rect">
            <a:avLst/>
          </a:prstGeom>
          <a:noFill/>
          <a:ln/>
        </p:spPr>
        <p:txBody>
          <a:bodyPr wrap="square" lIns="0" tIns="0" rIns="0" bIns="0" rtlCol="0" anchor="ctr"/>
          <a:lstStyle/>
          <a:p>
            <a:pPr marL="0" indent="0">
              <a:buNone/>
            </a:pPr>
            <a:r>
              <a:rPr lang="en-US" sz="900" b="1" dirty="0">
                <a:solidFill>
                  <a:srgbClr val="1C2B22"/>
                </a:solidFill>
                <a:latin typeface="Calibri" pitchFamily="34" charset="0"/>
                <a:ea typeface="Calibri" pitchFamily="34" charset="-122"/>
                <a:cs typeface="Calibri" pitchFamily="34" charset="-120"/>
              </a:rPr>
              <a:t>Enhanced Vegetation Index</a:t>
            </a:r>
            <a:endParaRPr lang="en-US" sz="900" dirty="0"/>
          </a:p>
        </p:txBody>
      </p:sp>
      <p:sp>
        <p:nvSpPr>
          <p:cNvPr id="38" name="Shape 36"/>
          <p:cNvSpPr/>
          <p:nvPr/>
        </p:nvSpPr>
        <p:spPr>
          <a:xfrm>
            <a:off x="7461504" y="1847088"/>
            <a:ext cx="1499616" cy="685800"/>
          </a:xfrm>
          <a:prstGeom prst="rect">
            <a:avLst/>
          </a:prstGeom>
          <a:solidFill>
            <a:srgbClr val="F8FAF9"/>
          </a:solidFill>
          <a:ln w="12700">
            <a:solidFill>
              <a:srgbClr val="E8EFF0"/>
            </a:solidFill>
            <a:prstDash val="solid"/>
          </a:ln>
        </p:spPr>
        <p:txBody>
          <a:bodyPr/>
          <a:lstStyle/>
          <a:p>
            <a:endParaRPr lang="en-US"/>
          </a:p>
        </p:txBody>
      </p:sp>
      <p:sp>
        <p:nvSpPr>
          <p:cNvPr id="39" name="Text 37"/>
          <p:cNvSpPr/>
          <p:nvPr/>
        </p:nvSpPr>
        <p:spPr>
          <a:xfrm>
            <a:off x="7479792" y="1865376"/>
            <a:ext cx="1463040" cy="640080"/>
          </a:xfrm>
          <a:prstGeom prst="rect">
            <a:avLst/>
          </a:prstGeom>
          <a:noFill/>
          <a:ln/>
        </p:spPr>
        <p:txBody>
          <a:bodyPr wrap="square" lIns="0" tIns="0" rIns="0" bIns="0" rtlCol="0" anchor="ctr"/>
          <a:lstStyle/>
          <a:p>
            <a:pPr marL="0" indent="0" algn="ctr">
              <a:buNone/>
            </a:pPr>
            <a:r>
              <a:rPr lang="en-US" sz="850" dirty="0">
                <a:solidFill>
                  <a:srgbClr val="444444"/>
                </a:solidFill>
                <a:latin typeface="Consolas" pitchFamily="34" charset="0"/>
                <a:ea typeface="Consolas" pitchFamily="34" charset="-122"/>
                <a:cs typeface="Consolas" pitchFamily="34" charset="-120"/>
              </a:rPr>
              <a:t>2.5 × (NIR − Red) / (NIR + 6R − 7.5B + 1)</a:t>
            </a:r>
            <a:endParaRPr lang="en-US" sz="850" dirty="0"/>
          </a:p>
        </p:txBody>
      </p:sp>
      <p:sp>
        <p:nvSpPr>
          <p:cNvPr id="40" name="Text 38"/>
          <p:cNvSpPr/>
          <p:nvPr/>
        </p:nvSpPr>
        <p:spPr>
          <a:xfrm>
            <a:off x="7461504" y="2578608"/>
            <a:ext cx="1499616" cy="749808"/>
          </a:xfrm>
          <a:prstGeom prst="rect">
            <a:avLst/>
          </a:prstGeom>
          <a:noFill/>
          <a:ln/>
        </p:spPr>
        <p:txBody>
          <a:bodyPr wrap="square" lIns="0" tIns="0" rIns="0" bIns="0" rtlCol="0" anchor="ctr"/>
          <a:lstStyle/>
          <a:p>
            <a:pPr marL="0" indent="0">
              <a:buNone/>
            </a:pPr>
            <a:r>
              <a:rPr lang="en-US" sz="900" dirty="0">
                <a:solidFill>
                  <a:srgbClr val="4A5568"/>
                </a:solidFill>
                <a:latin typeface="Calibri" pitchFamily="34" charset="0"/>
                <a:ea typeface="Calibri" pitchFamily="34" charset="-122"/>
                <a:cs typeface="Calibri" pitchFamily="34" charset="-120"/>
              </a:rPr>
              <a:t>Improves NDVI in dense canopy; corrects for atmosphere and soil.</a:t>
            </a:r>
            <a:endParaRPr lang="en-US" sz="900" dirty="0"/>
          </a:p>
        </p:txBody>
      </p:sp>
      <p:sp>
        <p:nvSpPr>
          <p:cNvPr id="42" name="Text 39"/>
          <p:cNvSpPr/>
          <p:nvPr/>
        </p:nvSpPr>
        <p:spPr>
          <a:xfrm>
            <a:off x="347472" y="5074920"/>
            <a:ext cx="8449056"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NDVI maps – all 20 scenes (green = dense vegetation, red/yellow = bare/non-vegetated)</a:t>
            </a:r>
            <a:endParaRPr lang="en-US" sz="750" dirty="0"/>
          </a:p>
        </p:txBody>
      </p:sp>
      <p:sp>
        <p:nvSpPr>
          <p:cNvPr id="43" name="Text 4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6A1599"/>
          </a:solidFill>
          <a:ln w="12700">
            <a:solidFill>
              <a:srgbClr val="6A1599"/>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3</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Land Cover Classification</a:t>
            </a:r>
            <a:endParaRPr lang="en-US" sz="2200" dirty="0"/>
          </a:p>
        </p:txBody>
      </p:sp>
      <p:sp>
        <p:nvSpPr>
          <p:cNvPr id="7" name="Text 5"/>
          <p:cNvSpPr/>
          <p:nvPr/>
        </p:nvSpPr>
        <p:spPr>
          <a:xfrm>
            <a:off x="189411" y="832104"/>
            <a:ext cx="3840480" cy="274320"/>
          </a:xfrm>
          <a:prstGeom prst="rect">
            <a:avLst/>
          </a:prstGeom>
          <a:noFill/>
          <a:ln/>
        </p:spPr>
        <p:txBody>
          <a:bodyPr wrap="square" lIns="0" tIns="0" rIns="0" bIns="0" rtlCol="0" anchor="ctr"/>
          <a:lstStyle/>
          <a:p>
            <a:pPr marL="0" indent="0">
              <a:buNone/>
            </a:pPr>
            <a:r>
              <a:rPr lang="en-US" sz="1300" b="1" dirty="0">
                <a:solidFill>
                  <a:srgbClr val="1A4731"/>
                </a:solidFill>
                <a:latin typeface="Calibri" pitchFamily="34" charset="0"/>
                <a:ea typeface="Calibri" pitchFamily="34" charset="-122"/>
                <a:cs typeface="Calibri" pitchFamily="34" charset="-120"/>
              </a:rPr>
              <a:t>Random Forest Classifier</a:t>
            </a:r>
            <a:endParaRPr lang="en-US" sz="1300" dirty="0"/>
          </a:p>
        </p:txBody>
      </p:sp>
      <p:sp>
        <p:nvSpPr>
          <p:cNvPr id="8" name="Text 6"/>
          <p:cNvSpPr/>
          <p:nvPr/>
        </p:nvSpPr>
        <p:spPr>
          <a:xfrm>
            <a:off x="189411" y="1197864"/>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Trees:</a:t>
            </a:r>
            <a:endParaRPr lang="en-US" sz="1000" dirty="0"/>
          </a:p>
        </p:txBody>
      </p:sp>
      <p:sp>
        <p:nvSpPr>
          <p:cNvPr id="9" name="Text 7"/>
          <p:cNvSpPr/>
          <p:nvPr/>
        </p:nvSpPr>
        <p:spPr>
          <a:xfrm>
            <a:off x="1259259" y="1197864"/>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200  |  Max depth: 15</a:t>
            </a:r>
            <a:endParaRPr lang="en-US" sz="1000" dirty="0"/>
          </a:p>
        </p:txBody>
      </p:sp>
      <p:sp>
        <p:nvSpPr>
          <p:cNvPr id="10" name="Text 8"/>
          <p:cNvSpPr/>
          <p:nvPr/>
        </p:nvSpPr>
        <p:spPr>
          <a:xfrm>
            <a:off x="189411" y="1545336"/>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Features:</a:t>
            </a:r>
            <a:endParaRPr lang="en-US" sz="1000" dirty="0"/>
          </a:p>
        </p:txBody>
      </p:sp>
      <p:sp>
        <p:nvSpPr>
          <p:cNvPr id="11" name="Text 9"/>
          <p:cNvSpPr/>
          <p:nvPr/>
        </p:nvSpPr>
        <p:spPr>
          <a:xfrm>
            <a:off x="1259259" y="1545336"/>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11  (6 bands + 5 spectral indices)</a:t>
            </a:r>
            <a:endParaRPr lang="en-US" sz="1000" dirty="0"/>
          </a:p>
        </p:txBody>
      </p:sp>
      <p:sp>
        <p:nvSpPr>
          <p:cNvPr id="12" name="Text 10"/>
          <p:cNvSpPr/>
          <p:nvPr/>
        </p:nvSpPr>
        <p:spPr>
          <a:xfrm>
            <a:off x="189411" y="1892808"/>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Training:</a:t>
            </a:r>
            <a:endParaRPr lang="en-US" sz="1000" dirty="0"/>
          </a:p>
        </p:txBody>
      </p:sp>
      <p:sp>
        <p:nvSpPr>
          <p:cNvPr id="13" name="Text 11"/>
          <p:cNvSpPr/>
          <p:nvPr/>
        </p:nvSpPr>
        <p:spPr>
          <a:xfrm>
            <a:off x="1259259" y="1892808"/>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Auto pseudo-labelling (spectral thresholds)</a:t>
            </a:r>
            <a:endParaRPr lang="en-US" sz="1000" dirty="0"/>
          </a:p>
        </p:txBody>
      </p:sp>
      <p:sp>
        <p:nvSpPr>
          <p:cNvPr id="14" name="Text 12"/>
          <p:cNvSpPr/>
          <p:nvPr/>
        </p:nvSpPr>
        <p:spPr>
          <a:xfrm>
            <a:off x="189411" y="2240280"/>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Split:</a:t>
            </a:r>
            <a:endParaRPr lang="en-US" sz="1000" dirty="0"/>
          </a:p>
        </p:txBody>
      </p:sp>
      <p:sp>
        <p:nvSpPr>
          <p:cNvPr id="15" name="Text 13"/>
          <p:cNvSpPr/>
          <p:nvPr/>
        </p:nvSpPr>
        <p:spPr>
          <a:xfrm>
            <a:off x="1259259" y="2240280"/>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75 / 25 train / test · stratified</a:t>
            </a:r>
            <a:endParaRPr lang="en-US" sz="1000" dirty="0"/>
          </a:p>
        </p:txBody>
      </p:sp>
      <p:sp>
        <p:nvSpPr>
          <p:cNvPr id="16" name="Text 14"/>
          <p:cNvSpPr/>
          <p:nvPr/>
        </p:nvSpPr>
        <p:spPr>
          <a:xfrm>
            <a:off x="189411" y="2587752"/>
            <a:ext cx="1097280" cy="228600"/>
          </a:xfrm>
          <a:prstGeom prst="rect">
            <a:avLst/>
          </a:prstGeom>
          <a:noFill/>
          <a:ln/>
        </p:spPr>
        <p:txBody>
          <a:bodyPr wrap="square" lIns="0" tIns="0" rIns="0" bIns="0" rtlCol="0" anchor="ctr"/>
          <a:lstStyle/>
          <a:p>
            <a:pPr marL="0" indent="0">
              <a:buNone/>
            </a:pPr>
            <a:r>
              <a:rPr lang="en-US" sz="1000" b="1" dirty="0">
                <a:solidFill>
                  <a:srgbClr val="2D6A4F"/>
                </a:solidFill>
                <a:latin typeface="Calibri" pitchFamily="34" charset="0"/>
                <a:ea typeface="Calibri" pitchFamily="34" charset="-122"/>
                <a:cs typeface="Calibri" pitchFamily="34" charset="-120"/>
              </a:rPr>
              <a:t>Classes:</a:t>
            </a:r>
            <a:endParaRPr lang="en-US" sz="1000" dirty="0"/>
          </a:p>
        </p:txBody>
      </p:sp>
      <p:sp>
        <p:nvSpPr>
          <p:cNvPr id="17" name="Text 15"/>
          <p:cNvSpPr/>
          <p:nvPr/>
        </p:nvSpPr>
        <p:spPr>
          <a:xfrm>
            <a:off x="1259259" y="2587752"/>
            <a:ext cx="2788920" cy="228600"/>
          </a:xfrm>
          <a:prstGeom prst="rect">
            <a:avLst/>
          </a:prstGeom>
          <a:noFill/>
          <a:ln/>
        </p:spPr>
        <p:txBody>
          <a:bodyPr wrap="square" lIns="0" tIns="0" rIns="0" bIns="0" rtlCol="0" anchor="ctr"/>
          <a:lstStyle/>
          <a:p>
            <a:pPr marL="0" indent="0">
              <a:buNone/>
            </a:pPr>
            <a:r>
              <a:rPr lang="en-US" sz="1000" dirty="0">
                <a:solidFill>
                  <a:srgbClr val="1C2B22"/>
                </a:solidFill>
                <a:latin typeface="Calibri" pitchFamily="34" charset="0"/>
                <a:ea typeface="Calibri" pitchFamily="34" charset="-122"/>
                <a:cs typeface="Calibri" pitchFamily="34" charset="-120"/>
              </a:rPr>
              <a:t>Water · Vegetation · Bare Soil · Built-Up</a:t>
            </a:r>
            <a:endParaRPr lang="en-US" sz="1000" dirty="0"/>
          </a:p>
        </p:txBody>
      </p:sp>
      <p:sp>
        <p:nvSpPr>
          <p:cNvPr id="18" name="Shape 16"/>
          <p:cNvSpPr/>
          <p:nvPr/>
        </p:nvSpPr>
        <p:spPr>
          <a:xfrm>
            <a:off x="182880" y="3127248"/>
            <a:ext cx="3840480" cy="1481328"/>
          </a:xfrm>
          <a:prstGeom prst="rect">
            <a:avLst/>
          </a:prstGeom>
          <a:solidFill>
            <a:srgbClr val="F8FAF9"/>
          </a:solidFill>
          <a:ln w="12700">
            <a:solidFill>
              <a:srgbClr val="E8EFF0"/>
            </a:solidFill>
            <a:prstDash val="solid"/>
          </a:ln>
        </p:spPr>
        <p:txBody>
          <a:bodyPr/>
          <a:lstStyle/>
          <a:p>
            <a:endParaRPr lang="en-US"/>
          </a:p>
        </p:txBody>
      </p:sp>
      <p:sp>
        <p:nvSpPr>
          <p:cNvPr id="19" name="Text 17"/>
          <p:cNvSpPr/>
          <p:nvPr/>
        </p:nvSpPr>
        <p:spPr>
          <a:xfrm>
            <a:off x="515983" y="3287921"/>
            <a:ext cx="3657600" cy="219456"/>
          </a:xfrm>
          <a:prstGeom prst="rect">
            <a:avLst/>
          </a:prstGeom>
          <a:noFill/>
          <a:ln/>
        </p:spPr>
        <p:txBody>
          <a:bodyPr wrap="square" lIns="0" tIns="0" rIns="0" bIns="0" rtlCol="0" anchor="ctr"/>
          <a:lstStyle/>
          <a:p>
            <a:pPr marL="0" indent="0">
              <a:buNone/>
            </a:pPr>
            <a:r>
              <a:rPr lang="en-US" sz="1000" b="1" dirty="0">
                <a:solidFill>
                  <a:srgbClr val="1A4731"/>
                </a:solidFill>
                <a:latin typeface="Calibri" pitchFamily="34" charset="0"/>
                <a:ea typeface="Calibri" pitchFamily="34" charset="-122"/>
                <a:cs typeface="Calibri" pitchFamily="34" charset="-120"/>
              </a:rPr>
              <a:t>Pseudo-label rules</a:t>
            </a:r>
            <a:endParaRPr lang="en-US" sz="1000" dirty="0"/>
          </a:p>
        </p:txBody>
      </p:sp>
      <p:sp>
        <p:nvSpPr>
          <p:cNvPr id="20" name="Text 18"/>
          <p:cNvSpPr/>
          <p:nvPr/>
        </p:nvSpPr>
        <p:spPr>
          <a:xfrm>
            <a:off x="515983" y="3543953"/>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Water:       NDWI &gt; 0.15  AND  NDVI &lt; 0.02</a:t>
            </a:r>
            <a:endParaRPr lang="en-US" sz="850" dirty="0"/>
          </a:p>
        </p:txBody>
      </p:sp>
      <p:sp>
        <p:nvSpPr>
          <p:cNvPr id="21" name="Text 19"/>
          <p:cNvSpPr/>
          <p:nvPr/>
        </p:nvSpPr>
        <p:spPr>
          <a:xfrm>
            <a:off x="515983" y="3781697"/>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Vegetation:  NDVI &gt; 0.32  AND  NDWI &lt; −0.05</a:t>
            </a:r>
            <a:endParaRPr lang="en-US" sz="850" dirty="0"/>
          </a:p>
        </p:txBody>
      </p:sp>
      <p:sp>
        <p:nvSpPr>
          <p:cNvPr id="22" name="Text 20"/>
          <p:cNvSpPr/>
          <p:nvPr/>
        </p:nvSpPr>
        <p:spPr>
          <a:xfrm>
            <a:off x="515983" y="4019441"/>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Built-Up:   NDBI &gt; 0.08  AND  NDVI &lt; 0.12</a:t>
            </a:r>
            <a:endParaRPr lang="en-US" sz="850" dirty="0"/>
          </a:p>
        </p:txBody>
      </p:sp>
      <p:sp>
        <p:nvSpPr>
          <p:cNvPr id="23" name="Text 21"/>
          <p:cNvSpPr/>
          <p:nvPr/>
        </p:nvSpPr>
        <p:spPr>
          <a:xfrm>
            <a:off x="515983" y="4257185"/>
            <a:ext cx="3749040" cy="219456"/>
          </a:xfrm>
          <a:prstGeom prst="rect">
            <a:avLst/>
          </a:prstGeom>
          <a:noFill/>
          <a:ln/>
        </p:spPr>
        <p:txBody>
          <a:bodyPr wrap="square" lIns="0" tIns="0" rIns="0" bIns="0" rtlCol="0" anchor="ctr"/>
          <a:lstStyle/>
          <a:p>
            <a:pPr marL="0" indent="0">
              <a:buNone/>
            </a:pPr>
            <a:r>
              <a:rPr lang="en-US" sz="850" dirty="0">
                <a:solidFill>
                  <a:srgbClr val="4A5568"/>
                </a:solidFill>
                <a:latin typeface="Consolas" pitchFamily="34" charset="0"/>
                <a:ea typeface="Consolas" pitchFamily="34" charset="-122"/>
                <a:cs typeface="Consolas" pitchFamily="34" charset="-120"/>
              </a:rPr>
              <a:t>🟤 Bare Soil:   Remaining moderate NDVI pixels</a:t>
            </a:r>
            <a:endParaRPr lang="en-US" sz="850" dirty="0"/>
          </a:p>
        </p:txBody>
      </p:sp>
      <p:pic>
        <p:nvPicPr>
          <p:cNvPr id="24" name="Image 0" descr="preencoded.png"/>
          <p:cNvPicPr>
            <a:picLocks noChangeAspect="1"/>
          </p:cNvPicPr>
          <p:nvPr/>
        </p:nvPicPr>
        <p:blipFill>
          <a:blip r:embed="rId3"/>
          <a:srcRect/>
          <a:stretch/>
        </p:blipFill>
        <p:spPr>
          <a:xfrm>
            <a:off x="3513909" y="749808"/>
            <a:ext cx="5538651" cy="2286000"/>
          </a:xfrm>
          <a:prstGeom prst="rect">
            <a:avLst/>
          </a:prstGeom>
        </p:spPr>
      </p:pic>
      <p:sp>
        <p:nvSpPr>
          <p:cNvPr id="25" name="Text 22"/>
          <p:cNvSpPr/>
          <p:nvPr/>
        </p:nvSpPr>
        <p:spPr>
          <a:xfrm>
            <a:off x="4709160" y="3054096"/>
            <a:ext cx="425196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7 – Confusion matrix · Cross-scene validation accuracy · Feature importances</a:t>
            </a:r>
            <a:endParaRPr lang="en-US" sz="800" dirty="0"/>
          </a:p>
        </p:txBody>
      </p:sp>
      <p:pic>
        <p:nvPicPr>
          <p:cNvPr id="26" name="Image 1" descr="preencoded.png"/>
          <p:cNvPicPr>
            <a:picLocks noChangeAspect="1"/>
          </p:cNvPicPr>
          <p:nvPr/>
        </p:nvPicPr>
        <p:blipFill>
          <a:blip r:embed="rId4"/>
          <a:srcRect/>
          <a:stretch/>
        </p:blipFill>
        <p:spPr>
          <a:xfrm>
            <a:off x="4709160" y="3310128"/>
            <a:ext cx="4251960" cy="1554480"/>
          </a:xfrm>
          <a:prstGeom prst="rect">
            <a:avLst/>
          </a:prstGeom>
        </p:spPr>
      </p:pic>
      <p:sp>
        <p:nvSpPr>
          <p:cNvPr id="27" name="Text 23"/>
          <p:cNvSpPr/>
          <p:nvPr/>
        </p:nvSpPr>
        <p:spPr>
          <a:xfrm>
            <a:off x="4709160" y="4882896"/>
            <a:ext cx="425196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9 – Classified map 2016 (left) vs 2025 (right) — Green = Vegetation, Brown = Bare Soil</a:t>
            </a:r>
            <a:endParaRPr lang="en-US" sz="800" dirty="0"/>
          </a:p>
        </p:txBody>
      </p:sp>
      <p:sp>
        <p:nvSpPr>
          <p:cNvPr id="28" name="Text 24"/>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D4A017"/>
          </a:solidFill>
          <a:ln w="12700">
            <a:solidFill>
              <a:srgbClr val="D4A017"/>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Change Detection Results</a:t>
            </a:r>
            <a:endParaRPr lang="en-US" sz="2200" dirty="0"/>
          </a:p>
        </p:txBody>
      </p:sp>
      <p:pic>
        <p:nvPicPr>
          <p:cNvPr id="6" name="Image 0" descr="preencoded.png"/>
          <p:cNvPicPr>
            <a:picLocks noChangeAspect="1"/>
          </p:cNvPicPr>
          <p:nvPr/>
        </p:nvPicPr>
        <p:blipFill>
          <a:blip r:embed="rId3"/>
          <a:srcRect/>
          <a:stretch/>
        </p:blipFill>
        <p:spPr>
          <a:xfrm>
            <a:off x="347472" y="749808"/>
            <a:ext cx="8449056" cy="2670048"/>
          </a:xfrm>
          <a:prstGeom prst="rect">
            <a:avLst/>
          </a:prstGeom>
        </p:spPr>
      </p:pic>
      <p:sp>
        <p:nvSpPr>
          <p:cNvPr id="7" name="Text 4"/>
          <p:cNvSpPr/>
          <p:nvPr/>
        </p:nvSpPr>
        <p:spPr>
          <a:xfrm>
            <a:off x="347472" y="3438144"/>
            <a:ext cx="8449056"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10 – Seasonal-adjusted NDVI change detection.  Left: 2016 baseline NDVI.  Centre: 2025_03 NDVI.  Right: Delta NDVI (red = loss, blue = gain)</a:t>
            </a:r>
            <a:endParaRPr lang="en-US" sz="800" dirty="0"/>
          </a:p>
        </p:txBody>
      </p:sp>
      <p:sp>
        <p:nvSpPr>
          <p:cNvPr id="8" name="Shape 5"/>
          <p:cNvSpPr/>
          <p:nvPr/>
        </p:nvSpPr>
        <p:spPr>
          <a:xfrm>
            <a:off x="347472"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347472"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10" name="Text 7"/>
          <p:cNvSpPr/>
          <p:nvPr/>
        </p:nvSpPr>
        <p:spPr>
          <a:xfrm>
            <a:off x="438912"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2022–2023</a:t>
            </a:r>
            <a:endParaRPr lang="en-US" sz="2000" dirty="0"/>
          </a:p>
        </p:txBody>
      </p:sp>
      <p:sp>
        <p:nvSpPr>
          <p:cNvPr id="11" name="Text 8"/>
          <p:cNvSpPr/>
          <p:nvPr/>
        </p:nvSpPr>
        <p:spPr>
          <a:xfrm>
            <a:off x="438912"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Peak loss period</a:t>
            </a:r>
            <a:endParaRPr lang="en-US" sz="900" dirty="0"/>
          </a:p>
        </p:txBody>
      </p:sp>
      <p:sp>
        <p:nvSpPr>
          <p:cNvPr id="12" name="Text 9"/>
          <p:cNvSpPr/>
          <p:nvPr/>
        </p:nvSpPr>
        <p:spPr>
          <a:xfrm>
            <a:off x="438912"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−11,042 ha net loss (82.6%)</a:t>
            </a:r>
            <a:endParaRPr lang="en-US" sz="850" dirty="0"/>
          </a:p>
        </p:txBody>
      </p:sp>
      <p:sp>
        <p:nvSpPr>
          <p:cNvPr id="13" name="Shape 10"/>
          <p:cNvSpPr/>
          <p:nvPr/>
        </p:nvSpPr>
        <p:spPr>
          <a:xfrm>
            <a:off x="2468880"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4" name="Shape 11"/>
          <p:cNvSpPr/>
          <p:nvPr/>
        </p:nvSpPr>
        <p:spPr>
          <a:xfrm>
            <a:off x="2468880"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15" name="Text 12"/>
          <p:cNvSpPr/>
          <p:nvPr/>
        </p:nvSpPr>
        <p:spPr>
          <a:xfrm>
            <a:off x="2560320"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−0.152</a:t>
            </a:r>
            <a:endParaRPr lang="en-US" sz="2000" dirty="0"/>
          </a:p>
        </p:txBody>
      </p:sp>
      <p:sp>
        <p:nvSpPr>
          <p:cNvPr id="16" name="Text 13"/>
          <p:cNvSpPr/>
          <p:nvPr/>
        </p:nvSpPr>
        <p:spPr>
          <a:xfrm>
            <a:off x="2560320"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Delta NDVI</a:t>
            </a:r>
            <a:endParaRPr lang="en-US" sz="900" dirty="0"/>
          </a:p>
        </p:txBody>
      </p:sp>
      <p:sp>
        <p:nvSpPr>
          <p:cNvPr id="17" name="Text 14"/>
          <p:cNvSpPr/>
          <p:nvPr/>
        </p:nvSpPr>
        <p:spPr>
          <a:xfrm>
            <a:off x="2560320"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Largest single-step NDVI drop</a:t>
            </a:r>
            <a:endParaRPr lang="en-US" sz="850" dirty="0"/>
          </a:p>
        </p:txBody>
      </p:sp>
      <p:sp>
        <p:nvSpPr>
          <p:cNvPr id="18" name="Shape 15"/>
          <p:cNvSpPr/>
          <p:nvPr/>
        </p:nvSpPr>
        <p:spPr>
          <a:xfrm>
            <a:off x="4590288"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9" name="Shape 16"/>
          <p:cNvSpPr/>
          <p:nvPr/>
        </p:nvSpPr>
        <p:spPr>
          <a:xfrm>
            <a:off x="4590288"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20" name="Text 17"/>
          <p:cNvSpPr/>
          <p:nvPr/>
        </p:nvSpPr>
        <p:spPr>
          <a:xfrm>
            <a:off x="4681728"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+11,271 ha</a:t>
            </a:r>
            <a:endParaRPr lang="en-US" sz="2000" dirty="0"/>
          </a:p>
        </p:txBody>
      </p:sp>
      <p:sp>
        <p:nvSpPr>
          <p:cNvPr id="21" name="Text 18"/>
          <p:cNvSpPr/>
          <p:nvPr/>
        </p:nvSpPr>
        <p:spPr>
          <a:xfrm>
            <a:off x="4681728"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Recovery</a:t>
            </a:r>
            <a:endParaRPr lang="en-US" sz="900" dirty="0"/>
          </a:p>
        </p:txBody>
      </p:sp>
      <p:sp>
        <p:nvSpPr>
          <p:cNvPr id="22" name="Text 19"/>
          <p:cNvSpPr/>
          <p:nvPr/>
        </p:nvSpPr>
        <p:spPr>
          <a:xfrm>
            <a:off x="4681728"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Between 2024/03 and 2025/02</a:t>
            </a:r>
            <a:endParaRPr lang="en-US" sz="850" dirty="0"/>
          </a:p>
        </p:txBody>
      </p:sp>
      <p:sp>
        <p:nvSpPr>
          <p:cNvPr id="23" name="Shape 20"/>
          <p:cNvSpPr/>
          <p:nvPr/>
        </p:nvSpPr>
        <p:spPr>
          <a:xfrm>
            <a:off x="6711696" y="3703320"/>
            <a:ext cx="2011680" cy="1261872"/>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4" name="Shape 21"/>
          <p:cNvSpPr/>
          <p:nvPr/>
        </p:nvSpPr>
        <p:spPr>
          <a:xfrm>
            <a:off x="6711696" y="3703320"/>
            <a:ext cx="2011680" cy="73152"/>
          </a:xfrm>
          <a:prstGeom prst="rect">
            <a:avLst/>
          </a:prstGeom>
          <a:solidFill>
            <a:srgbClr val="C62828"/>
          </a:solidFill>
          <a:ln w="12700">
            <a:solidFill>
              <a:srgbClr val="C62828"/>
            </a:solidFill>
            <a:prstDash val="solid"/>
          </a:ln>
        </p:spPr>
        <p:txBody>
          <a:bodyPr/>
          <a:lstStyle/>
          <a:p>
            <a:endParaRPr lang="en-US"/>
          </a:p>
        </p:txBody>
      </p:sp>
      <p:sp>
        <p:nvSpPr>
          <p:cNvPr id="25" name="Text 22"/>
          <p:cNvSpPr/>
          <p:nvPr/>
        </p:nvSpPr>
        <p:spPr>
          <a:xfrm>
            <a:off x="6803136" y="3813048"/>
            <a:ext cx="1828800" cy="402336"/>
          </a:xfrm>
          <a:prstGeom prst="rect">
            <a:avLst/>
          </a:prstGeom>
          <a:noFill/>
          <a:ln/>
        </p:spPr>
        <p:txBody>
          <a:bodyPr wrap="square" lIns="0" tIns="0" rIns="0" bIns="0" rtlCol="0" anchor="ctr"/>
          <a:lstStyle/>
          <a:p>
            <a:pPr marL="0" indent="0" algn="ctr">
              <a:buNone/>
            </a:pPr>
            <a:r>
              <a:rPr lang="en-US" sz="2000" b="1" dirty="0">
                <a:solidFill>
                  <a:srgbClr val="C62828"/>
                </a:solidFill>
                <a:latin typeface="Calibri" pitchFamily="34" charset="0"/>
                <a:ea typeface="Calibri" pitchFamily="34" charset="-122"/>
                <a:cs typeface="Calibri" pitchFamily="34" charset="-120"/>
              </a:rPr>
              <a:t>Decline</a:t>
            </a:r>
            <a:endParaRPr lang="en-US" sz="2000" dirty="0"/>
          </a:p>
        </p:txBody>
      </p:sp>
      <p:sp>
        <p:nvSpPr>
          <p:cNvPr id="26" name="Text 23"/>
          <p:cNvSpPr/>
          <p:nvPr/>
        </p:nvSpPr>
        <p:spPr>
          <a:xfrm>
            <a:off x="6803136" y="4233672"/>
            <a:ext cx="1828800" cy="201168"/>
          </a:xfrm>
          <a:prstGeom prst="rect">
            <a:avLst/>
          </a:prstGeom>
          <a:noFill/>
          <a:ln/>
        </p:spPr>
        <p:txBody>
          <a:bodyPr wrap="square" lIns="0" tIns="0" rIns="0" bIns="0" rtlCol="0" anchor="ctr"/>
          <a:lstStyle/>
          <a:p>
            <a:pPr marL="0" indent="0" algn="ctr">
              <a:buNone/>
            </a:pPr>
            <a:r>
              <a:rPr lang="en-US" sz="900" b="1" dirty="0">
                <a:solidFill>
                  <a:srgbClr val="1C2B22"/>
                </a:solidFill>
                <a:latin typeface="Calibri" pitchFamily="34" charset="0"/>
                <a:ea typeface="Calibri" pitchFamily="34" charset="-122"/>
                <a:cs typeface="Calibri" pitchFamily="34" charset="-120"/>
              </a:rPr>
              <a:t>Overall trend</a:t>
            </a:r>
            <a:endParaRPr lang="en-US" sz="900" dirty="0"/>
          </a:p>
        </p:txBody>
      </p:sp>
      <p:sp>
        <p:nvSpPr>
          <p:cNvPr id="27" name="Text 24"/>
          <p:cNvSpPr/>
          <p:nvPr/>
        </p:nvSpPr>
        <p:spPr>
          <a:xfrm>
            <a:off x="6803136" y="4434840"/>
            <a:ext cx="1828800" cy="438912"/>
          </a:xfrm>
          <a:prstGeom prst="rect">
            <a:avLst/>
          </a:prstGeom>
          <a:noFill/>
          <a:ln/>
        </p:spPr>
        <p:txBody>
          <a:bodyPr wrap="square" lIns="0" tIns="0" rIns="0" bIns="0" rtlCol="0" anchor="ctr"/>
          <a:lstStyle/>
          <a:p>
            <a:pPr marL="0" indent="0" algn="ctr">
              <a:buNone/>
            </a:pPr>
            <a:r>
              <a:rPr lang="en-US" sz="850" dirty="0">
                <a:solidFill>
                  <a:srgbClr val="90A4AE"/>
                </a:solidFill>
                <a:latin typeface="Calibri" pitchFamily="34" charset="0"/>
                <a:ea typeface="Calibri" pitchFamily="34" charset="-122"/>
                <a:cs typeface="Calibri" pitchFamily="34" charset="-120"/>
              </a:rPr>
              <a:t>Interior &amp; south most affected</a:t>
            </a:r>
            <a:endParaRPr lang="en-US" sz="850" dirty="0"/>
          </a:p>
        </p:txBody>
      </p:sp>
      <p:sp>
        <p:nvSpPr>
          <p:cNvPr id="28" name="Text 25"/>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B71C1C"/>
          </a:solidFill>
          <a:ln w="12700">
            <a:solidFill>
              <a:srgbClr val="B71C1C"/>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Land Cover Transitions &amp; Hotspots</a:t>
            </a:r>
            <a:endParaRPr lang="en-US" sz="2200" dirty="0"/>
          </a:p>
        </p:txBody>
      </p:sp>
      <p:pic>
        <p:nvPicPr>
          <p:cNvPr id="6" name="Image 0" descr="preencoded.png"/>
          <p:cNvPicPr>
            <a:picLocks noChangeAspect="1"/>
          </p:cNvPicPr>
          <p:nvPr/>
        </p:nvPicPr>
        <p:blipFill>
          <a:blip r:embed="rId3"/>
          <a:srcRect/>
          <a:stretch/>
        </p:blipFill>
        <p:spPr>
          <a:xfrm>
            <a:off x="347472" y="749808"/>
            <a:ext cx="4206240" cy="3154680"/>
          </a:xfrm>
          <a:prstGeom prst="rect">
            <a:avLst/>
          </a:prstGeom>
        </p:spPr>
      </p:pic>
      <p:sp>
        <p:nvSpPr>
          <p:cNvPr id="7" name="Text 4"/>
          <p:cNvSpPr/>
          <p:nvPr/>
        </p:nvSpPr>
        <p:spPr>
          <a:xfrm>
            <a:off x="347472" y="3913632"/>
            <a:ext cx="4206240" cy="237744"/>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12 – Normalised transition matrix: % of 2016 pixels moved to each 2025 class</a:t>
            </a:r>
            <a:endParaRPr lang="en-US" sz="800" dirty="0"/>
          </a:p>
        </p:txBody>
      </p:sp>
      <p:pic>
        <p:nvPicPr>
          <p:cNvPr id="8" name="Image 1" descr="preencoded.png"/>
          <p:cNvPicPr>
            <a:picLocks noChangeAspect="1"/>
          </p:cNvPicPr>
          <p:nvPr/>
        </p:nvPicPr>
        <p:blipFill>
          <a:blip r:embed="rId4"/>
          <a:srcRect/>
          <a:stretch/>
        </p:blipFill>
        <p:spPr>
          <a:xfrm>
            <a:off x="4709160" y="749808"/>
            <a:ext cx="4206240" cy="2194560"/>
          </a:xfrm>
          <a:prstGeom prst="rect">
            <a:avLst/>
          </a:prstGeom>
        </p:spPr>
      </p:pic>
      <p:sp>
        <p:nvSpPr>
          <p:cNvPr id="9" name="Text 5"/>
          <p:cNvSpPr/>
          <p:nvPr/>
        </p:nvSpPr>
        <p:spPr>
          <a:xfrm>
            <a:off x="4709160" y="2962656"/>
            <a:ext cx="4206240" cy="201168"/>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11 – Annualised deforestation vs regrowth rates (ha/year) by time period</a:t>
            </a:r>
            <a:endParaRPr lang="en-US" sz="800" dirty="0"/>
          </a:p>
        </p:txBody>
      </p:sp>
      <p:sp>
        <p:nvSpPr>
          <p:cNvPr id="10" name="Shape 6"/>
          <p:cNvSpPr/>
          <p:nvPr/>
        </p:nvSpPr>
        <p:spPr>
          <a:xfrm>
            <a:off x="4709160" y="3255264"/>
            <a:ext cx="4206240" cy="1755648"/>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1" name="Text 7"/>
          <p:cNvSpPr/>
          <p:nvPr/>
        </p:nvSpPr>
        <p:spPr>
          <a:xfrm>
            <a:off x="4846320" y="3346704"/>
            <a:ext cx="3931920" cy="237744"/>
          </a:xfrm>
          <a:prstGeom prst="rect">
            <a:avLst/>
          </a:prstGeom>
          <a:noFill/>
          <a:ln/>
        </p:spPr>
        <p:txBody>
          <a:bodyPr wrap="square" lIns="0" tIns="0" rIns="0" bIns="0" rtlCol="0" anchor="ctr"/>
          <a:lstStyle/>
          <a:p>
            <a:pPr marL="0" indent="0">
              <a:buNone/>
            </a:pPr>
            <a:r>
              <a:rPr lang="en-US" sz="1100" b="1" dirty="0">
                <a:solidFill>
                  <a:srgbClr val="B71C1C"/>
                </a:solidFill>
                <a:latin typeface="Calibri" pitchFamily="34" charset="0"/>
                <a:ea typeface="Calibri" pitchFamily="34" charset="-122"/>
                <a:cs typeface="Calibri" pitchFamily="34" charset="-120"/>
              </a:rPr>
              <a:t>Key Observations</a:t>
            </a:r>
            <a:endParaRPr lang="en-US" sz="1100" dirty="0"/>
          </a:p>
        </p:txBody>
      </p:sp>
      <p:sp>
        <p:nvSpPr>
          <p:cNvPr id="12" name="Text 8"/>
          <p:cNvSpPr/>
          <p:nvPr/>
        </p:nvSpPr>
        <p:spPr>
          <a:xfrm>
            <a:off x="4846320" y="3657600"/>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A large share of 2016 vegetation pixels became Water/Bare Soil by 2025</a:t>
            </a:r>
            <a:endParaRPr lang="en-US" sz="950" dirty="0"/>
          </a:p>
        </p:txBody>
      </p:sp>
      <p:sp>
        <p:nvSpPr>
          <p:cNvPr id="13" name="Text 9"/>
          <p:cNvSpPr/>
          <p:nvPr/>
        </p:nvSpPr>
        <p:spPr>
          <a:xfrm>
            <a:off x="4846320" y="3950208"/>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2022–2023 saw the sharpest deforestation spike across all periods</a:t>
            </a:r>
            <a:endParaRPr lang="en-US" sz="950" dirty="0"/>
          </a:p>
        </p:txBody>
      </p:sp>
      <p:sp>
        <p:nvSpPr>
          <p:cNvPr id="14" name="Text 10"/>
          <p:cNvSpPr/>
          <p:nvPr/>
        </p:nvSpPr>
        <p:spPr>
          <a:xfrm>
            <a:off x="4846320" y="4242816"/>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Partial regrowth visible in 2024/03 to 2025/02  +11,271 ha</a:t>
            </a:r>
            <a:endParaRPr lang="en-US" sz="950" dirty="0"/>
          </a:p>
        </p:txBody>
      </p:sp>
      <p:sp>
        <p:nvSpPr>
          <p:cNvPr id="15" name="Text 11"/>
          <p:cNvSpPr/>
          <p:nvPr/>
        </p:nvSpPr>
        <p:spPr>
          <a:xfrm>
            <a:off x="4846320" y="4535424"/>
            <a:ext cx="3931920" cy="274320"/>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  Interior and southern zones are persistent loss hotspots</a:t>
            </a:r>
            <a:endParaRPr lang="en-US" sz="950" dirty="0"/>
          </a:p>
        </p:txBody>
      </p:sp>
      <p:sp>
        <p:nvSpPr>
          <p:cNvPr id="16" name="Shape 12"/>
          <p:cNvSpPr/>
          <p:nvPr/>
        </p:nvSpPr>
        <p:spPr>
          <a:xfrm>
            <a:off x="347472" y="4224528"/>
            <a:ext cx="4206240" cy="777240"/>
          </a:xfrm>
          <a:prstGeom prst="rect">
            <a:avLst/>
          </a:prstGeom>
          <a:solidFill>
            <a:srgbClr val="FFF3E0"/>
          </a:solidFill>
          <a:ln w="12700">
            <a:solidFill>
              <a:srgbClr val="FFCC80"/>
            </a:solidFill>
            <a:prstDash val="solid"/>
          </a:ln>
        </p:spPr>
        <p:txBody>
          <a:bodyPr/>
          <a:lstStyle/>
          <a:p>
            <a:endParaRPr lang="en-US"/>
          </a:p>
        </p:txBody>
      </p:sp>
      <p:sp>
        <p:nvSpPr>
          <p:cNvPr id="17" name="Text 13"/>
          <p:cNvSpPr/>
          <p:nvPr/>
        </p:nvSpPr>
        <p:spPr>
          <a:xfrm>
            <a:off x="502920" y="4279392"/>
            <a:ext cx="3913632" cy="658368"/>
          </a:xfrm>
          <a:prstGeom prst="rect">
            <a:avLst/>
          </a:prstGeom>
          <a:noFill/>
          <a:ln/>
        </p:spPr>
        <p:txBody>
          <a:bodyPr wrap="square" lIns="0" tIns="0" rIns="0" bIns="0" rtlCol="0" anchor="ctr"/>
          <a:lstStyle/>
          <a:p>
            <a:pPr marL="0" indent="0">
              <a:buNone/>
            </a:pPr>
            <a:r>
              <a:rPr lang="en-US" sz="850" dirty="0">
                <a:solidFill>
                  <a:srgbClr val="5D4037"/>
                </a:solidFill>
                <a:latin typeface="Calibri" pitchFamily="34" charset="0"/>
                <a:ea typeface="Calibri" pitchFamily="34" charset="-122"/>
                <a:cs typeface="Calibri" pitchFamily="34" charset="-120"/>
              </a:rPr>
              <a:t>Transition Matrix Insight: Of the 40,334 pixels vegetated in 2016, 53,134 pixels (from the Vegetation row) shifted to Water by 2025. This partly reflects lagoon boundary fluctuation but also indicates genuine vegetation-to-water conversion along the lagoon edge.</a:t>
            </a:r>
            <a:endParaRPr lang="en-US" sz="850" dirty="0"/>
          </a:p>
        </p:txBody>
      </p:sp>
      <p:sp>
        <p:nvSpPr>
          <p:cNvPr id="18" name="Text 14"/>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D4A017"/>
          </a:solidFill>
          <a:ln w="12700">
            <a:solidFill>
              <a:srgbClr val="D4A017"/>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381000" y="0"/>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Forecasting Results</a:t>
            </a:r>
            <a:endParaRPr lang="en-US" sz="2200" dirty="0"/>
          </a:p>
        </p:txBody>
      </p:sp>
      <p:pic>
        <p:nvPicPr>
          <p:cNvPr id="6" name="Image 0" descr="preencoded.png"/>
          <p:cNvPicPr>
            <a:picLocks noChangeAspect="1"/>
          </p:cNvPicPr>
          <p:nvPr/>
        </p:nvPicPr>
        <p:blipFill>
          <a:blip r:embed="rId3"/>
          <a:srcRect/>
          <a:stretch/>
        </p:blipFill>
        <p:spPr>
          <a:xfrm>
            <a:off x="347472" y="515112"/>
            <a:ext cx="6217920" cy="4572000"/>
          </a:xfrm>
          <a:prstGeom prst="rect">
            <a:avLst/>
          </a:prstGeom>
        </p:spPr>
      </p:pic>
      <p:sp>
        <p:nvSpPr>
          <p:cNvPr id="7" name="Text 4"/>
          <p:cNvSpPr/>
          <p:nvPr/>
        </p:nvSpPr>
        <p:spPr>
          <a:xfrm>
            <a:off x="370332" y="5173980"/>
            <a:ext cx="6217920" cy="164592"/>
          </a:xfrm>
          <a:prstGeom prst="rect">
            <a:avLst/>
          </a:prstGeom>
          <a:noFill/>
          <a:ln/>
        </p:spPr>
        <p:txBody>
          <a:bodyPr wrap="square" rtlCol="0" anchor="ctr"/>
          <a:lstStyle/>
          <a:p>
            <a:pPr marL="0" indent="0" algn="ctr">
              <a:buNone/>
            </a:pPr>
            <a:r>
              <a:rPr lang="en-US" sz="750" i="1" dirty="0">
                <a:solidFill>
                  <a:srgbClr val="90A4AE"/>
                </a:solidFill>
                <a:latin typeface="Calibri" pitchFamily="34" charset="0"/>
                <a:ea typeface="Calibri" pitchFamily="34" charset="-122"/>
                <a:cs typeface="Calibri" pitchFamily="34" charset="-120"/>
              </a:rPr>
              <a:t>Figure 14 – NDVI forecast to 2030 (top), dense veg %, land cover area, and deforestation trends</a:t>
            </a:r>
            <a:endParaRPr lang="en-US" sz="750" dirty="0"/>
          </a:p>
        </p:txBody>
      </p:sp>
      <p:sp>
        <p:nvSpPr>
          <p:cNvPr id="8" name="Shape 5"/>
          <p:cNvSpPr/>
          <p:nvPr/>
        </p:nvSpPr>
        <p:spPr>
          <a:xfrm>
            <a:off x="6748272" y="749808"/>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9" name="Shape 6"/>
          <p:cNvSpPr/>
          <p:nvPr/>
        </p:nvSpPr>
        <p:spPr>
          <a:xfrm>
            <a:off x="6748272" y="749808"/>
            <a:ext cx="73152" cy="1051560"/>
          </a:xfrm>
          <a:prstGeom prst="rect">
            <a:avLst/>
          </a:prstGeom>
          <a:solidFill>
            <a:srgbClr val="0277BD"/>
          </a:solidFill>
          <a:ln w="12700">
            <a:solidFill>
              <a:srgbClr val="0277BD"/>
            </a:solidFill>
            <a:prstDash val="solid"/>
          </a:ln>
        </p:spPr>
        <p:txBody>
          <a:bodyPr/>
          <a:lstStyle/>
          <a:p>
            <a:endParaRPr lang="en-US"/>
          </a:p>
        </p:txBody>
      </p:sp>
      <p:sp>
        <p:nvSpPr>
          <p:cNvPr id="10" name="Text 7"/>
          <p:cNvSpPr/>
          <p:nvPr/>
        </p:nvSpPr>
        <p:spPr>
          <a:xfrm>
            <a:off x="6903720" y="841248"/>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Linear Regression</a:t>
            </a:r>
            <a:endParaRPr lang="en-US" sz="1000" dirty="0"/>
          </a:p>
        </p:txBody>
      </p:sp>
      <p:sp>
        <p:nvSpPr>
          <p:cNvPr id="11" name="Text 8"/>
          <p:cNvSpPr/>
          <p:nvPr/>
        </p:nvSpPr>
        <p:spPr>
          <a:xfrm>
            <a:off x="6903720" y="1097280"/>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Captures the overall downward trend. Long-term slope is negative, confirming vegetation decline.</a:t>
            </a:r>
            <a:endParaRPr lang="en-US" sz="850" dirty="0"/>
          </a:p>
        </p:txBody>
      </p:sp>
      <p:sp>
        <p:nvSpPr>
          <p:cNvPr id="12" name="Shape 9"/>
          <p:cNvSpPr/>
          <p:nvPr/>
        </p:nvSpPr>
        <p:spPr>
          <a:xfrm>
            <a:off x="6748272" y="1901952"/>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Shape 10"/>
          <p:cNvSpPr/>
          <p:nvPr/>
        </p:nvSpPr>
        <p:spPr>
          <a:xfrm>
            <a:off x="6748272" y="1901952"/>
            <a:ext cx="73152" cy="1051560"/>
          </a:xfrm>
          <a:prstGeom prst="rect">
            <a:avLst/>
          </a:prstGeom>
          <a:solidFill>
            <a:srgbClr val="6A1599"/>
          </a:solidFill>
          <a:ln w="12700">
            <a:solidFill>
              <a:srgbClr val="6A1599"/>
            </a:solidFill>
            <a:prstDash val="solid"/>
          </a:ln>
        </p:spPr>
        <p:txBody>
          <a:bodyPr/>
          <a:lstStyle/>
          <a:p>
            <a:endParaRPr lang="en-US"/>
          </a:p>
        </p:txBody>
      </p:sp>
      <p:sp>
        <p:nvSpPr>
          <p:cNvPr id="14" name="Text 11"/>
          <p:cNvSpPr/>
          <p:nvPr/>
        </p:nvSpPr>
        <p:spPr>
          <a:xfrm>
            <a:off x="6903720" y="1993392"/>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Polynomial Regression</a:t>
            </a:r>
            <a:endParaRPr lang="en-US" sz="1000" dirty="0"/>
          </a:p>
        </p:txBody>
      </p:sp>
      <p:sp>
        <p:nvSpPr>
          <p:cNvPr id="15" name="Text 12"/>
          <p:cNvSpPr/>
          <p:nvPr/>
        </p:nvSpPr>
        <p:spPr>
          <a:xfrm>
            <a:off x="6903720" y="2249424"/>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Degree-2 fit. Shows acceleration of loss in 2022–2023 and potential levelling after 2024.</a:t>
            </a:r>
            <a:endParaRPr lang="en-US" sz="850" dirty="0"/>
          </a:p>
        </p:txBody>
      </p:sp>
      <p:sp>
        <p:nvSpPr>
          <p:cNvPr id="16" name="Shape 13"/>
          <p:cNvSpPr/>
          <p:nvPr/>
        </p:nvSpPr>
        <p:spPr>
          <a:xfrm>
            <a:off x="6748272" y="3054096"/>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7" name="Shape 14"/>
          <p:cNvSpPr/>
          <p:nvPr/>
        </p:nvSpPr>
        <p:spPr>
          <a:xfrm>
            <a:off x="6748272" y="3054096"/>
            <a:ext cx="73152" cy="1051560"/>
          </a:xfrm>
          <a:prstGeom prst="rect">
            <a:avLst/>
          </a:prstGeom>
          <a:solidFill>
            <a:srgbClr val="C62828"/>
          </a:solidFill>
          <a:ln w="12700">
            <a:solidFill>
              <a:srgbClr val="C62828"/>
            </a:solidFill>
            <a:prstDash val="solid"/>
          </a:ln>
        </p:spPr>
        <p:txBody>
          <a:bodyPr/>
          <a:lstStyle/>
          <a:p>
            <a:endParaRPr lang="en-US"/>
          </a:p>
        </p:txBody>
      </p:sp>
      <p:sp>
        <p:nvSpPr>
          <p:cNvPr id="18" name="Text 15"/>
          <p:cNvSpPr/>
          <p:nvPr/>
        </p:nvSpPr>
        <p:spPr>
          <a:xfrm>
            <a:off x="6903720" y="3145536"/>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Gradient Boosting</a:t>
            </a:r>
            <a:endParaRPr lang="en-US" sz="1000" dirty="0"/>
          </a:p>
        </p:txBody>
      </p:sp>
      <p:sp>
        <p:nvSpPr>
          <p:cNvPr id="19" name="Text 16"/>
          <p:cNvSpPr/>
          <p:nvPr/>
        </p:nvSpPr>
        <p:spPr>
          <a:xfrm>
            <a:off x="6903720" y="3401568"/>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Non-parametric approach. Fits the complex, episodic historical patterns more closely.</a:t>
            </a:r>
            <a:endParaRPr lang="en-US" sz="850" dirty="0"/>
          </a:p>
        </p:txBody>
      </p:sp>
      <p:sp>
        <p:nvSpPr>
          <p:cNvPr id="20" name="Shape 17"/>
          <p:cNvSpPr/>
          <p:nvPr/>
        </p:nvSpPr>
        <p:spPr>
          <a:xfrm>
            <a:off x="6748272" y="4206240"/>
            <a:ext cx="2212848" cy="105156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21" name="Shape 18"/>
          <p:cNvSpPr/>
          <p:nvPr/>
        </p:nvSpPr>
        <p:spPr>
          <a:xfrm>
            <a:off x="6748272" y="4206240"/>
            <a:ext cx="73152" cy="1051560"/>
          </a:xfrm>
          <a:prstGeom prst="rect">
            <a:avLst/>
          </a:prstGeom>
          <a:solidFill>
            <a:srgbClr val="D4A017"/>
          </a:solidFill>
          <a:ln w="12700">
            <a:solidFill>
              <a:srgbClr val="D4A017"/>
            </a:solidFill>
            <a:prstDash val="solid"/>
          </a:ln>
        </p:spPr>
        <p:txBody>
          <a:bodyPr/>
          <a:lstStyle/>
          <a:p>
            <a:endParaRPr lang="en-US"/>
          </a:p>
        </p:txBody>
      </p:sp>
      <p:sp>
        <p:nvSpPr>
          <p:cNvPr id="22" name="Text 19"/>
          <p:cNvSpPr/>
          <p:nvPr/>
        </p:nvSpPr>
        <p:spPr>
          <a:xfrm>
            <a:off x="6903720" y="4297680"/>
            <a:ext cx="1965960" cy="237744"/>
          </a:xfrm>
          <a:prstGeom prst="rect">
            <a:avLst/>
          </a:prstGeom>
          <a:noFill/>
          <a:ln/>
        </p:spPr>
        <p:txBody>
          <a:bodyPr wrap="square" lIns="0" tIns="0" rIns="0" bIns="0" rtlCol="0" anchor="ctr"/>
          <a:lstStyle/>
          <a:p>
            <a:pPr marL="0" indent="0">
              <a:buNone/>
            </a:pPr>
            <a:r>
              <a:rPr lang="en-US" sz="1000" b="1" dirty="0">
                <a:solidFill>
                  <a:srgbClr val="1C2B22"/>
                </a:solidFill>
                <a:latin typeface="Calibri" pitchFamily="34" charset="0"/>
                <a:ea typeface="Calibri" pitchFamily="34" charset="-122"/>
                <a:cs typeface="Calibri" pitchFamily="34" charset="-120"/>
              </a:rPr>
              <a:t>Ensemble Forecast</a:t>
            </a:r>
            <a:endParaRPr lang="en-US" sz="1000" dirty="0"/>
          </a:p>
        </p:txBody>
      </p:sp>
      <p:sp>
        <p:nvSpPr>
          <p:cNvPr id="23" name="Text 20"/>
          <p:cNvSpPr/>
          <p:nvPr/>
        </p:nvSpPr>
        <p:spPr>
          <a:xfrm>
            <a:off x="6903720" y="4553712"/>
            <a:ext cx="1965960" cy="594360"/>
          </a:xfrm>
          <a:prstGeom prst="rect">
            <a:avLst/>
          </a:prstGeom>
          <a:noFill/>
          <a:ln/>
        </p:spPr>
        <p:txBody>
          <a:bodyPr wrap="square" lIns="0" tIns="0" rIns="0" bIns="0" rtlCol="0" anchor="ctr"/>
          <a:lstStyle/>
          <a:p>
            <a:pPr marL="0" indent="0">
              <a:buNone/>
            </a:pPr>
            <a:r>
              <a:rPr lang="en-US" sz="850" dirty="0">
                <a:solidFill>
                  <a:srgbClr val="4A5568"/>
                </a:solidFill>
                <a:latin typeface="Calibri" pitchFamily="34" charset="0"/>
                <a:ea typeface="Calibri" pitchFamily="34" charset="-122"/>
                <a:cs typeface="Calibri" pitchFamily="34" charset="-120"/>
              </a:rPr>
              <a:t>Average of all three models. Red line in top panel. Widening CI shows forecast uncertainty grows toward 2030.</a:t>
            </a:r>
            <a:endParaRPr lang="en-US" sz="850" dirty="0"/>
          </a:p>
        </p:txBody>
      </p:sp>
      <p:sp>
        <p:nvSpPr>
          <p:cNvPr id="24" name="Shape 21"/>
          <p:cNvSpPr/>
          <p:nvPr/>
        </p:nvSpPr>
        <p:spPr>
          <a:xfrm>
            <a:off x="6748272" y="5120640"/>
            <a:ext cx="2212848" cy="384048"/>
          </a:xfrm>
          <a:prstGeom prst="rect">
            <a:avLst/>
          </a:prstGeom>
          <a:solidFill>
            <a:srgbClr val="FFF9C4"/>
          </a:solidFill>
          <a:ln w="12700">
            <a:solidFill>
              <a:srgbClr val="F9A825"/>
            </a:solidFill>
            <a:prstDash val="solid"/>
          </a:ln>
        </p:spPr>
        <p:txBody>
          <a:bodyPr/>
          <a:lstStyle/>
          <a:p>
            <a:endParaRPr lang="en-US"/>
          </a:p>
        </p:txBody>
      </p:sp>
      <p:sp>
        <p:nvSpPr>
          <p:cNvPr id="25" name="Text 22"/>
          <p:cNvSpPr/>
          <p:nvPr/>
        </p:nvSpPr>
        <p:spPr>
          <a:xfrm>
            <a:off x="6839712" y="5148072"/>
            <a:ext cx="2048256" cy="347472"/>
          </a:xfrm>
          <a:prstGeom prst="rect">
            <a:avLst/>
          </a:prstGeom>
          <a:noFill/>
          <a:ln/>
        </p:spPr>
        <p:txBody>
          <a:bodyPr wrap="square" lIns="0" tIns="0" rIns="0" bIns="0" rtlCol="0" anchor="ctr"/>
          <a:lstStyle/>
          <a:p>
            <a:pPr marL="0" indent="0">
              <a:buNone/>
            </a:pPr>
            <a:r>
              <a:rPr lang="en-US" sz="750" dirty="0">
                <a:solidFill>
                  <a:srgbClr val="5D4037"/>
                </a:solidFill>
                <a:latin typeface="Calibri" pitchFamily="34" charset="0"/>
                <a:ea typeface="Calibri" pitchFamily="34" charset="-122"/>
                <a:cs typeface="Calibri" pitchFamily="34" charset="-120"/>
              </a:rPr>
              <a:t>⚠  Models are trend extrapolations — not scenario-based. They don't include rainfall or policy factors.</a:t>
            </a:r>
            <a:endParaRPr lang="en-US" sz="750" dirty="0"/>
          </a:p>
        </p:txBody>
      </p:sp>
      <p:sp>
        <p:nvSpPr>
          <p:cNvPr id="26" name="Text 23"/>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2D6A4F"/>
          </a:solidFill>
          <a:ln w="12700">
            <a:solidFill>
              <a:srgbClr val="2D6A4F"/>
            </a:solidFill>
            <a:prstDash val="solid"/>
          </a:ln>
        </p:spPr>
        <p:txBody>
          <a:bodyPr/>
          <a:lstStyle/>
          <a:p>
            <a:endParaRPr lang="en-US"/>
          </a:p>
        </p:txBody>
      </p:sp>
      <p:sp>
        <p:nvSpPr>
          <p:cNvPr id="4" name="Text 2"/>
          <p:cNvSpPr/>
          <p:nvPr/>
        </p:nvSpPr>
        <p:spPr>
          <a:xfrm>
            <a:off x="411480" y="128016"/>
            <a:ext cx="109728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MEMBER 4</a:t>
            </a:r>
            <a:endParaRPr lang="en-US" sz="900" dirty="0"/>
          </a:p>
        </p:txBody>
      </p:sp>
      <p:sp>
        <p:nvSpPr>
          <p:cNvPr id="5" name="Text 3"/>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Results &amp; Discussion</a:t>
            </a:r>
            <a:endParaRPr lang="en-US" sz="2200" dirty="0"/>
          </a:p>
        </p:txBody>
      </p:sp>
      <p:sp>
        <p:nvSpPr>
          <p:cNvPr id="6" name="Shape 4"/>
          <p:cNvSpPr/>
          <p:nvPr/>
        </p:nvSpPr>
        <p:spPr>
          <a:xfrm>
            <a:off x="347472" y="77724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7" name="Text 5"/>
          <p:cNvSpPr/>
          <p:nvPr/>
        </p:nvSpPr>
        <p:spPr>
          <a:xfrm>
            <a:off x="502920" y="86868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Vegetation Decline</a:t>
            </a:r>
            <a:endParaRPr lang="en-US" sz="1100" dirty="0"/>
          </a:p>
        </p:txBody>
      </p:sp>
      <p:sp>
        <p:nvSpPr>
          <p:cNvPr id="8" name="Text 6"/>
          <p:cNvSpPr/>
          <p:nvPr/>
        </p:nvSpPr>
        <p:spPr>
          <a:xfrm>
            <a:off x="502920" y="112471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Overall NDVI trend is negative 2016–2025. Most pronounced loss in interior and southern zones.</a:t>
            </a:r>
            <a:endParaRPr lang="en-US" sz="950" dirty="0"/>
          </a:p>
        </p:txBody>
      </p:sp>
      <p:sp>
        <p:nvSpPr>
          <p:cNvPr id="9" name="Shape 7"/>
          <p:cNvSpPr/>
          <p:nvPr/>
        </p:nvSpPr>
        <p:spPr>
          <a:xfrm>
            <a:off x="347472" y="182880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0" name="Text 8"/>
          <p:cNvSpPr/>
          <p:nvPr/>
        </p:nvSpPr>
        <p:spPr>
          <a:xfrm>
            <a:off x="502920" y="192024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2022–2023 Spike</a:t>
            </a:r>
            <a:endParaRPr lang="en-US" sz="1100" dirty="0"/>
          </a:p>
        </p:txBody>
      </p:sp>
      <p:sp>
        <p:nvSpPr>
          <p:cNvPr id="11" name="Text 9"/>
          <p:cNvSpPr/>
          <p:nvPr/>
        </p:nvSpPr>
        <p:spPr>
          <a:xfrm>
            <a:off x="502920" y="217627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Largest vegetation loss on record: ~82.6% of initial area. Likely combined effect of land clearance, drought stress, and cloud effects.</a:t>
            </a:r>
            <a:endParaRPr lang="en-US" sz="950" dirty="0"/>
          </a:p>
        </p:txBody>
      </p:sp>
      <p:sp>
        <p:nvSpPr>
          <p:cNvPr id="12" name="Shape 10"/>
          <p:cNvSpPr/>
          <p:nvPr/>
        </p:nvSpPr>
        <p:spPr>
          <a:xfrm>
            <a:off x="347472" y="288036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3" name="Text 11"/>
          <p:cNvSpPr/>
          <p:nvPr/>
        </p:nvSpPr>
        <p:spPr>
          <a:xfrm>
            <a:off x="502920" y="297180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Partial Recovery (2025)</a:t>
            </a:r>
            <a:endParaRPr lang="en-US" sz="1100" dirty="0"/>
          </a:p>
        </p:txBody>
      </p:sp>
      <p:sp>
        <p:nvSpPr>
          <p:cNvPr id="14" name="Text 12"/>
          <p:cNvSpPr/>
          <p:nvPr/>
        </p:nvSpPr>
        <p:spPr>
          <a:xfrm>
            <a:off x="502920" y="322783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Encouraging regrowth of ~11,271 ha between late 2024 and early 2025. May reflect natural regeneration.</a:t>
            </a:r>
            <a:endParaRPr lang="en-US" sz="950" dirty="0"/>
          </a:p>
        </p:txBody>
      </p:sp>
      <p:sp>
        <p:nvSpPr>
          <p:cNvPr id="15" name="Shape 13"/>
          <p:cNvSpPr/>
          <p:nvPr/>
        </p:nvSpPr>
        <p:spPr>
          <a:xfrm>
            <a:off x="347472" y="3931920"/>
            <a:ext cx="4206240" cy="960120"/>
          </a:xfrm>
          <a:prstGeom prst="rect">
            <a:avLst/>
          </a:prstGeom>
          <a:solidFill>
            <a:srgbClr val="FFFFFF"/>
          </a:solidFill>
          <a:ln w="12700">
            <a:solidFill>
              <a:srgbClr val="E8EFF0"/>
            </a:solidFill>
            <a:prstDash val="solid"/>
          </a:ln>
          <a:effectLst>
            <a:outerShdw blurRad="38100" dist="12700" dir="8100000" algn="bl" rotWithShape="0">
              <a:srgbClr val="000000">
                <a:alpha val="7000"/>
              </a:srgbClr>
            </a:outerShdw>
          </a:effectLst>
        </p:spPr>
        <p:txBody>
          <a:bodyPr/>
          <a:lstStyle/>
          <a:p>
            <a:endParaRPr lang="en-US"/>
          </a:p>
        </p:txBody>
      </p:sp>
      <p:sp>
        <p:nvSpPr>
          <p:cNvPr id="16" name="Text 14"/>
          <p:cNvSpPr/>
          <p:nvPr/>
        </p:nvSpPr>
        <p:spPr>
          <a:xfrm>
            <a:off x="502920" y="4023360"/>
            <a:ext cx="3913632" cy="237744"/>
          </a:xfrm>
          <a:prstGeom prst="rect">
            <a:avLst/>
          </a:prstGeom>
          <a:noFill/>
          <a:ln/>
        </p:spPr>
        <p:txBody>
          <a:bodyPr wrap="square" lIns="0" tIns="0" rIns="0" bIns="0" rtlCol="0" anchor="ctr"/>
          <a:lstStyle/>
          <a:p>
            <a:pPr marL="0" indent="0">
              <a:buNone/>
            </a:pPr>
            <a:r>
              <a:rPr lang="en-US" sz="1100" b="1" dirty="0">
                <a:solidFill>
                  <a:srgbClr val="1A4731"/>
                </a:solidFill>
                <a:latin typeface="Calibri" pitchFamily="34" charset="0"/>
                <a:ea typeface="Calibri" pitchFamily="34" charset="-122"/>
                <a:cs typeface="Calibri" pitchFamily="34" charset="-120"/>
              </a:rPr>
              <a:t>Classifier Performance</a:t>
            </a:r>
            <a:endParaRPr lang="en-US" sz="1100" dirty="0"/>
          </a:p>
        </p:txBody>
      </p:sp>
      <p:sp>
        <p:nvSpPr>
          <p:cNvPr id="17" name="Text 15"/>
          <p:cNvSpPr/>
          <p:nvPr/>
        </p:nvSpPr>
        <p:spPr>
          <a:xfrm>
            <a:off x="502920" y="4279392"/>
            <a:ext cx="3913632" cy="530352"/>
          </a:xfrm>
          <a:prstGeom prst="rect">
            <a:avLst/>
          </a:prstGeom>
          <a:noFill/>
          <a:ln/>
        </p:spPr>
        <p:txBody>
          <a:bodyPr wrap="square" lIns="0" tIns="0" rIns="0" bIns="0" rtlCol="0" anchor="ctr"/>
          <a:lstStyle/>
          <a:p>
            <a:pPr marL="0" indent="0">
              <a:buNone/>
            </a:pPr>
            <a:r>
              <a:rPr lang="en-US" sz="950" dirty="0">
                <a:solidFill>
                  <a:srgbClr val="4A5568"/>
                </a:solidFill>
                <a:latin typeface="Calibri" pitchFamily="34" charset="0"/>
                <a:ea typeface="Calibri" pitchFamily="34" charset="-122"/>
                <a:cs typeface="Calibri" pitchFamily="34" charset="-120"/>
              </a:rPr>
              <a:t>11-feature Random Forest outperformed bands-only model in cross-scene validation. Spectral indices add genuine value.</a:t>
            </a:r>
            <a:endParaRPr lang="en-US" sz="950" dirty="0"/>
          </a:p>
        </p:txBody>
      </p:sp>
      <p:pic>
        <p:nvPicPr>
          <p:cNvPr id="18" name="Image 0" descr="preencoded.png"/>
          <p:cNvPicPr>
            <a:picLocks noChangeAspect="1"/>
          </p:cNvPicPr>
          <p:nvPr/>
        </p:nvPicPr>
        <p:blipFill>
          <a:blip r:embed="rId3"/>
          <a:srcRect/>
          <a:stretch/>
        </p:blipFill>
        <p:spPr>
          <a:xfrm>
            <a:off x="4754880" y="292608"/>
            <a:ext cx="4206240" cy="2194560"/>
          </a:xfrm>
          <a:prstGeom prst="rect">
            <a:avLst/>
          </a:prstGeom>
        </p:spPr>
      </p:pic>
      <p:sp>
        <p:nvSpPr>
          <p:cNvPr id="19" name="Text 16"/>
          <p:cNvSpPr/>
          <p:nvPr/>
        </p:nvSpPr>
        <p:spPr>
          <a:xfrm>
            <a:off x="4721134" y="2615184"/>
            <a:ext cx="4206240" cy="182880"/>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Figure 8 – Land cover area composition (ha) per scene</a:t>
            </a:r>
            <a:endParaRPr lang="en-US" sz="800" dirty="0"/>
          </a:p>
        </p:txBody>
      </p:sp>
      <p:pic>
        <p:nvPicPr>
          <p:cNvPr id="20" name="Image 1" descr="preencoded.png"/>
          <p:cNvPicPr>
            <a:picLocks noChangeAspect="1"/>
          </p:cNvPicPr>
          <p:nvPr/>
        </p:nvPicPr>
        <p:blipFill>
          <a:blip r:embed="rId4"/>
          <a:srcRect l="24352" t="5588" r="1" b="7011"/>
          <a:stretch>
            <a:fillRect/>
          </a:stretch>
        </p:blipFill>
        <p:spPr>
          <a:xfrm>
            <a:off x="5033219" y="2773244"/>
            <a:ext cx="3582069" cy="2118795"/>
          </a:xfrm>
          <a:prstGeom prst="rect">
            <a:avLst/>
          </a:prstGeom>
        </p:spPr>
      </p:pic>
      <p:sp>
        <p:nvSpPr>
          <p:cNvPr id="21" name="Text 17"/>
          <p:cNvSpPr/>
          <p:nvPr/>
        </p:nvSpPr>
        <p:spPr>
          <a:xfrm>
            <a:off x="4930140" y="4832604"/>
            <a:ext cx="4206240" cy="164592"/>
          </a:xfrm>
          <a:prstGeom prst="rect">
            <a:avLst/>
          </a:prstGeom>
          <a:noFill/>
          <a:ln/>
        </p:spPr>
        <p:txBody>
          <a:bodyPr wrap="square" rtlCol="0" anchor="ctr"/>
          <a:lstStyle/>
          <a:p>
            <a:pPr marL="0" indent="0" algn="ctr">
              <a:buNone/>
            </a:pPr>
            <a:r>
              <a:rPr lang="en-US" sz="800" i="1" dirty="0">
                <a:solidFill>
                  <a:srgbClr val="90A4AE"/>
                </a:solidFill>
                <a:latin typeface="Calibri" pitchFamily="34" charset="0"/>
                <a:ea typeface="Calibri" pitchFamily="34" charset="-122"/>
                <a:cs typeface="Calibri" pitchFamily="34" charset="-120"/>
              </a:rPr>
              <a:t>Sequential vegetation gain vs loss by period</a:t>
            </a:r>
            <a:endParaRPr lang="en-US" sz="800" dirty="0"/>
          </a:p>
        </p:txBody>
      </p:sp>
      <p:sp>
        <p:nvSpPr>
          <p:cNvPr id="22" name="Text 18"/>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8">
            <a:extLst>
              <a:ext uri="{FF2B5EF4-FFF2-40B4-BE49-F238E27FC236}">
                <a16:creationId xmlns:a16="http://schemas.microsoft.com/office/drawing/2014/main" id="{68848E5B-CF7F-F148-C9DA-54F72740D5C8}"/>
              </a:ext>
            </a:extLst>
          </p:cNvPr>
          <p:cNvSpPr/>
          <p:nvPr/>
        </p:nvSpPr>
        <p:spPr>
          <a:xfrm>
            <a:off x="271272" y="830580"/>
            <a:ext cx="4160520" cy="3817620"/>
          </a:xfrm>
          <a:prstGeom prst="rect">
            <a:avLst/>
          </a:prstGeom>
          <a:solidFill>
            <a:srgbClr val="FFF3E0"/>
          </a:solidFill>
          <a:ln w="12700">
            <a:solidFill>
              <a:srgbClr val="FFCC80"/>
            </a:solidFill>
            <a:prstDash val="solid"/>
          </a:ln>
        </p:spPr>
        <p:txBody>
          <a:bodyPr/>
          <a:lstStyle/>
          <a:p>
            <a:endParaRPr lang="en-US" sz="1200" dirty="0"/>
          </a:p>
        </p:txBody>
      </p:sp>
      <p:sp>
        <p:nvSpPr>
          <p:cNvPr id="3" name="Text 19">
            <a:extLst>
              <a:ext uri="{FF2B5EF4-FFF2-40B4-BE49-F238E27FC236}">
                <a16:creationId xmlns:a16="http://schemas.microsoft.com/office/drawing/2014/main" id="{254FCAD3-EC35-0198-6B8F-2A2789C1983F}"/>
              </a:ext>
            </a:extLst>
          </p:cNvPr>
          <p:cNvSpPr/>
          <p:nvPr/>
        </p:nvSpPr>
        <p:spPr>
          <a:xfrm>
            <a:off x="426720" y="1441704"/>
            <a:ext cx="3840480" cy="256032"/>
          </a:xfrm>
          <a:prstGeom prst="rect">
            <a:avLst/>
          </a:prstGeom>
          <a:noFill/>
          <a:ln/>
        </p:spPr>
        <p:txBody>
          <a:bodyPr wrap="square" lIns="0" tIns="0" rIns="0" bIns="0" rtlCol="0" anchor="ctr"/>
          <a:lstStyle/>
          <a:p>
            <a:pPr marL="0" indent="0">
              <a:buNone/>
            </a:pPr>
            <a:r>
              <a:rPr lang="en-US" sz="1500" b="1" dirty="0">
                <a:solidFill>
                  <a:srgbClr val="BF360C"/>
                </a:solidFill>
                <a:latin typeface="Calibri" pitchFamily="34" charset="0"/>
                <a:ea typeface="Calibri" pitchFamily="34" charset="-122"/>
                <a:cs typeface="Calibri" pitchFamily="34" charset="-120"/>
              </a:rPr>
              <a:t>Limitations</a:t>
            </a:r>
            <a:endParaRPr lang="en-US" sz="1500" dirty="0"/>
          </a:p>
        </p:txBody>
      </p:sp>
      <p:sp>
        <p:nvSpPr>
          <p:cNvPr id="4" name="Text 20">
            <a:extLst>
              <a:ext uri="{FF2B5EF4-FFF2-40B4-BE49-F238E27FC236}">
                <a16:creationId xmlns:a16="http://schemas.microsoft.com/office/drawing/2014/main" id="{88E06ACF-9F82-7217-8317-2376DD7177A1}"/>
              </a:ext>
            </a:extLst>
          </p:cNvPr>
          <p:cNvSpPr/>
          <p:nvPr/>
        </p:nvSpPr>
        <p:spPr>
          <a:xfrm>
            <a:off x="426720" y="2308860"/>
            <a:ext cx="3840480" cy="256032"/>
          </a:xfrm>
          <a:prstGeom prst="rect">
            <a:avLst/>
          </a:prstGeom>
          <a:noFill/>
          <a:ln/>
        </p:spPr>
        <p:txBody>
          <a:bodyPr wrap="square" lIns="0" tIns="0" rIns="0" bIns="0" rtlCol="0" anchor="ctr"/>
          <a:lstStyle/>
          <a:p>
            <a:pPr marL="0" indent="0">
              <a:buNone/>
            </a:pPr>
            <a:r>
              <a:rPr lang="en-US" sz="1200" dirty="0">
                <a:solidFill>
                  <a:srgbClr val="5D4037"/>
                </a:solidFill>
                <a:latin typeface="Calibri" pitchFamily="34" charset="0"/>
                <a:ea typeface="Calibri" pitchFamily="34" charset="-122"/>
                <a:cs typeface="Calibri" pitchFamily="34" charset="-120"/>
              </a:rPr>
              <a:t>• 60 m resolution misses fine-scale changes</a:t>
            </a:r>
            <a:endParaRPr lang="en-US" sz="1200" dirty="0"/>
          </a:p>
        </p:txBody>
      </p:sp>
      <p:sp>
        <p:nvSpPr>
          <p:cNvPr id="5" name="Text 21">
            <a:extLst>
              <a:ext uri="{FF2B5EF4-FFF2-40B4-BE49-F238E27FC236}">
                <a16:creationId xmlns:a16="http://schemas.microsoft.com/office/drawing/2014/main" id="{9B362FF9-194A-6436-2601-B9F58D3CFED1}"/>
              </a:ext>
            </a:extLst>
          </p:cNvPr>
          <p:cNvSpPr/>
          <p:nvPr/>
        </p:nvSpPr>
        <p:spPr>
          <a:xfrm>
            <a:off x="426720" y="258318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Pseudo-labels = circular validation (no field truth)</a:t>
            </a:r>
            <a:endParaRPr lang="en-US" sz="1200" dirty="0"/>
          </a:p>
        </p:txBody>
      </p:sp>
      <p:sp>
        <p:nvSpPr>
          <p:cNvPr id="6" name="Text 22">
            <a:extLst>
              <a:ext uri="{FF2B5EF4-FFF2-40B4-BE49-F238E27FC236}">
                <a16:creationId xmlns:a16="http://schemas.microsoft.com/office/drawing/2014/main" id="{B3122431-2B5E-2732-C470-B7C55CED7551}"/>
              </a:ext>
            </a:extLst>
          </p:cNvPr>
          <p:cNvSpPr/>
          <p:nvPr/>
        </p:nvSpPr>
        <p:spPr>
          <a:xfrm>
            <a:off x="426720" y="285750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Cloud cover limits valid observations in some years</a:t>
            </a:r>
            <a:endParaRPr lang="en-US" sz="1200" dirty="0"/>
          </a:p>
        </p:txBody>
      </p:sp>
      <p:sp>
        <p:nvSpPr>
          <p:cNvPr id="7" name="Text 23">
            <a:extLst>
              <a:ext uri="{FF2B5EF4-FFF2-40B4-BE49-F238E27FC236}">
                <a16:creationId xmlns:a16="http://schemas.microsoft.com/office/drawing/2014/main" id="{A05B1D07-BD18-AE57-1D6A-2940D18C0061}"/>
              </a:ext>
            </a:extLst>
          </p:cNvPr>
          <p:cNvSpPr/>
          <p:nvPr/>
        </p:nvSpPr>
        <p:spPr>
          <a:xfrm>
            <a:off x="426720" y="3131820"/>
            <a:ext cx="3840480" cy="256032"/>
          </a:xfrm>
          <a:prstGeom prst="rect">
            <a:avLst/>
          </a:prstGeom>
          <a:noFill/>
          <a:ln/>
        </p:spPr>
        <p:txBody>
          <a:bodyPr wrap="square" lIns="0" tIns="0" rIns="0" bIns="0" rtlCol="0" anchor="ctr"/>
          <a:lstStyle/>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endParaRPr lang="en-US" sz="1200" dirty="0">
              <a:solidFill>
                <a:srgbClr val="5D4037"/>
              </a:solidFill>
              <a:latin typeface="Calibri" pitchFamily="34" charset="0"/>
              <a:ea typeface="Calibri" pitchFamily="34" charset="-122"/>
              <a:cs typeface="Calibri" pitchFamily="34" charset="-120"/>
            </a:endParaRPr>
          </a:p>
          <a:p>
            <a:pPr marL="0" indent="0">
              <a:buNone/>
            </a:pPr>
            <a:r>
              <a:rPr lang="en-US" sz="1200" dirty="0">
                <a:solidFill>
                  <a:srgbClr val="5D4037"/>
                </a:solidFill>
                <a:latin typeface="Calibri" pitchFamily="34" charset="0"/>
                <a:ea typeface="Calibri" pitchFamily="34" charset="-122"/>
                <a:cs typeface="Calibri" pitchFamily="34" charset="-120"/>
              </a:rPr>
              <a:t>• Forecasts exclude rainfall &amp; policy variables</a:t>
            </a:r>
            <a:endParaRPr lang="en-US" sz="1200" dirty="0"/>
          </a:p>
        </p:txBody>
      </p:sp>
      <p:sp>
        <p:nvSpPr>
          <p:cNvPr id="26" name="Shape 24"/>
          <p:cNvSpPr/>
          <p:nvPr/>
        </p:nvSpPr>
        <p:spPr>
          <a:xfrm>
            <a:off x="4681728" y="830580"/>
            <a:ext cx="4160520" cy="3817620"/>
          </a:xfrm>
          <a:prstGeom prst="rect">
            <a:avLst/>
          </a:prstGeom>
          <a:solidFill>
            <a:srgbClr val="E8F5E9"/>
          </a:solidFill>
          <a:ln w="12700">
            <a:solidFill>
              <a:srgbClr val="81C784"/>
            </a:solidFill>
            <a:prstDash val="solid"/>
          </a:ln>
        </p:spPr>
        <p:txBody>
          <a:bodyPr/>
          <a:lstStyle/>
          <a:p>
            <a:endParaRPr lang="en-US"/>
          </a:p>
        </p:txBody>
      </p:sp>
      <p:sp>
        <p:nvSpPr>
          <p:cNvPr id="27" name="Text 25"/>
          <p:cNvSpPr/>
          <p:nvPr/>
        </p:nvSpPr>
        <p:spPr>
          <a:xfrm>
            <a:off x="4876800" y="1441704"/>
            <a:ext cx="3840480" cy="256032"/>
          </a:xfrm>
          <a:prstGeom prst="rect">
            <a:avLst/>
          </a:prstGeom>
          <a:noFill/>
          <a:ln/>
        </p:spPr>
        <p:txBody>
          <a:bodyPr wrap="square" lIns="0" tIns="0" rIns="0" bIns="0" rtlCol="0" anchor="ctr"/>
          <a:lstStyle/>
          <a:p>
            <a:pPr marL="0" indent="0">
              <a:buNone/>
            </a:pPr>
            <a:r>
              <a:rPr lang="en-US" sz="1500" b="1" dirty="0">
                <a:solidFill>
                  <a:srgbClr val="1B5E20"/>
                </a:solidFill>
                <a:latin typeface="Calibri" pitchFamily="34" charset="0"/>
                <a:ea typeface="Calibri" pitchFamily="34" charset="-122"/>
                <a:cs typeface="Calibri" pitchFamily="34" charset="-120"/>
              </a:rPr>
              <a:t>Future Work</a:t>
            </a:r>
            <a:endParaRPr lang="en-US" sz="1500" dirty="0"/>
          </a:p>
        </p:txBody>
      </p:sp>
      <p:sp>
        <p:nvSpPr>
          <p:cNvPr id="28" name="Text 26"/>
          <p:cNvSpPr/>
          <p:nvPr/>
        </p:nvSpPr>
        <p:spPr>
          <a:xfrm>
            <a:off x="4828032" y="2377440"/>
            <a:ext cx="3840480" cy="256032"/>
          </a:xfrm>
          <a:prstGeom prst="rect">
            <a:avLst/>
          </a:prstGeom>
          <a:noFill/>
          <a:ln/>
        </p:spPr>
        <p:txBody>
          <a:bodyPr wrap="square" lIns="0" tIns="0" rIns="0" bIns="0" rtlCol="0" anchor="ctr"/>
          <a:lstStyle/>
          <a:p>
            <a:pPr marL="0" indent="0">
              <a:buNone/>
            </a:pPr>
            <a:r>
              <a:rPr lang="en-US" sz="1200" dirty="0">
                <a:solidFill>
                  <a:srgbClr val="2E7D32"/>
                </a:solidFill>
                <a:latin typeface="Calibri" pitchFamily="34" charset="0"/>
                <a:ea typeface="Calibri" pitchFamily="34" charset="-122"/>
                <a:cs typeface="Calibri" pitchFamily="34" charset="-120"/>
              </a:rPr>
              <a:t>• Use Sentinel-2 (10 m) for higher resolution</a:t>
            </a:r>
            <a:endParaRPr lang="en-US" sz="1200" dirty="0"/>
          </a:p>
        </p:txBody>
      </p:sp>
      <p:sp>
        <p:nvSpPr>
          <p:cNvPr id="29" name="Text 27"/>
          <p:cNvSpPr/>
          <p:nvPr/>
        </p:nvSpPr>
        <p:spPr>
          <a:xfrm>
            <a:off x="4828032" y="265176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Collect ground truth for true accuracy validation</a:t>
            </a:r>
            <a:endParaRPr lang="en-US" sz="1200" dirty="0"/>
          </a:p>
        </p:txBody>
      </p:sp>
      <p:sp>
        <p:nvSpPr>
          <p:cNvPr id="30" name="Text 28"/>
          <p:cNvSpPr/>
          <p:nvPr/>
        </p:nvSpPr>
        <p:spPr>
          <a:xfrm>
            <a:off x="4828032" y="292608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Incorporate rainfall &amp; land-use policy into forecasts</a:t>
            </a:r>
            <a:endParaRPr lang="en-US" sz="1200" dirty="0"/>
          </a:p>
        </p:txBody>
      </p:sp>
      <p:sp>
        <p:nvSpPr>
          <p:cNvPr id="31" name="Text 29"/>
          <p:cNvSpPr/>
          <p:nvPr/>
        </p:nvSpPr>
        <p:spPr>
          <a:xfrm>
            <a:off x="4828032" y="3200400"/>
            <a:ext cx="3840480" cy="256032"/>
          </a:xfrm>
          <a:prstGeom prst="rect">
            <a:avLst/>
          </a:prstGeom>
          <a:noFill/>
          <a:ln/>
        </p:spPr>
        <p:txBody>
          <a:bodyPr wrap="square" lIns="0" tIns="0" rIns="0" bIns="0" rtlCol="0" anchor="ctr"/>
          <a:lstStyle/>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endParaRPr lang="en-US" sz="1200" dirty="0">
              <a:solidFill>
                <a:srgbClr val="2E7D32"/>
              </a:solidFill>
              <a:latin typeface="Calibri" pitchFamily="34" charset="0"/>
              <a:ea typeface="Calibri" pitchFamily="34" charset="-122"/>
              <a:cs typeface="Calibri" pitchFamily="34" charset="-120"/>
            </a:endParaRPr>
          </a:p>
          <a:p>
            <a:pPr marL="0" indent="0">
              <a:buNone/>
            </a:pPr>
            <a:r>
              <a:rPr lang="en-US" sz="1200" dirty="0">
                <a:solidFill>
                  <a:srgbClr val="2E7D32"/>
                </a:solidFill>
                <a:latin typeface="Calibri" pitchFamily="34" charset="0"/>
                <a:ea typeface="Calibri" pitchFamily="34" charset="-122"/>
                <a:cs typeface="Calibri" pitchFamily="34" charset="-120"/>
              </a:rPr>
              <a:t>• Extend study to broader North Western Province</a:t>
            </a:r>
            <a:endParaRPr lang="en-US" sz="1200" dirty="0"/>
          </a:p>
        </p:txBody>
      </p:sp>
      <p:sp>
        <p:nvSpPr>
          <p:cNvPr id="8" name="Text 30">
            <a:extLst>
              <a:ext uri="{FF2B5EF4-FFF2-40B4-BE49-F238E27FC236}">
                <a16:creationId xmlns:a16="http://schemas.microsoft.com/office/drawing/2014/main" id="{31435621-232B-E952-A926-CC177BE463D9}"/>
              </a:ext>
            </a:extLst>
          </p:cNvPr>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14</a:t>
            </a:r>
            <a:endParaRPr lang="en-US" sz="900" dirty="0"/>
          </a:p>
        </p:txBody>
      </p:sp>
    </p:spTree>
    <p:extLst>
      <p:ext uri="{BB962C8B-B14F-4D97-AF65-F5344CB8AC3E}">
        <p14:creationId xmlns:p14="http://schemas.microsoft.com/office/powerpoint/2010/main" val="3554160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AF9"/>
        </a:solidFill>
        <a:effectLst/>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52B788"/>
          </a:solidFill>
          <a:ln w="12700">
            <a:solidFill>
              <a:srgbClr val="52B788"/>
            </a:solidFill>
            <a:prstDash val="solid"/>
          </a:ln>
        </p:spPr>
        <p:txBody>
          <a:bodyPr/>
          <a:lstStyle/>
          <a:p>
            <a:endParaRPr lang="en-US"/>
          </a:p>
        </p:txBody>
      </p:sp>
      <p:sp>
        <p:nvSpPr>
          <p:cNvPr id="3" name="Text 1"/>
          <p:cNvSpPr/>
          <p:nvPr/>
        </p:nvSpPr>
        <p:spPr>
          <a:xfrm>
            <a:off x="411480" y="128016"/>
            <a:ext cx="8321040" cy="475488"/>
          </a:xfrm>
          <a:prstGeom prst="rect">
            <a:avLst/>
          </a:prstGeom>
          <a:noFill/>
          <a:ln/>
        </p:spPr>
        <p:txBody>
          <a:bodyPr wrap="square" lIns="0" tIns="0" rIns="0" bIns="0" rtlCol="0" anchor="ctr"/>
          <a:lstStyle/>
          <a:p>
            <a:pPr marL="0" indent="0" algn="l">
              <a:buNone/>
            </a:pPr>
            <a:r>
              <a:rPr lang="en-US" sz="2200" b="1" dirty="0">
                <a:solidFill>
                  <a:srgbClr val="1A4731"/>
                </a:solidFill>
                <a:latin typeface="Calibri" pitchFamily="34" charset="0"/>
                <a:ea typeface="Calibri" pitchFamily="34" charset="-122"/>
                <a:cs typeface="Calibri" pitchFamily="34" charset="-120"/>
              </a:rPr>
              <a:t>Conclusion</a:t>
            </a:r>
            <a:endParaRPr lang="en-US" sz="2200" dirty="0"/>
          </a:p>
        </p:txBody>
      </p:sp>
      <p:sp>
        <p:nvSpPr>
          <p:cNvPr id="4" name="Shape 2"/>
          <p:cNvSpPr/>
          <p:nvPr/>
        </p:nvSpPr>
        <p:spPr>
          <a:xfrm>
            <a:off x="347472" y="868680"/>
            <a:ext cx="384048" cy="384048"/>
          </a:xfrm>
          <a:prstGeom prst="ellipse">
            <a:avLst/>
          </a:prstGeom>
          <a:solidFill>
            <a:srgbClr val="2D6A4F"/>
          </a:solidFill>
          <a:ln w="12700">
            <a:solidFill>
              <a:srgbClr val="2D6A4F"/>
            </a:solidFill>
            <a:prstDash val="solid"/>
          </a:ln>
        </p:spPr>
        <p:txBody>
          <a:bodyPr/>
          <a:lstStyle/>
          <a:p>
            <a:endParaRPr lang="en-US"/>
          </a:p>
        </p:txBody>
      </p:sp>
      <p:sp>
        <p:nvSpPr>
          <p:cNvPr id="5" name="Text 3"/>
          <p:cNvSpPr/>
          <p:nvPr/>
        </p:nvSpPr>
        <p:spPr>
          <a:xfrm>
            <a:off x="347472" y="868680"/>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Shape 4"/>
          <p:cNvSpPr/>
          <p:nvPr/>
        </p:nvSpPr>
        <p:spPr>
          <a:xfrm>
            <a:off x="868680" y="777240"/>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7" name="Text 5"/>
          <p:cNvSpPr/>
          <p:nvPr/>
        </p:nvSpPr>
        <p:spPr>
          <a:xfrm>
            <a:off x="1005840" y="777240"/>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Vegetation in </a:t>
            </a:r>
            <a:r>
              <a:rPr lang="en-US" sz="1100" dirty="0" err="1">
                <a:solidFill>
                  <a:srgbClr val="1C2B22"/>
                </a:solidFill>
                <a:latin typeface="Calibri" pitchFamily="34" charset="0"/>
                <a:ea typeface="Calibri" pitchFamily="34" charset="-122"/>
                <a:cs typeface="Calibri" pitchFamily="34" charset="-120"/>
              </a:rPr>
              <a:t>Kalpitiya</a:t>
            </a:r>
            <a:r>
              <a:rPr lang="en-US" sz="1100" dirty="0">
                <a:solidFill>
                  <a:srgbClr val="1C2B22"/>
                </a:solidFill>
                <a:latin typeface="Calibri" pitchFamily="34" charset="0"/>
                <a:ea typeface="Calibri" pitchFamily="34" charset="-122"/>
                <a:cs typeface="Calibri" pitchFamily="34" charset="-120"/>
              </a:rPr>
              <a:t> has shown an overall declining trend between 2016 and 2025, with the steepest losses in 2022–2023.</a:t>
            </a:r>
            <a:endParaRPr lang="en-US" sz="1100" dirty="0"/>
          </a:p>
        </p:txBody>
      </p:sp>
      <p:sp>
        <p:nvSpPr>
          <p:cNvPr id="8" name="Shape 6"/>
          <p:cNvSpPr/>
          <p:nvPr/>
        </p:nvSpPr>
        <p:spPr>
          <a:xfrm>
            <a:off x="347472" y="1545336"/>
            <a:ext cx="384048" cy="384048"/>
          </a:xfrm>
          <a:prstGeom prst="ellipse">
            <a:avLst/>
          </a:prstGeom>
          <a:solidFill>
            <a:srgbClr val="2D6A4F"/>
          </a:solidFill>
          <a:ln w="12700">
            <a:solidFill>
              <a:srgbClr val="2D6A4F"/>
            </a:solidFill>
            <a:prstDash val="solid"/>
          </a:ln>
        </p:spPr>
        <p:txBody>
          <a:bodyPr/>
          <a:lstStyle/>
          <a:p>
            <a:endParaRPr lang="en-US"/>
          </a:p>
        </p:txBody>
      </p:sp>
      <p:sp>
        <p:nvSpPr>
          <p:cNvPr id="9" name="Text 7"/>
          <p:cNvSpPr/>
          <p:nvPr/>
        </p:nvSpPr>
        <p:spPr>
          <a:xfrm>
            <a:off x="347472" y="1545336"/>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Shape 8"/>
          <p:cNvSpPr/>
          <p:nvPr/>
        </p:nvSpPr>
        <p:spPr>
          <a:xfrm>
            <a:off x="868680" y="1453896"/>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1" name="Text 9"/>
          <p:cNvSpPr/>
          <p:nvPr/>
        </p:nvSpPr>
        <p:spPr>
          <a:xfrm>
            <a:off x="1005840" y="1453896"/>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The Random Forest classifier successfully mapped four land cover classes using automated pseudo-labels — no manual annotation was needed.</a:t>
            </a:r>
            <a:endParaRPr lang="en-US" sz="1100" dirty="0"/>
          </a:p>
        </p:txBody>
      </p:sp>
      <p:sp>
        <p:nvSpPr>
          <p:cNvPr id="12" name="Shape 10"/>
          <p:cNvSpPr/>
          <p:nvPr/>
        </p:nvSpPr>
        <p:spPr>
          <a:xfrm>
            <a:off x="347472" y="2221992"/>
            <a:ext cx="384048" cy="384048"/>
          </a:xfrm>
          <a:prstGeom prst="ellipse">
            <a:avLst/>
          </a:prstGeom>
          <a:solidFill>
            <a:srgbClr val="2D6A4F"/>
          </a:solidFill>
          <a:ln w="12700">
            <a:solidFill>
              <a:srgbClr val="2D6A4F"/>
            </a:solidFill>
            <a:prstDash val="solid"/>
          </a:ln>
        </p:spPr>
        <p:txBody>
          <a:bodyPr/>
          <a:lstStyle/>
          <a:p>
            <a:endParaRPr lang="en-US"/>
          </a:p>
        </p:txBody>
      </p:sp>
      <p:sp>
        <p:nvSpPr>
          <p:cNvPr id="13" name="Text 11"/>
          <p:cNvSpPr/>
          <p:nvPr/>
        </p:nvSpPr>
        <p:spPr>
          <a:xfrm>
            <a:off x="347472" y="2221992"/>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Shape 12"/>
          <p:cNvSpPr/>
          <p:nvPr/>
        </p:nvSpPr>
        <p:spPr>
          <a:xfrm>
            <a:off x="868680" y="2130552"/>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5" name="Text 13"/>
          <p:cNvSpPr/>
          <p:nvPr/>
        </p:nvSpPr>
        <p:spPr>
          <a:xfrm>
            <a:off x="1005840" y="2130552"/>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Ensemble forecasting (Linear + Polynomial + Gradient Boosting) projects continued decline unless land use patterns change.</a:t>
            </a:r>
            <a:endParaRPr lang="en-US" sz="1100" dirty="0"/>
          </a:p>
        </p:txBody>
      </p:sp>
      <p:sp>
        <p:nvSpPr>
          <p:cNvPr id="16" name="Shape 14"/>
          <p:cNvSpPr/>
          <p:nvPr/>
        </p:nvSpPr>
        <p:spPr>
          <a:xfrm>
            <a:off x="347472" y="2898648"/>
            <a:ext cx="384048" cy="384048"/>
          </a:xfrm>
          <a:prstGeom prst="ellipse">
            <a:avLst/>
          </a:prstGeom>
          <a:solidFill>
            <a:srgbClr val="2D6A4F"/>
          </a:solidFill>
          <a:ln w="12700">
            <a:solidFill>
              <a:srgbClr val="2D6A4F"/>
            </a:solidFill>
            <a:prstDash val="solid"/>
          </a:ln>
        </p:spPr>
        <p:txBody>
          <a:bodyPr/>
          <a:lstStyle/>
          <a:p>
            <a:endParaRPr lang="en-US"/>
          </a:p>
        </p:txBody>
      </p:sp>
      <p:sp>
        <p:nvSpPr>
          <p:cNvPr id="17" name="Text 15"/>
          <p:cNvSpPr/>
          <p:nvPr/>
        </p:nvSpPr>
        <p:spPr>
          <a:xfrm>
            <a:off x="347472" y="2898648"/>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Shape 16"/>
          <p:cNvSpPr/>
          <p:nvPr/>
        </p:nvSpPr>
        <p:spPr>
          <a:xfrm>
            <a:off x="868680" y="2807208"/>
            <a:ext cx="8046720" cy="566928"/>
          </a:xfrm>
          <a:prstGeom prst="rect">
            <a:avLst/>
          </a:prstGeom>
          <a:solidFill>
            <a:srgbClr val="FFFFFF"/>
          </a:solidFill>
          <a:ln w="12700">
            <a:solidFill>
              <a:srgbClr val="E8EFF0"/>
            </a:solidFill>
            <a:prstDash val="solid"/>
          </a:ln>
          <a:effectLst>
            <a:outerShdw blurRad="38100" dist="12700" dir="8100000" algn="bl" rotWithShape="0">
              <a:srgbClr val="000000">
                <a:alpha val="6000"/>
              </a:srgbClr>
            </a:outerShdw>
          </a:effectLst>
        </p:spPr>
        <p:txBody>
          <a:bodyPr/>
          <a:lstStyle/>
          <a:p>
            <a:endParaRPr lang="en-US"/>
          </a:p>
        </p:txBody>
      </p:sp>
      <p:sp>
        <p:nvSpPr>
          <p:cNvPr id="19" name="Text 17"/>
          <p:cNvSpPr/>
          <p:nvPr/>
        </p:nvSpPr>
        <p:spPr>
          <a:xfrm>
            <a:off x="1005840" y="2807208"/>
            <a:ext cx="7772400" cy="566928"/>
          </a:xfrm>
          <a:prstGeom prst="rect">
            <a:avLst/>
          </a:prstGeom>
          <a:noFill/>
          <a:ln/>
        </p:spPr>
        <p:txBody>
          <a:bodyPr wrap="square" lIns="0" tIns="0" rIns="0" bIns="0" rtlCol="0" anchor="ctr"/>
          <a:lstStyle/>
          <a:p>
            <a:pPr marL="0" indent="0">
              <a:buNone/>
            </a:pPr>
            <a:r>
              <a:rPr lang="en-US" sz="1100" dirty="0">
                <a:solidFill>
                  <a:srgbClr val="1C2B22"/>
                </a:solidFill>
                <a:latin typeface="Calibri" pitchFamily="34" charset="0"/>
                <a:ea typeface="Calibri" pitchFamily="34" charset="-122"/>
                <a:cs typeface="Calibri" pitchFamily="34" charset="-120"/>
              </a:rPr>
              <a:t>Remote sensing provides a practical, low-cost method for environmental monitoring in coastal Sri Lanka.</a:t>
            </a:r>
            <a:endParaRPr lang="en-US" sz="1100" dirty="0"/>
          </a:p>
        </p:txBody>
      </p:sp>
      <p:sp>
        <p:nvSpPr>
          <p:cNvPr id="32" name="Text 30"/>
          <p:cNvSpPr/>
          <p:nvPr/>
        </p:nvSpPr>
        <p:spPr>
          <a:xfrm>
            <a:off x="8686800" y="4800600"/>
            <a:ext cx="365760" cy="228600"/>
          </a:xfrm>
          <a:prstGeom prst="rect">
            <a:avLst/>
          </a:prstGeom>
          <a:noFill/>
          <a:ln/>
        </p:spPr>
        <p:txBody>
          <a:bodyPr wrap="square" rtlCol="0" anchor="ctr"/>
          <a:lstStyle/>
          <a:p>
            <a:pPr marL="0" indent="0" algn="ctr">
              <a:buNone/>
            </a:pPr>
            <a:r>
              <a:rPr lang="en-US" sz="900" dirty="0">
                <a:solidFill>
                  <a:srgbClr val="90A4AE"/>
                </a:solidFill>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4731"/>
        </a:solidFill>
        <a:effectLst/>
      </p:bgPr>
    </p:bg>
    <p:spTree>
      <p:nvGrpSpPr>
        <p:cNvPr id="1" name=""/>
        <p:cNvGrpSpPr/>
        <p:nvPr/>
      </p:nvGrpSpPr>
      <p:grpSpPr>
        <a:xfrm>
          <a:off x="0" y="0"/>
          <a:ext cx="0" cy="0"/>
          <a:chOff x="0" y="0"/>
          <a:chExt cx="0" cy="0"/>
        </a:xfrm>
      </p:grpSpPr>
      <p:sp>
        <p:nvSpPr>
          <p:cNvPr id="2" name="Shape 0"/>
          <p:cNvSpPr/>
          <p:nvPr/>
        </p:nvSpPr>
        <p:spPr>
          <a:xfrm>
            <a:off x="3200400" y="548640"/>
            <a:ext cx="2743200" cy="2743200"/>
          </a:xfrm>
          <a:prstGeom prst="ellipse">
            <a:avLst/>
          </a:prstGeom>
          <a:solidFill>
            <a:srgbClr val="1E5C3A"/>
          </a:solidFill>
          <a:ln w="19050">
            <a:solidFill>
              <a:srgbClr val="52B788"/>
            </a:solidFill>
            <a:prstDash val="solid"/>
          </a:ln>
        </p:spPr>
        <p:txBody>
          <a:bodyPr/>
          <a:lstStyle/>
          <a:p>
            <a:endParaRPr lang="en-US"/>
          </a:p>
        </p:txBody>
      </p:sp>
      <p:sp>
        <p:nvSpPr>
          <p:cNvPr id="3" name="Text 1"/>
          <p:cNvSpPr/>
          <p:nvPr/>
        </p:nvSpPr>
        <p:spPr>
          <a:xfrm>
            <a:off x="3200400" y="548640"/>
            <a:ext cx="2743200" cy="2743200"/>
          </a:xfrm>
          <a:prstGeom prst="rect">
            <a:avLst/>
          </a:prstGeom>
          <a:noFill/>
          <a:ln/>
        </p:spPr>
        <p:txBody>
          <a:bodyPr wrap="square" lIns="0" tIns="0" rIns="0" bIns="0" rtlCol="0" anchor="ctr"/>
          <a:lstStyle/>
          <a:p>
            <a:pPr marL="0" indent="0" algn="ctr">
              <a:buNone/>
            </a:pPr>
            <a:r>
              <a:rPr lang="en-US" sz="7200" b="1" dirty="0">
                <a:solidFill>
                  <a:srgbClr val="52B788"/>
                </a:solidFill>
                <a:latin typeface="Calibri" pitchFamily="34" charset="0"/>
                <a:ea typeface="Calibri" pitchFamily="34" charset="-122"/>
                <a:cs typeface="Calibri" pitchFamily="34" charset="-120"/>
              </a:rPr>
              <a:t>?</a:t>
            </a:r>
            <a:endParaRPr lang="en-US" sz="7200" dirty="0"/>
          </a:p>
        </p:txBody>
      </p:sp>
      <p:sp>
        <p:nvSpPr>
          <p:cNvPr id="4" name="Text 2"/>
          <p:cNvSpPr/>
          <p:nvPr/>
        </p:nvSpPr>
        <p:spPr>
          <a:xfrm>
            <a:off x="457200" y="3337560"/>
            <a:ext cx="8229600" cy="5943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Questions &amp; Answers</a:t>
            </a:r>
            <a:endParaRPr lang="en-US" sz="2800" dirty="0"/>
          </a:p>
        </p:txBody>
      </p:sp>
      <p:sp>
        <p:nvSpPr>
          <p:cNvPr id="5" name="Text 3"/>
          <p:cNvSpPr/>
          <p:nvPr/>
        </p:nvSpPr>
        <p:spPr>
          <a:xfrm>
            <a:off x="457200" y="3977640"/>
            <a:ext cx="8229600" cy="384048"/>
          </a:xfrm>
          <a:prstGeom prst="rect">
            <a:avLst/>
          </a:prstGeom>
          <a:noFill/>
          <a:ln/>
        </p:spPr>
        <p:txBody>
          <a:bodyPr wrap="square" lIns="0" tIns="0" rIns="0" bIns="0" rtlCol="0" anchor="ctr"/>
          <a:lstStyle/>
          <a:p>
            <a:pPr marL="0" indent="0" algn="ctr">
              <a:buNone/>
            </a:pPr>
            <a:r>
              <a:rPr lang="en-US" sz="1600" dirty="0">
                <a:solidFill>
                  <a:srgbClr val="52B788"/>
                </a:solidFill>
                <a:latin typeface="Calibri" pitchFamily="34" charset="0"/>
                <a:ea typeface="Calibri" pitchFamily="34" charset="-122"/>
                <a:cs typeface="Calibri" pitchFamily="34" charset="-120"/>
              </a:rPr>
              <a:t>Thank you for listening!</a:t>
            </a:r>
            <a:endParaRPr lang="en-US" sz="1600" dirty="0"/>
          </a:p>
        </p:txBody>
      </p:sp>
      <p:sp>
        <p:nvSpPr>
          <p:cNvPr id="6" name="Text 4"/>
          <p:cNvSpPr/>
          <p:nvPr/>
        </p:nvSpPr>
        <p:spPr>
          <a:xfrm>
            <a:off x="457200" y="4681728"/>
            <a:ext cx="8229600" cy="274320"/>
          </a:xfrm>
          <a:prstGeom prst="rect">
            <a:avLst/>
          </a:prstGeom>
          <a:noFill/>
          <a:ln/>
        </p:spPr>
        <p:txBody>
          <a:bodyPr wrap="square" rtlCol="0" anchor="ctr"/>
          <a:lstStyle/>
          <a:p>
            <a:pPr marL="0" indent="0" algn="ctr">
              <a:buNone/>
            </a:pP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TotalTime>
  <Words>3123</Words>
  <Application>Microsoft Office PowerPoint</Application>
  <PresentationFormat>On-screen Show (16:9)</PresentationFormat>
  <Paragraphs>302</Paragraphs>
  <Slides>16</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Deforestation and Land Cover Change Analysis – Kalpitiya Peninsula</dc:title>
  <dc:subject>PptxGenJS Presentation</dc:subject>
  <dc:creator>PptxGenJS</dc:creator>
  <cp:lastModifiedBy>Isula Dissanayake</cp:lastModifiedBy>
  <cp:revision>5</cp:revision>
  <dcterms:created xsi:type="dcterms:W3CDTF">2026-05-18T11:22:41Z</dcterms:created>
  <dcterms:modified xsi:type="dcterms:W3CDTF">2026-05-18T14:26:36Z</dcterms:modified>
</cp:coreProperties>
</file>